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agents are proliferating across the enterprise. The question is not whether to build them, but whether you can build them fast, safely and at scale on shared, governed foundations. This deck lays out the WHY (the cost of fragmented pilots) and the HOW (a four-level maturity journey from ad-hoc agents to a self-optimizing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recurring failure modes when there's no platform. Agent Sprawl: redundant engineering, slow delivery. Shadow AI: unsanctioned deployments, security and compliance exposure. Cost Blindness: no chargeback, runaway spend, no ROI story. Observability Gap: no unified tracing, so nothing is trustworthy in production. These are symptoms of the same root cause — no shared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from problem to opportunity. Three costs of inaction: onboarding measured in weeks, zero reuse, and no unified visibility. The turn: the decision is not whether to build agents — that's already happening — but whether the enterprise can do it fast, safe and at scale. That capability is exactly what a shared platform delivers, and the rest of the deck shows how it's built, level by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architecture. Two rails wrap everything: Responsible AI (security, governance, privacy, guardrails, explainability) and Observability (audit, monitoring, tracing, feedback). The stack: a self-service console on top; then gateways, hubs/registry, hosting/runtime, and data/memory. Ownership is the key message — amber blocks are the Foundation Harness owned by the platform team (gateways, model hub, AI registry, hosting); green blocks are the Domain Harness owned by domain teams (console experience, agent runtime, data, memory). Operations runs underneath. Platform centralises what needs consistency; domains differentiate where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deck: four levels, each defined by the question it answers. Use it to locate a customer and pick the next realistic step.
L1 — AD HOC AGENTS ("build at all"): isolated pilots, local prompt management, custom code, manual deployments. Secrets often live in notebooks; agents call models directly; one account per team; no shared registry or governance. Value is proven, but nothing is reusable, governed or observable. Target action: establish a shared platform mandate and minimum controls.
L2 — PLATFORM FOUNDATION ("govern consistently"): the first shared services appear — a unified AI Registry (agents, MCP servers, skills, tools), an optional gateway (routing/auth/cost, adopt-as-you-go, not yet mandatory), approved production runtimes, and basic audit logging. Crucial nuance: the control plane is still PARTIAL and the platform team is the primary operator. No self-service, no prebuilt eval pipeline, no policy-as-code yet. Target action: standardize templates, onboarding and release gates.
L3 — SELF-SERVICE SCALE ("scale safely"): the platform becomes a product. Complete control plane (blueprint catalog, gateway+registry, policy-as-code, automated CI/CD gates, prebuilt evaluation pipeline), a governance landing zone that vends per-domain dev/UAT/prod account sets, and federated domain-owned runtimes with data residency in the domain account. Evaluation is the promotion gate. Target action: scale reuse, automate evidence, improve domain ownership.
L4 — ADAPTIVE PLATFORM ("self-optimize"): a north-star. An AI-automation layer over the governed L3 foundation — assisted onboarding, auto-tuned evaluation and tools, intelligent operations, and feedback-driven autonomous improvement. Same topology as L3; AI drives the toil out of running it. Be explicit: aspirational, sequenced last, NOT a first-implementation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move: consolidate. L1 is fragmented — local prompts, secrets in code, direct model calls, one account per team, no registry. L2 introduces the first shared services: a unified AI Registry (the single most valuable early asset — one place to discover agents, MCP servers, skills and tools), an optional gateway (adopt-as-you-go, not yet mandatory), approved runtimes, and basic audit logging. Important nuance: at L2 the control plane is only partial and the platform team is still the primary operator. Self-service, evaluation pipelines and policy-as-code come at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L3 is where the platform becomes a product. Three pillars: (1) a complete control plane — self-service blueprint catalog, gateway + registry, policy-as-code with Cedar, automated CI/CD quality gates, and a prebuilt evaluation pipeline (the components that were missing at L2 now light up); (2) a governance landing zone that vends full per-domain account sets automatically via Control Tower/Service Catalog with guardrails and identity mapping; (3) federated runtimes — domain teams own their run and data planes, data stays resident in their account, only telemetry flows up. Environments are gated: dev (synthetic, warn) → UAT (masked, SME sign-off) → prod (real, canary, HITL).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lifecycle is a loop, not a line — this is AALOE: Agentic AI Lifecycle Operational Excellence. Everything that defines an agent lives in Git (Agent-as-Code): unified source, environment parity from one IaC definition, and auditability from trace to commit to deployment. Seven steps: Build → CI → CD non-prod → Offline Eval (the promotion gate — nothing advances until it clears both platform checks and the domain's golden-dataset bar) → CD prod → Online Eval → Feedback. Step 7 feeds signals back to Build Time. Change a model or prompt, re-run, compare — the loop makes iteration fast and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slide for architects: every logical component maps to a concrete AWS/AgentCore service. Foundation Harness catalog → Service Catalog + Git. Governance/vending → Control Tower, CloudFormation, DynamoDB. Runtime → AgentCore Runtime microVMs. Identity → AgentCore Identity + Cognito. Policy → Cedar + Bedrock Guardrails. Evaluation → AgentCore Evaluations. Observability → CloudWatch + Langfuse via OpenTelemetry. Nothing here is hand-wavy — it's buildable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L4 is the north-star. The topology from L3 doesn't change — what's new is an AI-automation layer that drives the toil out of running it. Four capabilities: assisted onboarding (describe intent → composed harness + repo), auto-tuned evaluation (the platform proposes prompt/model/tool changes from eval signal), intelligent operations (routing, cost, rollout tuned automatically), and autonomous improvement (feedback-driven lifecycle updates). Be explicit with customers: this is aspirational and sequenced last — you earn it by nailing L1–L3 first. It is not a first-implementation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durable tenets that hold across all four levels: reproducibility (agent-as-code), auditability (trace→commit→gate), reusability (blueprints + registries), and environment parity (one IaC across dev/UAT/prod). Then the call to action: assess maturity, stand up the foundation, enable self-service. Meet teams where they are and move them up one realistic level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slideLayout" Target="../slideLayouts/slideLayout1.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8778240" y="-1554480"/>
            <a:ext cx="5120640" cy="5120640"/>
          </a:xfrm>
          <a:prstGeom prst="ellipse">
            <a:avLst/>
          </a:prstGeom>
          <a:ln w="12700">
            <a:solidFill>
              <a:srgbClr val="6D4FD6">
                <a:alpha val="28000"/>
              </a:srgbClr>
            </a:solidFill>
            <a:prstDash val="solid"/>
          </a:ln>
        </p:spPr>
      </p:sp>
      <p:sp>
        <p:nvSpPr>
          <p:cNvPr id="3" name="Shape 1"/>
          <p:cNvSpPr/>
          <p:nvPr/>
        </p:nvSpPr>
        <p:spPr>
          <a:xfrm>
            <a:off x="9784080" y="-548640"/>
            <a:ext cx="3108960" cy="3108960"/>
          </a:xfrm>
          <a:prstGeom prst="ellipse">
            <a:avLst/>
          </a:prstGeom>
          <a:ln w="12700">
            <a:solidFill>
              <a:srgbClr val="6D4FD6">
                <a:alpha val="45000"/>
              </a:srgbClr>
            </a:solidFill>
            <a:prstDash val="solid"/>
          </a:ln>
        </p:spPr>
      </p:sp>
      <p:sp>
        <p:nvSpPr>
          <p:cNvPr id="4" name="Text 2"/>
          <p:cNvSpPr/>
          <p:nvPr/>
        </p:nvSpPr>
        <p:spPr>
          <a:xfrm>
            <a:off x="658368" y="2011680"/>
            <a:ext cx="9144000" cy="457200"/>
          </a:xfrm>
          <a:prstGeom prst="rect">
            <a:avLst/>
          </a:prstGeom>
          <a:noFill/>
          <a:ln/>
        </p:spPr>
        <p:txBody>
          <a:bodyPr wrap="square" lIns="0" tIns="0" rIns="0" bIns="0" rtlCol="0" anchor="ctr"/>
          <a:lstStyle/>
          <a:p>
            <a:pPr indent="0" marL="0">
              <a:buNone/>
            </a:pPr>
            <a:r>
              <a:rPr lang="en-US" sz="1600" b="1" spc="800" kern="0" dirty="0">
                <a:solidFill>
                  <a:srgbClr val="6D4FD6"/>
                </a:solidFill>
                <a:latin typeface="Calibri" pitchFamily="34" charset="0"/>
                <a:ea typeface="Calibri" pitchFamily="34" charset="-122"/>
                <a:cs typeface="Calibri" pitchFamily="34" charset="-120"/>
              </a:rPr>
              <a:t>ENTERPRISE</a:t>
            </a:r>
            <a:endParaRPr lang="en-US" sz="1600" dirty="0"/>
          </a:p>
        </p:txBody>
      </p:sp>
      <p:sp>
        <p:nvSpPr>
          <p:cNvPr id="5" name="Text 3"/>
          <p:cNvSpPr/>
          <p:nvPr/>
        </p:nvSpPr>
        <p:spPr>
          <a:xfrm>
            <a:off x="612648" y="2377440"/>
            <a:ext cx="10515600" cy="1188720"/>
          </a:xfrm>
          <a:prstGeom prst="rect">
            <a:avLst/>
          </a:prstGeom>
          <a:noFill/>
          <a:ln/>
        </p:spPr>
        <p:txBody>
          <a:bodyPr wrap="square" lIns="0" tIns="0" rIns="0" bIns="0" rtlCol="0" anchor="ctr"/>
          <a:lstStyle/>
          <a:p>
            <a:pPr indent="0" marL="0">
              <a:buNone/>
            </a:pPr>
            <a:r>
              <a:rPr lang="en-US" sz="5400" b="1" dirty="0">
                <a:solidFill>
                  <a:srgbClr val="E6ECF7"/>
                </a:solidFill>
                <a:latin typeface="Georgia" pitchFamily="34" charset="0"/>
                <a:ea typeface="Georgia" pitchFamily="34" charset="-122"/>
                <a:cs typeface="Georgia" pitchFamily="34" charset="-120"/>
              </a:rPr>
              <a:t>Agentic AI Platform</a:t>
            </a:r>
            <a:endParaRPr lang="en-US" sz="5400" dirty="0"/>
          </a:p>
        </p:txBody>
      </p:sp>
      <p:sp>
        <p:nvSpPr>
          <p:cNvPr id="6" name="Text 4"/>
          <p:cNvSpPr/>
          <p:nvPr/>
        </p:nvSpPr>
        <p:spPr>
          <a:xfrm>
            <a:off x="658368" y="3611880"/>
            <a:ext cx="10058400" cy="457200"/>
          </a:xfrm>
          <a:prstGeom prst="rect">
            <a:avLst/>
          </a:prstGeom>
          <a:noFill/>
          <a:ln/>
        </p:spPr>
        <p:txBody>
          <a:bodyPr wrap="square" lIns="0" tIns="0" rIns="0" bIns="0" rtlCol="0" anchor="ctr"/>
          <a:lstStyle/>
          <a:p>
            <a:pPr indent="0" marL="0">
              <a:buNone/>
            </a:pPr>
            <a:r>
              <a:rPr lang="en-US" sz="2000" dirty="0">
                <a:solidFill>
                  <a:srgbClr val="E6ECF7"/>
                </a:solidFill>
                <a:latin typeface="Calibri" pitchFamily="34" charset="0"/>
                <a:ea typeface="Calibri" pitchFamily="34" charset="-122"/>
                <a:cs typeface="Calibri" pitchFamily="34" charset="-120"/>
              </a:rPr>
              <a:t>The maturity journey — from ad-hoc agents to a self-optimizing platform</a:t>
            </a:r>
            <a:endParaRPr lang="en-US" sz="2000" dirty="0"/>
          </a:p>
        </p:txBody>
      </p:sp>
      <p:sp>
        <p:nvSpPr>
          <p:cNvPr id="7" name="Shape 5"/>
          <p:cNvSpPr/>
          <p:nvPr/>
        </p:nvSpPr>
        <p:spPr>
          <a:xfrm>
            <a:off x="658368" y="4343400"/>
            <a:ext cx="2011680" cy="54864"/>
          </a:xfrm>
          <a:prstGeom prst="rect">
            <a:avLst/>
          </a:prstGeom>
          <a:solidFill>
            <a:srgbClr val="1F9D6B"/>
          </a:solidFill>
          <a:ln/>
        </p:spPr>
      </p:sp>
      <p:sp>
        <p:nvSpPr>
          <p:cNvPr id="8" name="Text 6"/>
          <p:cNvSpPr/>
          <p:nvPr/>
        </p:nvSpPr>
        <p:spPr>
          <a:xfrm>
            <a:off x="658368" y="4572000"/>
            <a:ext cx="8686800" cy="457200"/>
          </a:xfrm>
          <a:prstGeom prst="rect">
            <a:avLst/>
          </a:prstGeom>
          <a:noFill/>
          <a:ln/>
        </p:spPr>
        <p:txBody>
          <a:bodyPr wrap="square" lIns="0" tIns="0" rIns="0" bIns="0" rtlCol="0" anchor="ctr"/>
          <a:lstStyle/>
          <a:p>
            <a:pPr indent="0" marL="0">
              <a:buNone/>
            </a:pPr>
            <a:r>
              <a:rPr lang="en-US" sz="1300" i="1" dirty="0">
                <a:solidFill>
                  <a:srgbClr val="9AA7BF"/>
                </a:solidFill>
                <a:latin typeface="Calibri" pitchFamily="34" charset="0"/>
                <a:ea typeface="Calibri" pitchFamily="34" charset="-122"/>
                <a:cs typeface="Calibri" pitchFamily="34" charset="-120"/>
              </a:rPr>
              <a:t>Build · govern · operate agents at enterprise scale — a point of view.</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658368" y="566928"/>
            <a:ext cx="10972800" cy="274320"/>
          </a:xfrm>
          <a:prstGeom prst="rect">
            <a:avLst/>
          </a:prstGeom>
          <a:noFill/>
          <a:ln/>
        </p:spPr>
        <p:txBody>
          <a:bodyPr wrap="square" lIns="0" tIns="0" rIns="0" bIns="0" rtlCol="0" anchor="ctr"/>
          <a:lstStyle/>
          <a:p>
            <a:pPr indent="0" marL="0">
              <a:buNone/>
            </a:pPr>
            <a:r>
              <a:rPr lang="en-US" sz="1100" b="1" spc="300" kern="0" dirty="0">
                <a:solidFill>
                  <a:srgbClr val="E05260"/>
                </a:solidFill>
                <a:latin typeface="Calibri" pitchFamily="34" charset="0"/>
                <a:ea typeface="Calibri" pitchFamily="34" charset="-122"/>
                <a:cs typeface="Calibri" pitchFamily="34" charset="-120"/>
              </a:rPr>
              <a:t>THE STATUS QUO · THE PARADOX OF FRAGMENTED PILOTS</a:t>
            </a:r>
            <a:endParaRPr lang="en-US" sz="1100" dirty="0"/>
          </a:p>
        </p:txBody>
      </p:sp>
      <p:sp>
        <p:nvSpPr>
          <p:cNvPr id="3" name="Text 1"/>
          <p:cNvSpPr/>
          <p:nvPr/>
        </p:nvSpPr>
        <p:spPr>
          <a:xfrm>
            <a:off x="612648" y="868680"/>
            <a:ext cx="11155680" cy="914400"/>
          </a:xfrm>
          <a:prstGeom prst="rect">
            <a:avLst/>
          </a:prstGeom>
          <a:noFill/>
          <a:ln/>
        </p:spPr>
        <p:txBody>
          <a:bodyPr wrap="square" lIns="0" tIns="0" rIns="0" bIns="0" rtlCol="0" anchor="ctr"/>
          <a:lstStyle/>
          <a:p>
            <a:pPr indent="0" marL="0">
              <a:buNone/>
            </a:pPr>
            <a:r>
              <a:rPr lang="en-US" sz="3000" b="1" dirty="0">
                <a:solidFill>
                  <a:srgbClr val="E6ECF7"/>
                </a:solidFill>
                <a:latin typeface="Georgia" pitchFamily="34" charset="0"/>
                <a:ea typeface="Georgia" pitchFamily="34" charset="-122"/>
                <a:cs typeface="Georgia" pitchFamily="34" charset="-120"/>
              </a:rPr>
              <a:t>Agents are proliferating faster than we can govern them</a:t>
            </a:r>
            <a:endParaRPr lang="en-US" sz="3000" dirty="0"/>
          </a:p>
        </p:txBody>
      </p:sp>
      <p:sp>
        <p:nvSpPr>
          <p:cNvPr id="4" name="Text 2"/>
          <p:cNvSpPr/>
          <p:nvPr/>
        </p:nvSpPr>
        <p:spPr>
          <a:xfrm>
            <a:off x="658368" y="1783080"/>
            <a:ext cx="10698480" cy="457200"/>
          </a:xfrm>
          <a:prstGeom prst="rect">
            <a:avLst/>
          </a:prstGeom>
          <a:noFill/>
          <a:ln/>
        </p:spPr>
        <p:txBody>
          <a:bodyPr wrap="square" lIns="0" tIns="0" rIns="0" bIns="0" rtlCol="0" anchor="ctr"/>
          <a:lstStyle/>
          <a:p>
            <a:pPr indent="0" marL="0">
              <a:buNone/>
            </a:pPr>
            <a:r>
              <a:rPr lang="en-US" sz="1400" dirty="0">
                <a:solidFill>
                  <a:srgbClr val="9AA7BF"/>
                </a:solidFill>
                <a:latin typeface="Calibri" pitchFamily="34" charset="0"/>
                <a:ea typeface="Calibri" pitchFamily="34" charset="-122"/>
                <a:cs typeface="Calibri" pitchFamily="34" charset="-120"/>
              </a:rPr>
              <a:t>Every team is shipping agents. Without a platform, that speed turns into risk, waste and blind spots — and the cost of doing nothing compounds.</a:t>
            </a:r>
            <a:endParaRPr lang="en-US" sz="1400" dirty="0"/>
          </a:p>
        </p:txBody>
      </p:sp>
      <p:sp>
        <p:nvSpPr>
          <p:cNvPr id="5" name="Shape 3"/>
          <p:cNvSpPr/>
          <p:nvPr/>
        </p:nvSpPr>
        <p:spPr>
          <a:xfrm>
            <a:off x="658368" y="2514600"/>
            <a:ext cx="2615184" cy="3063240"/>
          </a:xfrm>
          <a:prstGeom prst="rect">
            <a:avLst/>
          </a:prstGeom>
          <a:solidFill>
            <a:srgbClr val="1A2338"/>
          </a:solidFill>
          <a:ln w="12700">
            <a:solidFill>
              <a:srgbClr val="2A3450"/>
            </a:solidFill>
            <a:prstDash val="solid"/>
          </a:ln>
        </p:spPr>
      </p:sp>
      <p:sp>
        <p:nvSpPr>
          <p:cNvPr id="6" name="Shape 4"/>
          <p:cNvSpPr/>
          <p:nvPr/>
        </p:nvSpPr>
        <p:spPr>
          <a:xfrm>
            <a:off x="658368" y="2514600"/>
            <a:ext cx="2615184" cy="73152"/>
          </a:xfrm>
          <a:prstGeom prst="rect">
            <a:avLst/>
          </a:prstGeom>
          <a:solidFill>
            <a:srgbClr val="E05260"/>
          </a:solidFill>
          <a:ln/>
        </p:spPr>
      </p:sp>
      <p:sp>
        <p:nvSpPr>
          <p:cNvPr id="7" name="Shape 5"/>
          <p:cNvSpPr/>
          <p:nvPr/>
        </p:nvSpPr>
        <p:spPr>
          <a:xfrm>
            <a:off x="950976" y="2862072"/>
            <a:ext cx="786384" cy="786384"/>
          </a:xfrm>
          <a:prstGeom prst="ellipse">
            <a:avLst/>
          </a:prstGeom>
          <a:solidFill>
            <a:srgbClr val="1A2233"/>
          </a:solidFill>
          <a:ln w="15875">
            <a:solidFill>
              <a:srgbClr val="E05260"/>
            </a:solidFill>
            <a:prstDash val="solid"/>
          </a:ln>
        </p:spPr>
      </p:sp>
      <p:pic>
        <p:nvPicPr>
          <p:cNvPr id="8" name="Image 0" descr="preencoded.png">    </p:cNvPr>
          <p:cNvPicPr>
            <a:picLocks noChangeAspect="1"/>
          </p:cNvPicPr>
          <p:nvPr/>
        </p:nvPicPr>
        <p:blipFill>
          <a:blip r:embed="rId1"/>
          <a:stretch>
            <a:fillRect/>
          </a:stretch>
        </p:blipFill>
        <p:spPr>
          <a:xfrm>
            <a:off x="1161288" y="3063240"/>
            <a:ext cx="365760" cy="365760"/>
          </a:xfrm>
          <a:prstGeom prst="rect">
            <a:avLst/>
          </a:prstGeom>
        </p:spPr>
      </p:pic>
      <p:sp>
        <p:nvSpPr>
          <p:cNvPr id="9" name="Text 6"/>
          <p:cNvSpPr/>
          <p:nvPr/>
        </p:nvSpPr>
        <p:spPr>
          <a:xfrm>
            <a:off x="914400" y="3794760"/>
            <a:ext cx="2157984" cy="411480"/>
          </a:xfrm>
          <a:prstGeom prst="rect">
            <a:avLst/>
          </a:prstGeom>
          <a:noFill/>
          <a:ln/>
        </p:spPr>
        <p:txBody>
          <a:bodyPr wrap="square" lIns="0" tIns="0" rIns="0" bIns="0" rtlCol="0" anchor="ctr"/>
          <a:lstStyle/>
          <a:p>
            <a:pPr indent="0" marL="0">
              <a:buNone/>
            </a:pPr>
            <a:r>
              <a:rPr lang="en-US" sz="1700" b="1" dirty="0">
                <a:solidFill>
                  <a:srgbClr val="E6ECF7"/>
                </a:solidFill>
                <a:latin typeface="Georgia" pitchFamily="34" charset="0"/>
                <a:ea typeface="Georgia" pitchFamily="34" charset="-122"/>
                <a:cs typeface="Georgia" pitchFamily="34" charset="-120"/>
              </a:rPr>
              <a:t>Agent Sprawl</a:t>
            </a:r>
            <a:endParaRPr lang="en-US" sz="1700" dirty="0"/>
          </a:p>
        </p:txBody>
      </p:sp>
      <p:sp>
        <p:nvSpPr>
          <p:cNvPr id="10" name="Text 7"/>
          <p:cNvSpPr/>
          <p:nvPr/>
        </p:nvSpPr>
        <p:spPr>
          <a:xfrm>
            <a:off x="914400" y="4251960"/>
            <a:ext cx="2157984" cy="118872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Disconnected teams duplicate prompts, tools and integrations. High technical debt; assets impossible to discover or reuse.</a:t>
            </a:r>
            <a:endParaRPr lang="en-US" sz="1150" dirty="0"/>
          </a:p>
        </p:txBody>
      </p:sp>
      <p:sp>
        <p:nvSpPr>
          <p:cNvPr id="11" name="Shape 8"/>
          <p:cNvSpPr/>
          <p:nvPr/>
        </p:nvSpPr>
        <p:spPr>
          <a:xfrm>
            <a:off x="3493008" y="2514600"/>
            <a:ext cx="2615184" cy="3063240"/>
          </a:xfrm>
          <a:prstGeom prst="rect">
            <a:avLst/>
          </a:prstGeom>
          <a:solidFill>
            <a:srgbClr val="1A2338"/>
          </a:solidFill>
          <a:ln w="12700">
            <a:solidFill>
              <a:srgbClr val="2A3450"/>
            </a:solidFill>
            <a:prstDash val="solid"/>
          </a:ln>
        </p:spPr>
      </p:sp>
      <p:sp>
        <p:nvSpPr>
          <p:cNvPr id="12" name="Shape 9"/>
          <p:cNvSpPr/>
          <p:nvPr/>
        </p:nvSpPr>
        <p:spPr>
          <a:xfrm>
            <a:off x="3493008" y="2514600"/>
            <a:ext cx="2615184" cy="73152"/>
          </a:xfrm>
          <a:prstGeom prst="rect">
            <a:avLst/>
          </a:prstGeom>
          <a:solidFill>
            <a:srgbClr val="E05260"/>
          </a:solidFill>
          <a:ln/>
        </p:spPr>
      </p:sp>
      <p:sp>
        <p:nvSpPr>
          <p:cNvPr id="13" name="Shape 10"/>
          <p:cNvSpPr/>
          <p:nvPr/>
        </p:nvSpPr>
        <p:spPr>
          <a:xfrm>
            <a:off x="3785616" y="2862072"/>
            <a:ext cx="786384" cy="786384"/>
          </a:xfrm>
          <a:prstGeom prst="ellipse">
            <a:avLst/>
          </a:prstGeom>
          <a:solidFill>
            <a:srgbClr val="1A2233"/>
          </a:solidFill>
          <a:ln w="15875">
            <a:solidFill>
              <a:srgbClr val="E05260"/>
            </a:solidFill>
            <a:prstDash val="solid"/>
          </a:ln>
        </p:spPr>
      </p:sp>
      <p:pic>
        <p:nvPicPr>
          <p:cNvPr id="14" name="Image 1" descr="preencoded.png">    </p:cNvPr>
          <p:cNvPicPr>
            <a:picLocks noChangeAspect="1"/>
          </p:cNvPicPr>
          <p:nvPr/>
        </p:nvPicPr>
        <p:blipFill>
          <a:blip r:embed="rId2"/>
          <a:stretch>
            <a:fillRect/>
          </a:stretch>
        </p:blipFill>
        <p:spPr>
          <a:xfrm>
            <a:off x="3995928" y="3063240"/>
            <a:ext cx="365760" cy="365760"/>
          </a:xfrm>
          <a:prstGeom prst="rect">
            <a:avLst/>
          </a:prstGeom>
        </p:spPr>
      </p:pic>
      <p:sp>
        <p:nvSpPr>
          <p:cNvPr id="15" name="Text 11"/>
          <p:cNvSpPr/>
          <p:nvPr/>
        </p:nvSpPr>
        <p:spPr>
          <a:xfrm>
            <a:off x="3749040" y="3794760"/>
            <a:ext cx="2157984" cy="411480"/>
          </a:xfrm>
          <a:prstGeom prst="rect">
            <a:avLst/>
          </a:prstGeom>
          <a:noFill/>
          <a:ln/>
        </p:spPr>
        <p:txBody>
          <a:bodyPr wrap="square" lIns="0" tIns="0" rIns="0" bIns="0" rtlCol="0" anchor="ctr"/>
          <a:lstStyle/>
          <a:p>
            <a:pPr indent="0" marL="0">
              <a:buNone/>
            </a:pPr>
            <a:r>
              <a:rPr lang="en-US" sz="1700" b="1" dirty="0">
                <a:solidFill>
                  <a:srgbClr val="E6ECF7"/>
                </a:solidFill>
                <a:latin typeface="Georgia" pitchFamily="34" charset="0"/>
                <a:ea typeface="Georgia" pitchFamily="34" charset="-122"/>
                <a:cs typeface="Georgia" pitchFamily="34" charset="-120"/>
              </a:rPr>
              <a:t>Shadow AI</a:t>
            </a:r>
            <a:endParaRPr lang="en-US" sz="1700" dirty="0"/>
          </a:p>
        </p:txBody>
      </p:sp>
      <p:sp>
        <p:nvSpPr>
          <p:cNvPr id="16" name="Text 12"/>
          <p:cNvSpPr/>
          <p:nvPr/>
        </p:nvSpPr>
        <p:spPr>
          <a:xfrm>
            <a:off x="3749040" y="4251960"/>
            <a:ext cx="2157984" cy="118872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Agents run outside sanctioned channels. Inconsistent PII/privacy guardrails and fragmented identity — real enterprise risk.</a:t>
            </a:r>
            <a:endParaRPr lang="en-US" sz="1150" dirty="0"/>
          </a:p>
        </p:txBody>
      </p:sp>
      <p:sp>
        <p:nvSpPr>
          <p:cNvPr id="17" name="Shape 13"/>
          <p:cNvSpPr/>
          <p:nvPr/>
        </p:nvSpPr>
        <p:spPr>
          <a:xfrm>
            <a:off x="6327648" y="2514600"/>
            <a:ext cx="2615184" cy="3063240"/>
          </a:xfrm>
          <a:prstGeom prst="rect">
            <a:avLst/>
          </a:prstGeom>
          <a:solidFill>
            <a:srgbClr val="1A2338"/>
          </a:solidFill>
          <a:ln w="12700">
            <a:solidFill>
              <a:srgbClr val="2A3450"/>
            </a:solidFill>
            <a:prstDash val="solid"/>
          </a:ln>
        </p:spPr>
      </p:sp>
      <p:sp>
        <p:nvSpPr>
          <p:cNvPr id="18" name="Shape 14"/>
          <p:cNvSpPr/>
          <p:nvPr/>
        </p:nvSpPr>
        <p:spPr>
          <a:xfrm>
            <a:off x="6327648" y="2514600"/>
            <a:ext cx="2615184" cy="73152"/>
          </a:xfrm>
          <a:prstGeom prst="rect">
            <a:avLst/>
          </a:prstGeom>
          <a:solidFill>
            <a:srgbClr val="E05260"/>
          </a:solidFill>
          <a:ln/>
        </p:spPr>
      </p:sp>
      <p:sp>
        <p:nvSpPr>
          <p:cNvPr id="19" name="Shape 15"/>
          <p:cNvSpPr/>
          <p:nvPr/>
        </p:nvSpPr>
        <p:spPr>
          <a:xfrm>
            <a:off x="6620256" y="2862072"/>
            <a:ext cx="786384" cy="786384"/>
          </a:xfrm>
          <a:prstGeom prst="ellipse">
            <a:avLst/>
          </a:prstGeom>
          <a:solidFill>
            <a:srgbClr val="1A2233"/>
          </a:solidFill>
          <a:ln w="15875">
            <a:solidFill>
              <a:srgbClr val="E05260"/>
            </a:solidFill>
            <a:prstDash val="solid"/>
          </a:ln>
        </p:spPr>
      </p:sp>
      <p:pic>
        <p:nvPicPr>
          <p:cNvPr id="20" name="Image 2" descr="preencoded.png">    </p:cNvPr>
          <p:cNvPicPr>
            <a:picLocks noChangeAspect="1"/>
          </p:cNvPicPr>
          <p:nvPr/>
        </p:nvPicPr>
        <p:blipFill>
          <a:blip r:embed="rId3"/>
          <a:stretch>
            <a:fillRect/>
          </a:stretch>
        </p:blipFill>
        <p:spPr>
          <a:xfrm>
            <a:off x="6830568" y="3063240"/>
            <a:ext cx="365760" cy="365760"/>
          </a:xfrm>
          <a:prstGeom prst="rect">
            <a:avLst/>
          </a:prstGeom>
        </p:spPr>
      </p:pic>
      <p:sp>
        <p:nvSpPr>
          <p:cNvPr id="21" name="Text 16"/>
          <p:cNvSpPr/>
          <p:nvPr/>
        </p:nvSpPr>
        <p:spPr>
          <a:xfrm>
            <a:off x="6583680" y="3794760"/>
            <a:ext cx="2157984" cy="411480"/>
          </a:xfrm>
          <a:prstGeom prst="rect">
            <a:avLst/>
          </a:prstGeom>
          <a:noFill/>
          <a:ln/>
        </p:spPr>
        <p:txBody>
          <a:bodyPr wrap="square" lIns="0" tIns="0" rIns="0" bIns="0" rtlCol="0" anchor="ctr"/>
          <a:lstStyle/>
          <a:p>
            <a:pPr indent="0" marL="0">
              <a:buNone/>
            </a:pPr>
            <a:r>
              <a:rPr lang="en-US" sz="1700" b="1" dirty="0">
                <a:solidFill>
                  <a:srgbClr val="E6ECF7"/>
                </a:solidFill>
                <a:latin typeface="Georgia" pitchFamily="34" charset="0"/>
                <a:ea typeface="Georgia" pitchFamily="34" charset="-122"/>
                <a:cs typeface="Georgia" pitchFamily="34" charset="-120"/>
              </a:rPr>
              <a:t>Cost Blindness</a:t>
            </a:r>
            <a:endParaRPr lang="en-US" sz="1700" dirty="0"/>
          </a:p>
        </p:txBody>
      </p:sp>
      <p:sp>
        <p:nvSpPr>
          <p:cNvPr id="22" name="Text 17"/>
          <p:cNvSpPr/>
          <p:nvPr/>
        </p:nvSpPr>
        <p:spPr>
          <a:xfrm>
            <a:off x="6583680" y="4251960"/>
            <a:ext cx="2157984" cy="118872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No per-agent cost attribution. Runaway token spend and no credible way to prove ROI on AI investment.</a:t>
            </a:r>
            <a:endParaRPr lang="en-US" sz="1150" dirty="0"/>
          </a:p>
        </p:txBody>
      </p:sp>
      <p:sp>
        <p:nvSpPr>
          <p:cNvPr id="23" name="Shape 18"/>
          <p:cNvSpPr/>
          <p:nvPr/>
        </p:nvSpPr>
        <p:spPr>
          <a:xfrm>
            <a:off x="9162288" y="2514600"/>
            <a:ext cx="2615184" cy="3063240"/>
          </a:xfrm>
          <a:prstGeom prst="rect">
            <a:avLst/>
          </a:prstGeom>
          <a:solidFill>
            <a:srgbClr val="1A2338"/>
          </a:solidFill>
          <a:ln w="12700">
            <a:solidFill>
              <a:srgbClr val="2A3450"/>
            </a:solidFill>
            <a:prstDash val="solid"/>
          </a:ln>
        </p:spPr>
      </p:sp>
      <p:sp>
        <p:nvSpPr>
          <p:cNvPr id="24" name="Shape 19"/>
          <p:cNvSpPr/>
          <p:nvPr/>
        </p:nvSpPr>
        <p:spPr>
          <a:xfrm>
            <a:off x="9162288" y="2514600"/>
            <a:ext cx="2615184" cy="73152"/>
          </a:xfrm>
          <a:prstGeom prst="rect">
            <a:avLst/>
          </a:prstGeom>
          <a:solidFill>
            <a:srgbClr val="E05260"/>
          </a:solidFill>
          <a:ln/>
        </p:spPr>
      </p:sp>
      <p:sp>
        <p:nvSpPr>
          <p:cNvPr id="25" name="Shape 20"/>
          <p:cNvSpPr/>
          <p:nvPr/>
        </p:nvSpPr>
        <p:spPr>
          <a:xfrm>
            <a:off x="9454896" y="2862072"/>
            <a:ext cx="786384" cy="786384"/>
          </a:xfrm>
          <a:prstGeom prst="ellipse">
            <a:avLst/>
          </a:prstGeom>
          <a:solidFill>
            <a:srgbClr val="1A2233"/>
          </a:solidFill>
          <a:ln w="15875">
            <a:solidFill>
              <a:srgbClr val="E05260"/>
            </a:solidFill>
            <a:prstDash val="solid"/>
          </a:ln>
        </p:spPr>
      </p:sp>
      <p:pic>
        <p:nvPicPr>
          <p:cNvPr id="26" name="Image 3" descr="preencoded.png">    </p:cNvPr>
          <p:cNvPicPr>
            <a:picLocks noChangeAspect="1"/>
          </p:cNvPicPr>
          <p:nvPr/>
        </p:nvPicPr>
        <p:blipFill>
          <a:blip r:embed="rId4"/>
          <a:stretch>
            <a:fillRect/>
          </a:stretch>
        </p:blipFill>
        <p:spPr>
          <a:xfrm>
            <a:off x="9665208" y="3063240"/>
            <a:ext cx="365760" cy="365760"/>
          </a:xfrm>
          <a:prstGeom prst="rect">
            <a:avLst/>
          </a:prstGeom>
        </p:spPr>
      </p:pic>
      <p:sp>
        <p:nvSpPr>
          <p:cNvPr id="27" name="Text 21"/>
          <p:cNvSpPr/>
          <p:nvPr/>
        </p:nvSpPr>
        <p:spPr>
          <a:xfrm>
            <a:off x="9418320" y="3794760"/>
            <a:ext cx="2157984" cy="411480"/>
          </a:xfrm>
          <a:prstGeom prst="rect">
            <a:avLst/>
          </a:prstGeom>
          <a:noFill/>
          <a:ln/>
        </p:spPr>
        <p:txBody>
          <a:bodyPr wrap="square" lIns="0" tIns="0" rIns="0" bIns="0" rtlCol="0" anchor="ctr"/>
          <a:lstStyle/>
          <a:p>
            <a:pPr indent="0" marL="0">
              <a:buNone/>
            </a:pPr>
            <a:r>
              <a:rPr lang="en-US" sz="1700" b="1" dirty="0">
                <a:solidFill>
                  <a:srgbClr val="E6ECF7"/>
                </a:solidFill>
                <a:latin typeface="Georgia" pitchFamily="34" charset="0"/>
                <a:ea typeface="Georgia" pitchFamily="34" charset="-122"/>
                <a:cs typeface="Georgia" pitchFamily="34" charset="-120"/>
              </a:rPr>
              <a:t>Observability Gap</a:t>
            </a:r>
            <a:endParaRPr lang="en-US" sz="1700" dirty="0"/>
          </a:p>
        </p:txBody>
      </p:sp>
      <p:sp>
        <p:nvSpPr>
          <p:cNvPr id="28" name="Text 22"/>
          <p:cNvSpPr/>
          <p:nvPr/>
        </p:nvSpPr>
        <p:spPr>
          <a:xfrm>
            <a:off x="9418320" y="4251960"/>
            <a:ext cx="2157984" cy="118872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No unified tracing across agentic loops. Near-impossible to debug, and impossible to trust in production.</a:t>
            </a:r>
            <a:endParaRPr lang="en-US" sz="1150" dirty="0"/>
          </a:p>
        </p:txBody>
      </p:sp>
      <p:sp>
        <p:nvSpPr>
          <p:cNvPr id="29" name="Text 23"/>
          <p:cNvSpPr/>
          <p:nvPr/>
        </p:nvSpPr>
        <p:spPr>
          <a:xfrm>
            <a:off x="502920" y="6492240"/>
            <a:ext cx="8229600" cy="256032"/>
          </a:xfrm>
          <a:prstGeom prst="rect">
            <a:avLst/>
          </a:prstGeom>
          <a:noFill/>
          <a:ln/>
        </p:spPr>
        <p:txBody>
          <a:bodyPr wrap="square" lIns="0" tIns="0" rIns="0" bIns="0" rtlCol="0" anchor="ctr"/>
          <a:lstStyle/>
          <a:p>
            <a:pPr indent="0" marL="0">
              <a:buNone/>
            </a:pPr>
            <a:r>
              <a:rPr lang="en-US" sz="800" dirty="0">
                <a:solidFill>
                  <a:srgbClr val="667891"/>
                </a:solidFill>
                <a:latin typeface="Calibri" pitchFamily="34" charset="0"/>
                <a:ea typeface="Calibri" pitchFamily="34" charset="-122"/>
                <a:cs typeface="Calibri" pitchFamily="34" charset="-120"/>
              </a:rPr>
              <a:t>Enterprise Agentic AI Platform</a:t>
            </a:r>
            <a:pPr indent="0" marL="0">
              <a:buNone/>
            </a:pPr>
            <a:r>
              <a:rPr lang="en-US" sz="800" dirty="0">
                <a:solidFill>
                  <a:srgbClr val="6D4FD6"/>
                </a:solidFill>
                <a:latin typeface="Calibri" pitchFamily="34" charset="0"/>
                <a:ea typeface="Calibri" pitchFamily="34" charset="-122"/>
                <a:cs typeface="Calibri" pitchFamily="34" charset="-120"/>
              </a:rPr>
              <a:t>   ·   Why — the status quo</a:t>
            </a:r>
            <a:endParaRPr lang="en-US" sz="800" dirty="0"/>
          </a:p>
        </p:txBody>
      </p:sp>
      <p:sp>
        <p:nvSpPr>
          <p:cNvPr id="30" name="Text 24"/>
          <p:cNvSpPr/>
          <p:nvPr/>
        </p:nvSpPr>
        <p:spPr>
          <a:xfrm>
            <a:off x="11231575" y="6492240"/>
            <a:ext cx="457200" cy="256032"/>
          </a:xfrm>
          <a:prstGeom prst="rect">
            <a:avLst/>
          </a:prstGeom>
          <a:noFill/>
          <a:ln/>
        </p:spPr>
        <p:txBody>
          <a:bodyPr wrap="square" lIns="0" tIns="0" rIns="0" bIns="0" rtlCol="0" anchor="ctr"/>
          <a:lstStyle/>
          <a:p>
            <a:pPr algn="r" indent="0" marL="0">
              <a:buNone/>
            </a:pPr>
            <a:r>
              <a:rPr lang="en-US" sz="800" dirty="0">
                <a:solidFill>
                  <a:srgbClr val="667891"/>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A2E"/>
        </a:solidFill>
      </p:bgPr>
    </p:bg>
    <p:spTree>
      <p:nvGrpSpPr>
        <p:cNvPr id="1" name=""/>
        <p:cNvGrpSpPr/>
        <p:nvPr/>
      </p:nvGrpSpPr>
      <p:grpSpPr>
        <a:xfrm>
          <a:off x="0" y="0"/>
          <a:ext cx="0" cy="0"/>
          <a:chOff x="0" y="0"/>
          <a:chExt cx="0" cy="0"/>
        </a:xfrm>
      </p:grpSpPr>
      <p:sp>
        <p:nvSpPr>
          <p:cNvPr id="2" name="Text 0"/>
          <p:cNvSpPr/>
          <p:nvPr/>
        </p:nvSpPr>
        <p:spPr>
          <a:xfrm>
            <a:off x="658368" y="56692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Calibri" pitchFamily="34" charset="0"/>
                <a:ea typeface="Calibri" pitchFamily="34" charset="-122"/>
                <a:cs typeface="Calibri" pitchFamily="34" charset="-120"/>
              </a:rPr>
              <a:t>WHY IT MATTERS NOW</a:t>
            </a:r>
            <a:endParaRPr lang="en-US" sz="1100" dirty="0"/>
          </a:p>
        </p:txBody>
      </p:sp>
      <p:sp>
        <p:nvSpPr>
          <p:cNvPr id="3" name="Text 1"/>
          <p:cNvSpPr/>
          <p:nvPr/>
        </p:nvSpPr>
        <p:spPr>
          <a:xfrm>
            <a:off x="612648" y="868680"/>
            <a:ext cx="11155680" cy="914400"/>
          </a:xfrm>
          <a:prstGeom prst="rect">
            <a:avLst/>
          </a:prstGeom>
          <a:noFill/>
          <a:ln/>
        </p:spPr>
        <p:txBody>
          <a:bodyPr wrap="square" lIns="0" tIns="0" rIns="0" bIns="0" rtlCol="0" anchor="ctr"/>
          <a:lstStyle/>
          <a:p>
            <a:pPr indent="0" marL="0">
              <a:buNone/>
            </a:pPr>
            <a:r>
              <a:rPr lang="en-US" sz="3000" b="1" dirty="0">
                <a:solidFill>
                  <a:srgbClr val="E6ECF7"/>
                </a:solidFill>
                <a:latin typeface="Georgia" pitchFamily="34" charset="0"/>
                <a:ea typeface="Georgia" pitchFamily="34" charset="-122"/>
                <a:cs typeface="Georgia" pitchFamily="34" charset="-120"/>
              </a:rPr>
              <a:t>The strategic case for a shared platform</a:t>
            </a:r>
            <a:endParaRPr lang="en-US" sz="3000" dirty="0"/>
          </a:p>
        </p:txBody>
      </p:sp>
      <p:sp>
        <p:nvSpPr>
          <p:cNvPr id="4" name="Shape 2"/>
          <p:cNvSpPr/>
          <p:nvPr/>
        </p:nvSpPr>
        <p:spPr>
          <a:xfrm>
            <a:off x="658368" y="2112264"/>
            <a:ext cx="82296" cy="585216"/>
          </a:xfrm>
          <a:prstGeom prst="rect">
            <a:avLst/>
          </a:prstGeom>
          <a:solidFill>
            <a:srgbClr val="E05260"/>
          </a:solidFill>
          <a:ln/>
        </p:spPr>
      </p:sp>
      <p:sp>
        <p:nvSpPr>
          <p:cNvPr id="5" name="Text 3"/>
          <p:cNvSpPr/>
          <p:nvPr/>
        </p:nvSpPr>
        <p:spPr>
          <a:xfrm>
            <a:off x="886968" y="1965960"/>
            <a:ext cx="2286000" cy="914400"/>
          </a:xfrm>
          <a:prstGeom prst="rect">
            <a:avLst/>
          </a:prstGeom>
          <a:noFill/>
          <a:ln/>
        </p:spPr>
        <p:txBody>
          <a:bodyPr wrap="square" lIns="0" tIns="0" rIns="0" bIns="0" rtlCol="0" anchor="ctr"/>
          <a:lstStyle/>
          <a:p>
            <a:pPr indent="0" marL="0">
              <a:buNone/>
            </a:pPr>
            <a:r>
              <a:rPr lang="en-US" sz="4400" b="1" dirty="0">
                <a:solidFill>
                  <a:srgbClr val="E6ECF7"/>
                </a:solidFill>
                <a:latin typeface="Georgia" pitchFamily="34" charset="0"/>
                <a:ea typeface="Georgia" pitchFamily="34" charset="-122"/>
                <a:cs typeface="Georgia" pitchFamily="34" charset="-120"/>
              </a:rPr>
              <a:t>Weeks</a:t>
            </a:r>
            <a:endParaRPr lang="en-US" sz="4400" dirty="0"/>
          </a:p>
        </p:txBody>
      </p:sp>
      <p:sp>
        <p:nvSpPr>
          <p:cNvPr id="6" name="Text 4"/>
          <p:cNvSpPr/>
          <p:nvPr/>
        </p:nvSpPr>
        <p:spPr>
          <a:xfrm>
            <a:off x="3246120" y="2057400"/>
            <a:ext cx="4023360" cy="822960"/>
          </a:xfrm>
          <a:prstGeom prst="rect">
            <a:avLst/>
          </a:prstGeom>
          <a:noFill/>
          <a:ln/>
        </p:spPr>
        <p:txBody>
          <a:bodyPr wrap="square" lIns="0" tIns="0" rIns="0" bIns="0" rtlCol="0" anchor="ctr"/>
          <a:lstStyle/>
          <a:p>
            <a:pPr indent="0" marL="0">
              <a:buNone/>
            </a:pPr>
            <a:r>
              <a:rPr lang="en-US" sz="1300" dirty="0">
                <a:solidFill>
                  <a:srgbClr val="E6ECF7"/>
                </a:solidFill>
                <a:latin typeface="Calibri" pitchFamily="34" charset="0"/>
                <a:ea typeface="Calibri" pitchFamily="34" charset="-122"/>
                <a:cs typeface="Calibri" pitchFamily="34" charset="-120"/>
              </a:rPr>
              <a:t>to onboard each new agent when every team starts from scratch</a:t>
            </a:r>
            <a:endParaRPr lang="en-US" sz="1300" dirty="0"/>
          </a:p>
        </p:txBody>
      </p:sp>
      <p:sp>
        <p:nvSpPr>
          <p:cNvPr id="7" name="Shape 5"/>
          <p:cNvSpPr/>
          <p:nvPr/>
        </p:nvSpPr>
        <p:spPr>
          <a:xfrm>
            <a:off x="658368" y="3438144"/>
            <a:ext cx="82296" cy="585216"/>
          </a:xfrm>
          <a:prstGeom prst="rect">
            <a:avLst/>
          </a:prstGeom>
          <a:solidFill>
            <a:srgbClr val="E08A1E"/>
          </a:solidFill>
          <a:ln/>
        </p:spPr>
      </p:sp>
      <p:sp>
        <p:nvSpPr>
          <p:cNvPr id="8" name="Text 6"/>
          <p:cNvSpPr/>
          <p:nvPr/>
        </p:nvSpPr>
        <p:spPr>
          <a:xfrm>
            <a:off x="886968" y="3291840"/>
            <a:ext cx="2286000" cy="914400"/>
          </a:xfrm>
          <a:prstGeom prst="rect">
            <a:avLst/>
          </a:prstGeom>
          <a:noFill/>
          <a:ln/>
        </p:spPr>
        <p:txBody>
          <a:bodyPr wrap="square" lIns="0" tIns="0" rIns="0" bIns="0" rtlCol="0" anchor="ctr"/>
          <a:lstStyle/>
          <a:p>
            <a:pPr indent="0" marL="0">
              <a:buNone/>
            </a:pPr>
            <a:r>
              <a:rPr lang="en-US" sz="4400" b="1" dirty="0">
                <a:solidFill>
                  <a:srgbClr val="E6ECF7"/>
                </a:solidFill>
                <a:latin typeface="Georgia" pitchFamily="34" charset="0"/>
                <a:ea typeface="Georgia" pitchFamily="34" charset="-122"/>
                <a:cs typeface="Georgia" pitchFamily="34" charset="-120"/>
              </a:rPr>
              <a:t>0%</a:t>
            </a:r>
            <a:endParaRPr lang="en-US" sz="4400" dirty="0"/>
          </a:p>
        </p:txBody>
      </p:sp>
      <p:sp>
        <p:nvSpPr>
          <p:cNvPr id="9" name="Text 7"/>
          <p:cNvSpPr/>
          <p:nvPr/>
        </p:nvSpPr>
        <p:spPr>
          <a:xfrm>
            <a:off x="3246120" y="3383280"/>
            <a:ext cx="4023360" cy="822960"/>
          </a:xfrm>
          <a:prstGeom prst="rect">
            <a:avLst/>
          </a:prstGeom>
          <a:noFill/>
          <a:ln/>
        </p:spPr>
        <p:txBody>
          <a:bodyPr wrap="square" lIns="0" tIns="0" rIns="0" bIns="0" rtlCol="0" anchor="ctr"/>
          <a:lstStyle/>
          <a:p>
            <a:pPr indent="0" marL="0">
              <a:buNone/>
            </a:pPr>
            <a:r>
              <a:rPr lang="en-US" sz="1300" dirty="0">
                <a:solidFill>
                  <a:srgbClr val="E6ECF7"/>
                </a:solidFill>
                <a:latin typeface="Calibri" pitchFamily="34" charset="0"/>
                <a:ea typeface="Calibri" pitchFamily="34" charset="-122"/>
                <a:cs typeface="Calibri" pitchFamily="34" charset="-120"/>
              </a:rPr>
              <a:t>reuse of skills, tools and evaluation across teams</a:t>
            </a:r>
            <a:endParaRPr lang="en-US" sz="1300" dirty="0"/>
          </a:p>
        </p:txBody>
      </p:sp>
      <p:sp>
        <p:nvSpPr>
          <p:cNvPr id="10" name="Shape 8"/>
          <p:cNvSpPr/>
          <p:nvPr/>
        </p:nvSpPr>
        <p:spPr>
          <a:xfrm>
            <a:off x="658368" y="4764024"/>
            <a:ext cx="82296" cy="585216"/>
          </a:xfrm>
          <a:prstGeom prst="rect">
            <a:avLst/>
          </a:prstGeom>
          <a:solidFill>
            <a:srgbClr val="6D4FD6"/>
          </a:solidFill>
          <a:ln/>
        </p:spPr>
      </p:sp>
      <p:sp>
        <p:nvSpPr>
          <p:cNvPr id="11" name="Text 9"/>
          <p:cNvSpPr/>
          <p:nvPr/>
        </p:nvSpPr>
        <p:spPr>
          <a:xfrm>
            <a:off x="886968" y="4617720"/>
            <a:ext cx="2286000" cy="914400"/>
          </a:xfrm>
          <a:prstGeom prst="rect">
            <a:avLst/>
          </a:prstGeom>
          <a:noFill/>
          <a:ln/>
        </p:spPr>
        <p:txBody>
          <a:bodyPr wrap="square" lIns="0" tIns="0" rIns="0" bIns="0" rtlCol="0" anchor="ctr"/>
          <a:lstStyle/>
          <a:p>
            <a:pPr indent="0" marL="0">
              <a:buNone/>
            </a:pPr>
            <a:r>
              <a:rPr lang="en-US" sz="4400" b="1" dirty="0">
                <a:solidFill>
                  <a:srgbClr val="E6ECF7"/>
                </a:solidFill>
                <a:latin typeface="Georgia" pitchFamily="34" charset="0"/>
                <a:ea typeface="Georgia" pitchFamily="34" charset="-122"/>
                <a:cs typeface="Georgia" pitchFamily="34" charset="-120"/>
              </a:rPr>
              <a:t>None</a:t>
            </a:r>
            <a:endParaRPr lang="en-US" sz="4400" dirty="0"/>
          </a:p>
        </p:txBody>
      </p:sp>
      <p:sp>
        <p:nvSpPr>
          <p:cNvPr id="12" name="Text 10"/>
          <p:cNvSpPr/>
          <p:nvPr/>
        </p:nvSpPr>
        <p:spPr>
          <a:xfrm>
            <a:off x="3246120" y="4709160"/>
            <a:ext cx="4023360" cy="822960"/>
          </a:xfrm>
          <a:prstGeom prst="rect">
            <a:avLst/>
          </a:prstGeom>
          <a:noFill/>
          <a:ln/>
        </p:spPr>
        <p:txBody>
          <a:bodyPr wrap="square" lIns="0" tIns="0" rIns="0" bIns="0" rtlCol="0" anchor="ctr"/>
          <a:lstStyle/>
          <a:p>
            <a:pPr indent="0" marL="0">
              <a:buNone/>
            </a:pPr>
            <a:r>
              <a:rPr lang="en-US" sz="1300" dirty="0">
                <a:solidFill>
                  <a:srgbClr val="E6ECF7"/>
                </a:solidFill>
                <a:latin typeface="Calibri" pitchFamily="34" charset="0"/>
                <a:ea typeface="Calibri" pitchFamily="34" charset="-122"/>
                <a:cs typeface="Calibri" pitchFamily="34" charset="-120"/>
              </a:rPr>
              <a:t>no single pane of glass for cost, quality or security</a:t>
            </a:r>
            <a:endParaRPr lang="en-US" sz="1300" dirty="0"/>
          </a:p>
        </p:txBody>
      </p:sp>
      <p:sp>
        <p:nvSpPr>
          <p:cNvPr id="13" name="Shape 11"/>
          <p:cNvSpPr/>
          <p:nvPr/>
        </p:nvSpPr>
        <p:spPr>
          <a:xfrm>
            <a:off x="7772400" y="1874520"/>
            <a:ext cx="3794760" cy="3749040"/>
          </a:xfrm>
          <a:prstGeom prst="rect">
            <a:avLst/>
          </a:prstGeom>
          <a:solidFill>
            <a:srgbClr val="22304C"/>
          </a:solidFill>
          <a:ln w="25400">
            <a:solidFill>
              <a:srgbClr val="6D4FD6"/>
            </a:solidFill>
            <a:prstDash val="solid"/>
          </a:ln>
        </p:spPr>
      </p:sp>
      <p:sp>
        <p:nvSpPr>
          <p:cNvPr id="14" name="Text 12"/>
          <p:cNvSpPr/>
          <p:nvPr/>
        </p:nvSpPr>
        <p:spPr>
          <a:xfrm>
            <a:off x="8092440" y="2194560"/>
            <a:ext cx="3200400" cy="777240"/>
          </a:xfrm>
          <a:prstGeom prst="rect">
            <a:avLst/>
          </a:prstGeom>
          <a:noFill/>
          <a:ln/>
        </p:spPr>
        <p:txBody>
          <a:bodyPr wrap="square" lIns="0" tIns="0" rIns="0" bIns="0" rtlCol="0" anchor="ctr"/>
          <a:lstStyle/>
          <a:p>
            <a:pPr indent="0" marL="0">
              <a:buNone/>
            </a:pPr>
            <a:r>
              <a:rPr lang="en-US" sz="1600" i="1" dirty="0">
                <a:solidFill>
                  <a:srgbClr val="9AA7BF"/>
                </a:solidFill>
                <a:latin typeface="Calibri" pitchFamily="34" charset="0"/>
                <a:ea typeface="Calibri" pitchFamily="34" charset="-122"/>
                <a:cs typeface="Calibri" pitchFamily="34" charset="-120"/>
              </a:rPr>
              <a:t>The question isn't whether to build agents.</a:t>
            </a:r>
            <a:endParaRPr lang="en-US" sz="1600" dirty="0"/>
          </a:p>
        </p:txBody>
      </p:sp>
      <p:sp>
        <p:nvSpPr>
          <p:cNvPr id="15" name="Text 13"/>
          <p:cNvSpPr/>
          <p:nvPr/>
        </p:nvSpPr>
        <p:spPr>
          <a:xfrm>
            <a:off x="8092440" y="3017520"/>
            <a:ext cx="3200400" cy="1463040"/>
          </a:xfrm>
          <a:prstGeom prst="rect">
            <a:avLst/>
          </a:prstGeom>
          <a:noFill/>
          <a:ln/>
        </p:spPr>
        <p:txBody>
          <a:bodyPr wrap="square" lIns="0" tIns="0" rIns="0" bIns="0" rtlCol="0" anchor="ctr"/>
          <a:lstStyle/>
          <a:p>
            <a:pPr indent="0" marL="0">
              <a:buNone/>
            </a:pPr>
            <a:r>
              <a:rPr lang="en-US" sz="1800" b="1" dirty="0">
                <a:solidFill>
                  <a:srgbClr val="E6ECF7"/>
                </a:solidFill>
                <a:latin typeface="Georgia" pitchFamily="34" charset="0"/>
                <a:ea typeface="Georgia" pitchFamily="34" charset="-122"/>
                <a:cs typeface="Georgia" pitchFamily="34" charset="-120"/>
              </a:rPr>
              <a:t>It's whether you can build them fast, safely and at scale — on shared, governed foundations.</a:t>
            </a:r>
            <a:endParaRPr lang="en-US" sz="1800" dirty="0"/>
          </a:p>
        </p:txBody>
      </p:sp>
      <p:sp>
        <p:nvSpPr>
          <p:cNvPr id="16" name="Text 14"/>
          <p:cNvSpPr/>
          <p:nvPr/>
        </p:nvSpPr>
        <p:spPr>
          <a:xfrm>
            <a:off x="8092440" y="4892040"/>
            <a:ext cx="3200400" cy="457200"/>
          </a:xfrm>
          <a:prstGeom prst="rect">
            <a:avLst/>
          </a:prstGeom>
          <a:noFill/>
          <a:ln/>
        </p:spPr>
        <p:txBody>
          <a:bodyPr wrap="square" lIns="0" tIns="0" rIns="0" bIns="0" rtlCol="0" anchor="ctr"/>
          <a:lstStyle/>
          <a:p>
            <a:pPr indent="0" marL="0">
              <a:buNone/>
            </a:pPr>
            <a:r>
              <a:rPr lang="en-US" sz="1400" b="1" dirty="0">
                <a:solidFill>
                  <a:srgbClr val="1F9D6B"/>
                </a:solidFill>
                <a:latin typeface="Calibri" pitchFamily="34" charset="0"/>
                <a:ea typeface="Calibri" pitchFamily="34" charset="-122"/>
                <a:cs typeface="Calibri" pitchFamily="34" charset="-120"/>
              </a:rPr>
              <a:t>That is what a platform provides.</a:t>
            </a:r>
            <a:endParaRPr lang="en-US" sz="1400" dirty="0"/>
          </a:p>
        </p:txBody>
      </p:sp>
      <p:sp>
        <p:nvSpPr>
          <p:cNvPr id="17" name="Text 15"/>
          <p:cNvSpPr/>
          <p:nvPr/>
        </p:nvSpPr>
        <p:spPr>
          <a:xfrm>
            <a:off x="502920" y="6492240"/>
            <a:ext cx="8229600" cy="256032"/>
          </a:xfrm>
          <a:prstGeom prst="rect">
            <a:avLst/>
          </a:prstGeom>
          <a:noFill/>
          <a:ln/>
        </p:spPr>
        <p:txBody>
          <a:bodyPr wrap="square" lIns="0" tIns="0" rIns="0" bIns="0" rtlCol="0" anchor="ctr"/>
          <a:lstStyle/>
          <a:p>
            <a:pPr indent="0" marL="0">
              <a:buNone/>
            </a:pPr>
            <a:r>
              <a:rPr lang="en-US" sz="800" dirty="0">
                <a:solidFill>
                  <a:srgbClr val="667891"/>
                </a:solidFill>
                <a:latin typeface="Calibri" pitchFamily="34" charset="0"/>
                <a:ea typeface="Calibri" pitchFamily="34" charset="-122"/>
                <a:cs typeface="Calibri" pitchFamily="34" charset="-120"/>
              </a:rPr>
              <a:t>Enterprise Agentic AI Platform</a:t>
            </a:r>
            <a:pPr indent="0" marL="0">
              <a:buNone/>
            </a:pPr>
            <a:r>
              <a:rPr lang="en-US" sz="800" dirty="0">
                <a:solidFill>
                  <a:srgbClr val="6D4FD6"/>
                </a:solidFill>
                <a:latin typeface="Calibri" pitchFamily="34" charset="0"/>
                <a:ea typeface="Calibri" pitchFamily="34" charset="-122"/>
                <a:cs typeface="Calibri" pitchFamily="34" charset="-120"/>
              </a:rPr>
              <a:t>   ·   Why — the strategic case</a:t>
            </a:r>
            <a:endParaRPr lang="en-US" sz="800" dirty="0"/>
          </a:p>
        </p:txBody>
      </p:sp>
      <p:sp>
        <p:nvSpPr>
          <p:cNvPr id="18" name="Text 16"/>
          <p:cNvSpPr/>
          <p:nvPr/>
        </p:nvSpPr>
        <p:spPr>
          <a:xfrm>
            <a:off x="11231575" y="6492240"/>
            <a:ext cx="457200" cy="256032"/>
          </a:xfrm>
          <a:prstGeom prst="rect">
            <a:avLst/>
          </a:prstGeom>
          <a:noFill/>
          <a:ln/>
        </p:spPr>
        <p:txBody>
          <a:bodyPr wrap="square" lIns="0" tIns="0" rIns="0" bIns="0" rtlCol="0" anchor="ctr"/>
          <a:lstStyle/>
          <a:p>
            <a:pPr algn="r" indent="0" marL="0">
              <a:buNone/>
            </a:pPr>
            <a:r>
              <a:rPr lang="en-US" sz="800" dirty="0">
                <a:solidFill>
                  <a:srgbClr val="667891"/>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502920"/>
            <a:ext cx="82296" cy="658368"/>
          </a:xfrm>
          <a:prstGeom prst="rect">
            <a:avLst/>
          </a:prstGeom>
          <a:solidFill>
            <a:srgbClr val="3B4CB8"/>
          </a:solidFill>
          <a:ln/>
        </p:spPr>
      </p:sp>
      <p:sp>
        <p:nvSpPr>
          <p:cNvPr id="3" name="Text 1"/>
          <p:cNvSpPr/>
          <p:nvPr/>
        </p:nvSpPr>
        <p:spPr>
          <a:xfrm>
            <a:off x="713232" y="457200"/>
            <a:ext cx="10972800" cy="685800"/>
          </a:xfrm>
          <a:prstGeom prst="rect">
            <a:avLst/>
          </a:prstGeom>
          <a:noFill/>
          <a:ln/>
        </p:spPr>
        <p:txBody>
          <a:bodyPr wrap="square" lIns="0" tIns="0" rIns="0" bIns="0" rtlCol="0" anchor="ctr"/>
          <a:lstStyle/>
          <a:p>
            <a:pPr indent="0" marL="0">
              <a:buNone/>
            </a:pPr>
            <a:r>
              <a:rPr lang="en-US" sz="3000" b="1" dirty="0">
                <a:solidFill>
                  <a:srgbClr val="1E2A44"/>
                </a:solidFill>
                <a:latin typeface="Georgia" pitchFamily="34" charset="0"/>
                <a:ea typeface="Georgia" pitchFamily="34" charset="-122"/>
                <a:cs typeface="Georgia" pitchFamily="34" charset="-120"/>
              </a:rPr>
              <a:t>Platform capability stack &amp; ownership</a:t>
            </a:r>
            <a:endParaRPr lang="en-US" sz="3000" dirty="0"/>
          </a:p>
        </p:txBody>
      </p:sp>
      <p:sp>
        <p:nvSpPr>
          <p:cNvPr id="4" name="Text 2"/>
          <p:cNvSpPr/>
          <p:nvPr/>
        </p:nvSpPr>
        <p:spPr>
          <a:xfrm>
            <a:off x="731520" y="1170432"/>
            <a:ext cx="10972800" cy="274320"/>
          </a:xfrm>
          <a:prstGeom prst="rect">
            <a:avLst/>
          </a:prstGeom>
          <a:noFill/>
          <a:ln/>
        </p:spPr>
        <p:txBody>
          <a:bodyPr wrap="square" lIns="0" tIns="0" rIns="0" bIns="0" rtlCol="0" anchor="ctr"/>
          <a:lstStyle/>
          <a:p>
            <a:pPr indent="0" marL="0">
              <a:buNone/>
            </a:pPr>
            <a:r>
              <a:rPr lang="en-US" sz="1100" b="1" spc="200" kern="0" dirty="0">
                <a:solidFill>
                  <a:srgbClr val="3B4CB8"/>
                </a:solidFill>
                <a:latin typeface="Calibri" pitchFamily="34" charset="0"/>
                <a:ea typeface="Calibri" pitchFamily="34" charset="-122"/>
                <a:cs typeface="Calibri" pitchFamily="34" charset="-120"/>
              </a:rPr>
              <a:t>ARCHITECTURAL TARGET STATE · OWNERSHIP SPLIT</a:t>
            </a:r>
            <a:endParaRPr lang="en-US" sz="1100" dirty="0"/>
          </a:p>
        </p:txBody>
      </p:sp>
      <p:sp>
        <p:nvSpPr>
          <p:cNvPr id="5" name="Shape 3"/>
          <p:cNvSpPr/>
          <p:nvPr/>
        </p:nvSpPr>
        <p:spPr>
          <a:xfrm>
            <a:off x="502920" y="1691640"/>
            <a:ext cx="566928" cy="4041648"/>
          </a:xfrm>
          <a:prstGeom prst="rect">
            <a:avLst/>
          </a:prstGeom>
          <a:solidFill>
            <a:srgbClr val="E2E8F2"/>
          </a:solidFill>
          <a:ln/>
        </p:spPr>
      </p:sp>
      <p:sp>
        <p:nvSpPr>
          <p:cNvPr id="6" name="Text 4"/>
          <p:cNvSpPr/>
          <p:nvPr/>
        </p:nvSpPr>
        <p:spPr>
          <a:xfrm rot="16200000">
            <a:off x="-1234440" y="3575304"/>
            <a:ext cx="4041648" cy="274320"/>
          </a:xfrm>
          <a:prstGeom prst="rect">
            <a:avLst/>
          </a:prstGeom>
          <a:noFill/>
          <a:ln/>
        </p:spPr>
        <p:txBody>
          <a:bodyPr wrap="square" lIns="0" tIns="0" rIns="0" bIns="0" rtlCol="0" anchor="ctr"/>
          <a:lstStyle/>
          <a:p>
            <a:pPr algn="ctr" indent="0" marL="0">
              <a:buNone/>
            </a:pPr>
            <a:r>
              <a:rPr lang="en-US" sz="1000" b="1" spc="100" kern="0" dirty="0">
                <a:solidFill>
                  <a:srgbClr val="5B6B84"/>
                </a:solidFill>
                <a:latin typeface="Calibri" pitchFamily="34" charset="0"/>
                <a:ea typeface="Calibri" pitchFamily="34" charset="-122"/>
                <a:cs typeface="Calibri" pitchFamily="34" charset="-120"/>
              </a:rPr>
              <a:t>RESPONSIBLE AI</a:t>
            </a:r>
            <a:endParaRPr lang="en-US" sz="1000" dirty="0"/>
          </a:p>
        </p:txBody>
      </p:sp>
      <p:sp>
        <p:nvSpPr>
          <p:cNvPr id="7" name="Shape 5"/>
          <p:cNvSpPr/>
          <p:nvPr/>
        </p:nvSpPr>
        <p:spPr>
          <a:xfrm>
            <a:off x="11121847" y="1691640"/>
            <a:ext cx="566928" cy="4041648"/>
          </a:xfrm>
          <a:prstGeom prst="rect">
            <a:avLst/>
          </a:prstGeom>
          <a:solidFill>
            <a:srgbClr val="E2E8F2"/>
          </a:solidFill>
          <a:ln/>
        </p:spPr>
      </p:sp>
      <p:sp>
        <p:nvSpPr>
          <p:cNvPr id="8" name="Text 6"/>
          <p:cNvSpPr/>
          <p:nvPr/>
        </p:nvSpPr>
        <p:spPr>
          <a:xfrm rot="5400000">
            <a:off x="9384487" y="3575304"/>
            <a:ext cx="4041648" cy="274320"/>
          </a:xfrm>
          <a:prstGeom prst="rect">
            <a:avLst/>
          </a:prstGeom>
          <a:noFill/>
          <a:ln/>
        </p:spPr>
        <p:txBody>
          <a:bodyPr wrap="square" lIns="0" tIns="0" rIns="0" bIns="0" rtlCol="0" anchor="ctr"/>
          <a:lstStyle/>
          <a:p>
            <a:pPr algn="ctr" indent="0" marL="0">
              <a:buNone/>
            </a:pPr>
            <a:r>
              <a:rPr lang="en-US" sz="1000" b="1" spc="100" kern="0" dirty="0">
                <a:solidFill>
                  <a:srgbClr val="5B6B84"/>
                </a:solidFill>
                <a:latin typeface="Calibri" pitchFamily="34" charset="0"/>
                <a:ea typeface="Calibri" pitchFamily="34" charset="-122"/>
                <a:cs typeface="Calibri" pitchFamily="34" charset="-120"/>
              </a:rPr>
              <a:t>OBSERVABILITY</a:t>
            </a:r>
            <a:endParaRPr lang="en-US" sz="1000" dirty="0"/>
          </a:p>
        </p:txBody>
      </p:sp>
      <p:sp>
        <p:nvSpPr>
          <p:cNvPr id="9" name="Shape 7"/>
          <p:cNvSpPr/>
          <p:nvPr/>
        </p:nvSpPr>
        <p:spPr>
          <a:xfrm>
            <a:off x="1234440" y="1691640"/>
            <a:ext cx="9722815" cy="713232"/>
          </a:xfrm>
          <a:prstGeom prst="roundRect">
            <a:avLst>
              <a:gd name="adj" fmla="val 6410"/>
            </a:avLst>
          </a:prstGeom>
          <a:solidFill>
            <a:srgbClr val="E7F4EE"/>
          </a:solidFill>
          <a:ln w="15875">
            <a:solidFill>
              <a:srgbClr val="1F9D6B"/>
            </a:solidFill>
            <a:prstDash val="solid"/>
          </a:ln>
        </p:spPr>
      </p:sp>
      <p:pic>
        <p:nvPicPr>
          <p:cNvPr id="10" name="Image 0" descr="preencoded.png">    </p:cNvPr>
          <p:cNvPicPr>
            <a:picLocks noChangeAspect="1"/>
          </p:cNvPicPr>
          <p:nvPr/>
        </p:nvPicPr>
        <p:blipFill>
          <a:blip r:embed="rId1"/>
          <a:stretch>
            <a:fillRect/>
          </a:stretch>
        </p:blipFill>
        <p:spPr>
          <a:xfrm>
            <a:off x="5547208" y="1783080"/>
            <a:ext cx="219456" cy="219456"/>
          </a:xfrm>
          <a:prstGeom prst="rect">
            <a:avLst/>
          </a:prstGeom>
        </p:spPr>
      </p:pic>
      <p:sp>
        <p:nvSpPr>
          <p:cNvPr id="11" name="Text 8"/>
          <p:cNvSpPr/>
          <p:nvPr/>
        </p:nvSpPr>
        <p:spPr>
          <a:xfrm>
            <a:off x="1234440" y="2002536"/>
            <a:ext cx="9722815"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Playground &amp; Self-Service Console</a:t>
            </a:r>
            <a:endParaRPr lang="en-US" sz="1250" dirty="0"/>
          </a:p>
        </p:txBody>
      </p:sp>
      <p:sp>
        <p:nvSpPr>
          <p:cNvPr id="12" name="Text 9"/>
          <p:cNvSpPr/>
          <p:nvPr/>
        </p:nvSpPr>
        <p:spPr>
          <a:xfrm>
            <a:off x="1234440" y="2221992"/>
            <a:ext cx="9722815"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where domain teams compose and test agents</a:t>
            </a:r>
            <a:endParaRPr lang="en-US" sz="850" dirty="0"/>
          </a:p>
        </p:txBody>
      </p:sp>
      <p:sp>
        <p:nvSpPr>
          <p:cNvPr id="13" name="Shape 10"/>
          <p:cNvSpPr/>
          <p:nvPr/>
        </p:nvSpPr>
        <p:spPr>
          <a:xfrm>
            <a:off x="1234440" y="2523744"/>
            <a:ext cx="4779112" cy="713232"/>
          </a:xfrm>
          <a:prstGeom prst="roundRect">
            <a:avLst>
              <a:gd name="adj" fmla="val 6410"/>
            </a:avLst>
          </a:prstGeom>
          <a:solidFill>
            <a:srgbClr val="FBEFE0"/>
          </a:solidFill>
          <a:ln w="15875">
            <a:solidFill>
              <a:srgbClr val="E08A1E"/>
            </a:solidFill>
            <a:prstDash val="solid"/>
          </a:ln>
        </p:spPr>
      </p:sp>
      <p:pic>
        <p:nvPicPr>
          <p:cNvPr id="14" name="Image 1" descr="preencoded.png">    </p:cNvPr>
          <p:cNvPicPr>
            <a:picLocks noChangeAspect="1"/>
          </p:cNvPicPr>
          <p:nvPr/>
        </p:nvPicPr>
        <p:blipFill>
          <a:blip r:embed="rId2"/>
          <a:stretch>
            <a:fillRect/>
          </a:stretch>
        </p:blipFill>
        <p:spPr>
          <a:xfrm>
            <a:off x="3075356" y="2615184"/>
            <a:ext cx="219456" cy="219456"/>
          </a:xfrm>
          <a:prstGeom prst="rect">
            <a:avLst/>
          </a:prstGeom>
        </p:spPr>
      </p:pic>
      <p:sp>
        <p:nvSpPr>
          <p:cNvPr id="15" name="Text 11"/>
          <p:cNvSpPr/>
          <p:nvPr/>
        </p:nvSpPr>
        <p:spPr>
          <a:xfrm>
            <a:off x="1234440" y="2834640"/>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Model Gateway</a:t>
            </a:r>
            <a:endParaRPr lang="en-US" sz="1250" dirty="0"/>
          </a:p>
        </p:txBody>
      </p:sp>
      <p:sp>
        <p:nvSpPr>
          <p:cNvPr id="16" name="Text 12"/>
          <p:cNvSpPr/>
          <p:nvPr/>
        </p:nvSpPr>
        <p:spPr>
          <a:xfrm>
            <a:off x="1234440" y="3054096"/>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routing · auth · cost</a:t>
            </a:r>
            <a:endParaRPr lang="en-US" sz="850" dirty="0"/>
          </a:p>
        </p:txBody>
      </p:sp>
      <p:sp>
        <p:nvSpPr>
          <p:cNvPr id="17" name="Shape 13"/>
          <p:cNvSpPr/>
          <p:nvPr/>
        </p:nvSpPr>
        <p:spPr>
          <a:xfrm>
            <a:off x="6178144" y="2523744"/>
            <a:ext cx="4779112" cy="713232"/>
          </a:xfrm>
          <a:prstGeom prst="roundRect">
            <a:avLst>
              <a:gd name="adj" fmla="val 6410"/>
            </a:avLst>
          </a:prstGeom>
          <a:solidFill>
            <a:srgbClr val="FBEFE0"/>
          </a:solidFill>
          <a:ln w="15875">
            <a:solidFill>
              <a:srgbClr val="E08A1E"/>
            </a:solidFill>
            <a:prstDash val="solid"/>
          </a:ln>
        </p:spPr>
      </p:sp>
      <p:pic>
        <p:nvPicPr>
          <p:cNvPr id="18" name="Image 2" descr="preencoded.png">    </p:cNvPr>
          <p:cNvPicPr>
            <a:picLocks noChangeAspect="1"/>
          </p:cNvPicPr>
          <p:nvPr/>
        </p:nvPicPr>
        <p:blipFill>
          <a:blip r:embed="rId3"/>
          <a:stretch>
            <a:fillRect/>
          </a:stretch>
        </p:blipFill>
        <p:spPr>
          <a:xfrm>
            <a:off x="8019059" y="2615184"/>
            <a:ext cx="219456" cy="219456"/>
          </a:xfrm>
          <a:prstGeom prst="rect">
            <a:avLst/>
          </a:prstGeom>
        </p:spPr>
      </p:pic>
      <p:sp>
        <p:nvSpPr>
          <p:cNvPr id="19" name="Text 14"/>
          <p:cNvSpPr/>
          <p:nvPr/>
        </p:nvSpPr>
        <p:spPr>
          <a:xfrm>
            <a:off x="6178144" y="2834640"/>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Agent &amp; Tool Gateway</a:t>
            </a:r>
            <a:endParaRPr lang="en-US" sz="1250" dirty="0"/>
          </a:p>
        </p:txBody>
      </p:sp>
      <p:sp>
        <p:nvSpPr>
          <p:cNvPr id="20" name="Text 15"/>
          <p:cNvSpPr/>
          <p:nvPr/>
        </p:nvSpPr>
        <p:spPr>
          <a:xfrm>
            <a:off x="6178144" y="3054096"/>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MCP · A2A · 3P</a:t>
            </a:r>
            <a:endParaRPr lang="en-US" sz="850" dirty="0"/>
          </a:p>
        </p:txBody>
      </p:sp>
      <p:sp>
        <p:nvSpPr>
          <p:cNvPr id="21" name="Shape 16"/>
          <p:cNvSpPr/>
          <p:nvPr/>
        </p:nvSpPr>
        <p:spPr>
          <a:xfrm>
            <a:off x="1234440" y="3355848"/>
            <a:ext cx="4779112" cy="713232"/>
          </a:xfrm>
          <a:prstGeom prst="roundRect">
            <a:avLst>
              <a:gd name="adj" fmla="val 6410"/>
            </a:avLst>
          </a:prstGeom>
          <a:solidFill>
            <a:srgbClr val="FBEFE0"/>
          </a:solidFill>
          <a:ln w="15875">
            <a:solidFill>
              <a:srgbClr val="E08A1E"/>
            </a:solidFill>
            <a:prstDash val="solid"/>
          </a:ln>
        </p:spPr>
      </p:sp>
      <p:pic>
        <p:nvPicPr>
          <p:cNvPr id="22" name="Image 3" descr="preencoded.png">    </p:cNvPr>
          <p:cNvPicPr>
            <a:picLocks noChangeAspect="1"/>
          </p:cNvPicPr>
          <p:nvPr/>
        </p:nvPicPr>
        <p:blipFill>
          <a:blip r:embed="rId4"/>
          <a:stretch>
            <a:fillRect/>
          </a:stretch>
        </p:blipFill>
        <p:spPr>
          <a:xfrm>
            <a:off x="3075356" y="3447288"/>
            <a:ext cx="219456" cy="219456"/>
          </a:xfrm>
          <a:prstGeom prst="rect">
            <a:avLst/>
          </a:prstGeom>
        </p:spPr>
      </p:pic>
      <p:sp>
        <p:nvSpPr>
          <p:cNvPr id="23" name="Text 17"/>
          <p:cNvSpPr/>
          <p:nvPr/>
        </p:nvSpPr>
        <p:spPr>
          <a:xfrm>
            <a:off x="1234440" y="3666744"/>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Model Hub</a:t>
            </a:r>
            <a:endParaRPr lang="en-US" sz="1250" dirty="0"/>
          </a:p>
        </p:txBody>
      </p:sp>
      <p:sp>
        <p:nvSpPr>
          <p:cNvPr id="24" name="Text 18"/>
          <p:cNvSpPr/>
          <p:nvPr/>
        </p:nvSpPr>
        <p:spPr>
          <a:xfrm>
            <a:off x="1234440" y="3886200"/>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Bedrock · SageMaker</a:t>
            </a:r>
            <a:endParaRPr lang="en-US" sz="850" dirty="0"/>
          </a:p>
        </p:txBody>
      </p:sp>
      <p:sp>
        <p:nvSpPr>
          <p:cNvPr id="25" name="Shape 19"/>
          <p:cNvSpPr/>
          <p:nvPr/>
        </p:nvSpPr>
        <p:spPr>
          <a:xfrm>
            <a:off x="6178144" y="3355848"/>
            <a:ext cx="4779112" cy="713232"/>
          </a:xfrm>
          <a:prstGeom prst="roundRect">
            <a:avLst>
              <a:gd name="adj" fmla="val 6410"/>
            </a:avLst>
          </a:prstGeom>
          <a:solidFill>
            <a:srgbClr val="FBEFE0"/>
          </a:solidFill>
          <a:ln w="15875">
            <a:solidFill>
              <a:srgbClr val="E08A1E"/>
            </a:solidFill>
            <a:prstDash val="solid"/>
          </a:ln>
        </p:spPr>
      </p:sp>
      <p:pic>
        <p:nvPicPr>
          <p:cNvPr id="26" name="Image 4" descr="preencoded.png">    </p:cNvPr>
          <p:cNvPicPr>
            <a:picLocks noChangeAspect="1"/>
          </p:cNvPicPr>
          <p:nvPr/>
        </p:nvPicPr>
        <p:blipFill>
          <a:blip r:embed="rId5"/>
          <a:stretch>
            <a:fillRect/>
          </a:stretch>
        </p:blipFill>
        <p:spPr>
          <a:xfrm>
            <a:off x="8019059" y="3447288"/>
            <a:ext cx="219456" cy="219456"/>
          </a:xfrm>
          <a:prstGeom prst="rect">
            <a:avLst/>
          </a:prstGeom>
        </p:spPr>
      </p:pic>
      <p:sp>
        <p:nvSpPr>
          <p:cNvPr id="27" name="Text 20"/>
          <p:cNvSpPr/>
          <p:nvPr/>
        </p:nvSpPr>
        <p:spPr>
          <a:xfrm>
            <a:off x="6178144" y="3666744"/>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AI Registry</a:t>
            </a:r>
            <a:endParaRPr lang="en-US" sz="1250" dirty="0"/>
          </a:p>
        </p:txBody>
      </p:sp>
      <p:sp>
        <p:nvSpPr>
          <p:cNvPr id="28" name="Text 21"/>
          <p:cNvSpPr/>
          <p:nvPr/>
        </p:nvSpPr>
        <p:spPr>
          <a:xfrm>
            <a:off x="6178144" y="3886200"/>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agent · MCP · skill/tool</a:t>
            </a:r>
            <a:endParaRPr lang="en-US" sz="850" dirty="0"/>
          </a:p>
        </p:txBody>
      </p:sp>
      <p:sp>
        <p:nvSpPr>
          <p:cNvPr id="29" name="Shape 22"/>
          <p:cNvSpPr/>
          <p:nvPr/>
        </p:nvSpPr>
        <p:spPr>
          <a:xfrm>
            <a:off x="1234440" y="4187952"/>
            <a:ext cx="4779112" cy="713232"/>
          </a:xfrm>
          <a:prstGeom prst="roundRect">
            <a:avLst>
              <a:gd name="adj" fmla="val 6410"/>
            </a:avLst>
          </a:prstGeom>
          <a:solidFill>
            <a:srgbClr val="FBEFE0"/>
          </a:solidFill>
          <a:ln w="15875">
            <a:solidFill>
              <a:srgbClr val="E08A1E"/>
            </a:solidFill>
            <a:prstDash val="solid"/>
          </a:ln>
        </p:spPr>
      </p:sp>
      <p:pic>
        <p:nvPicPr>
          <p:cNvPr id="30" name="Image 5" descr="preencoded.png">    </p:cNvPr>
          <p:cNvPicPr>
            <a:picLocks noChangeAspect="1"/>
          </p:cNvPicPr>
          <p:nvPr/>
        </p:nvPicPr>
        <p:blipFill>
          <a:blip r:embed="rId6"/>
          <a:stretch>
            <a:fillRect/>
          </a:stretch>
        </p:blipFill>
        <p:spPr>
          <a:xfrm>
            <a:off x="3075356" y="4279392"/>
            <a:ext cx="219456" cy="219456"/>
          </a:xfrm>
          <a:prstGeom prst="rect">
            <a:avLst/>
          </a:prstGeom>
        </p:spPr>
      </p:pic>
      <p:sp>
        <p:nvSpPr>
          <p:cNvPr id="31" name="Text 23"/>
          <p:cNvSpPr/>
          <p:nvPr/>
        </p:nvSpPr>
        <p:spPr>
          <a:xfrm>
            <a:off x="1234440" y="4498848"/>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Model Hosting</a:t>
            </a:r>
            <a:endParaRPr lang="en-US" sz="1250" dirty="0"/>
          </a:p>
        </p:txBody>
      </p:sp>
      <p:sp>
        <p:nvSpPr>
          <p:cNvPr id="32" name="Text 24"/>
          <p:cNvSpPr/>
          <p:nvPr/>
        </p:nvSpPr>
        <p:spPr>
          <a:xfrm>
            <a:off x="1234440" y="4718304"/>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managed endpoints</a:t>
            </a:r>
            <a:endParaRPr lang="en-US" sz="850" dirty="0"/>
          </a:p>
        </p:txBody>
      </p:sp>
      <p:sp>
        <p:nvSpPr>
          <p:cNvPr id="33" name="Shape 25"/>
          <p:cNvSpPr/>
          <p:nvPr/>
        </p:nvSpPr>
        <p:spPr>
          <a:xfrm>
            <a:off x="6178144" y="4187952"/>
            <a:ext cx="4779112" cy="713232"/>
          </a:xfrm>
          <a:prstGeom prst="roundRect">
            <a:avLst>
              <a:gd name="adj" fmla="val 6410"/>
            </a:avLst>
          </a:prstGeom>
          <a:solidFill>
            <a:srgbClr val="E7F4EE"/>
          </a:solidFill>
          <a:ln w="15875">
            <a:solidFill>
              <a:srgbClr val="1F9D6B"/>
            </a:solidFill>
            <a:prstDash val="solid"/>
          </a:ln>
        </p:spPr>
      </p:sp>
      <p:pic>
        <p:nvPicPr>
          <p:cNvPr id="34" name="Image 6" descr="preencoded.png">    </p:cNvPr>
          <p:cNvPicPr>
            <a:picLocks noChangeAspect="1"/>
          </p:cNvPicPr>
          <p:nvPr/>
        </p:nvPicPr>
        <p:blipFill>
          <a:blip r:embed="rId7"/>
          <a:stretch>
            <a:fillRect/>
          </a:stretch>
        </p:blipFill>
        <p:spPr>
          <a:xfrm>
            <a:off x="8019059" y="4279392"/>
            <a:ext cx="219456" cy="219456"/>
          </a:xfrm>
          <a:prstGeom prst="rect">
            <a:avLst/>
          </a:prstGeom>
        </p:spPr>
      </p:pic>
      <p:sp>
        <p:nvSpPr>
          <p:cNvPr id="35" name="Text 26"/>
          <p:cNvSpPr/>
          <p:nvPr/>
        </p:nvSpPr>
        <p:spPr>
          <a:xfrm>
            <a:off x="6178144" y="4498848"/>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Agent &amp; Tool Runtime</a:t>
            </a:r>
            <a:endParaRPr lang="en-US" sz="1250" dirty="0"/>
          </a:p>
        </p:txBody>
      </p:sp>
      <p:sp>
        <p:nvSpPr>
          <p:cNvPr id="36" name="Text 27"/>
          <p:cNvSpPr/>
          <p:nvPr/>
        </p:nvSpPr>
        <p:spPr>
          <a:xfrm>
            <a:off x="6178144" y="4718304"/>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AgentCore · containers</a:t>
            </a:r>
            <a:endParaRPr lang="en-US" sz="850" dirty="0"/>
          </a:p>
        </p:txBody>
      </p:sp>
      <p:sp>
        <p:nvSpPr>
          <p:cNvPr id="37" name="Shape 28"/>
          <p:cNvSpPr/>
          <p:nvPr/>
        </p:nvSpPr>
        <p:spPr>
          <a:xfrm>
            <a:off x="1234440" y="5020056"/>
            <a:ext cx="4779112" cy="713232"/>
          </a:xfrm>
          <a:prstGeom prst="roundRect">
            <a:avLst>
              <a:gd name="adj" fmla="val 6410"/>
            </a:avLst>
          </a:prstGeom>
          <a:solidFill>
            <a:srgbClr val="E7F4EE"/>
          </a:solidFill>
          <a:ln w="15875">
            <a:solidFill>
              <a:srgbClr val="1F9D6B"/>
            </a:solidFill>
            <a:prstDash val="solid"/>
          </a:ln>
        </p:spPr>
      </p:sp>
      <p:pic>
        <p:nvPicPr>
          <p:cNvPr id="38" name="Image 7" descr="preencoded.png">    </p:cNvPr>
          <p:cNvPicPr>
            <a:picLocks noChangeAspect="1"/>
          </p:cNvPicPr>
          <p:nvPr/>
        </p:nvPicPr>
        <p:blipFill>
          <a:blip r:embed="rId8"/>
          <a:stretch>
            <a:fillRect/>
          </a:stretch>
        </p:blipFill>
        <p:spPr>
          <a:xfrm>
            <a:off x="3075356" y="5111496"/>
            <a:ext cx="219456" cy="219456"/>
          </a:xfrm>
          <a:prstGeom prst="rect">
            <a:avLst/>
          </a:prstGeom>
        </p:spPr>
      </p:pic>
      <p:sp>
        <p:nvSpPr>
          <p:cNvPr id="39" name="Text 29"/>
          <p:cNvSpPr/>
          <p:nvPr/>
        </p:nvSpPr>
        <p:spPr>
          <a:xfrm>
            <a:off x="1234440" y="5330952"/>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Enterprise Data</a:t>
            </a:r>
            <a:endParaRPr lang="en-US" sz="1250" dirty="0"/>
          </a:p>
        </p:txBody>
      </p:sp>
      <p:sp>
        <p:nvSpPr>
          <p:cNvPr id="40" name="Text 30"/>
          <p:cNvSpPr/>
          <p:nvPr/>
        </p:nvSpPr>
        <p:spPr>
          <a:xfrm>
            <a:off x="1234440" y="5550408"/>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datasets · vector · graph</a:t>
            </a:r>
            <a:endParaRPr lang="en-US" sz="850" dirty="0"/>
          </a:p>
        </p:txBody>
      </p:sp>
      <p:sp>
        <p:nvSpPr>
          <p:cNvPr id="41" name="Shape 31"/>
          <p:cNvSpPr/>
          <p:nvPr/>
        </p:nvSpPr>
        <p:spPr>
          <a:xfrm>
            <a:off x="6178144" y="5020056"/>
            <a:ext cx="4779112" cy="713232"/>
          </a:xfrm>
          <a:prstGeom prst="roundRect">
            <a:avLst>
              <a:gd name="adj" fmla="val 6410"/>
            </a:avLst>
          </a:prstGeom>
          <a:solidFill>
            <a:srgbClr val="E7F4EE"/>
          </a:solidFill>
          <a:ln w="15875">
            <a:solidFill>
              <a:srgbClr val="1F9D6B"/>
            </a:solidFill>
            <a:prstDash val="solid"/>
          </a:ln>
        </p:spPr>
      </p:sp>
      <p:pic>
        <p:nvPicPr>
          <p:cNvPr id="42" name="Image 8" descr="preencoded.png">    </p:cNvPr>
          <p:cNvPicPr>
            <a:picLocks noChangeAspect="1"/>
          </p:cNvPicPr>
          <p:nvPr/>
        </p:nvPicPr>
        <p:blipFill>
          <a:blip r:embed="rId9"/>
          <a:stretch>
            <a:fillRect/>
          </a:stretch>
        </p:blipFill>
        <p:spPr>
          <a:xfrm>
            <a:off x="8019059" y="5111496"/>
            <a:ext cx="219456" cy="219456"/>
          </a:xfrm>
          <a:prstGeom prst="rect">
            <a:avLst/>
          </a:prstGeom>
        </p:spPr>
      </p:pic>
      <p:sp>
        <p:nvSpPr>
          <p:cNvPr id="43" name="Text 32"/>
          <p:cNvSpPr/>
          <p:nvPr/>
        </p:nvSpPr>
        <p:spPr>
          <a:xfrm>
            <a:off x="6178144" y="5330952"/>
            <a:ext cx="4779112" cy="237744"/>
          </a:xfrm>
          <a:prstGeom prst="rect">
            <a:avLst/>
          </a:prstGeom>
          <a:noFill/>
          <a:ln/>
        </p:spPr>
        <p:txBody>
          <a:bodyPr wrap="square" lIns="0" tIns="0" rIns="0" bIns="0" rtlCol="0" anchor="ctr"/>
          <a:lstStyle/>
          <a:p>
            <a:pPr algn="ctr" indent="0" marL="0">
              <a:buNone/>
            </a:pPr>
            <a:r>
              <a:rPr lang="en-US" sz="1250" b="1" dirty="0">
                <a:solidFill>
                  <a:srgbClr val="1E2A44"/>
                </a:solidFill>
                <a:latin typeface="Calibri" pitchFamily="34" charset="0"/>
                <a:ea typeface="Calibri" pitchFamily="34" charset="-122"/>
                <a:cs typeface="Calibri" pitchFamily="34" charset="-120"/>
              </a:rPr>
              <a:t>Memory &amp; Context</a:t>
            </a:r>
            <a:endParaRPr lang="en-US" sz="1250" dirty="0"/>
          </a:p>
        </p:txBody>
      </p:sp>
      <p:sp>
        <p:nvSpPr>
          <p:cNvPr id="44" name="Text 33"/>
          <p:cNvSpPr/>
          <p:nvPr/>
        </p:nvSpPr>
        <p:spPr>
          <a:xfrm>
            <a:off x="6178144" y="5550408"/>
            <a:ext cx="4779112" cy="164592"/>
          </a:xfrm>
          <a:prstGeom prst="rect">
            <a:avLst/>
          </a:prstGeom>
          <a:noFill/>
          <a:ln/>
        </p:spPr>
        <p:txBody>
          <a:bodyPr wrap="square" lIns="0" tIns="0" rIns="0" bIns="0" rtlCol="0" anchor="ctr"/>
          <a:lstStyle/>
          <a:p>
            <a:pPr algn="ctr" indent="0" marL="0">
              <a:buNone/>
            </a:pPr>
            <a:r>
              <a:rPr lang="en-US" sz="850" dirty="0">
                <a:solidFill>
                  <a:srgbClr val="5B6B84"/>
                </a:solidFill>
                <a:latin typeface="Calibri" pitchFamily="34" charset="0"/>
                <a:ea typeface="Calibri" pitchFamily="34" charset="-122"/>
                <a:cs typeface="Calibri" pitchFamily="34" charset="-120"/>
              </a:rPr>
              <a:t>session · long-term</a:t>
            </a:r>
            <a:endParaRPr lang="en-US" sz="850" dirty="0"/>
          </a:p>
        </p:txBody>
      </p:sp>
      <p:sp>
        <p:nvSpPr>
          <p:cNvPr id="45" name="Shape 34"/>
          <p:cNvSpPr/>
          <p:nvPr/>
        </p:nvSpPr>
        <p:spPr>
          <a:xfrm>
            <a:off x="1234440" y="5852160"/>
            <a:ext cx="9722815" cy="384048"/>
          </a:xfrm>
          <a:prstGeom prst="rect">
            <a:avLst/>
          </a:prstGeom>
          <a:solidFill>
            <a:srgbClr val="E2E8F2"/>
          </a:solidFill>
          <a:ln/>
        </p:spPr>
      </p:sp>
      <p:sp>
        <p:nvSpPr>
          <p:cNvPr id="46" name="Text 35"/>
          <p:cNvSpPr/>
          <p:nvPr/>
        </p:nvSpPr>
        <p:spPr>
          <a:xfrm>
            <a:off x="1234440" y="5852160"/>
            <a:ext cx="9722815" cy="384048"/>
          </a:xfrm>
          <a:prstGeom prst="rect">
            <a:avLst/>
          </a:prstGeom>
          <a:noFill/>
          <a:ln/>
        </p:spPr>
        <p:txBody>
          <a:bodyPr wrap="square" lIns="0" tIns="0" rIns="0" bIns="0" rtlCol="0" anchor="ctr"/>
          <a:lstStyle/>
          <a:p>
            <a:pPr algn="ctr" indent="0" marL="0">
              <a:buNone/>
            </a:pPr>
            <a:r>
              <a:rPr lang="en-US" sz="950" b="1" dirty="0">
                <a:solidFill>
                  <a:srgbClr val="5B6B84"/>
                </a:solidFill>
                <a:latin typeface="Calibri" pitchFamily="34" charset="0"/>
                <a:ea typeface="Calibri" pitchFamily="34" charset="-122"/>
                <a:cs typeface="Calibri" pitchFamily="34" charset="-120"/>
              </a:rPr>
              <a:t>OPERATIONS  ·  Evaluation · Version control · Config · Automation · Cost tracking · Access control · Usage limits</a:t>
            </a:r>
            <a:endParaRPr lang="en-US" sz="950" dirty="0"/>
          </a:p>
        </p:txBody>
      </p:sp>
      <p:sp>
        <p:nvSpPr>
          <p:cNvPr id="47" name="Shape 36"/>
          <p:cNvSpPr/>
          <p:nvPr/>
        </p:nvSpPr>
        <p:spPr>
          <a:xfrm>
            <a:off x="3931920" y="6291072"/>
            <a:ext cx="146304" cy="146304"/>
          </a:xfrm>
          <a:prstGeom prst="rect">
            <a:avLst/>
          </a:prstGeom>
          <a:solidFill>
            <a:srgbClr val="E08A1E"/>
          </a:solidFill>
          <a:ln/>
        </p:spPr>
      </p:sp>
      <p:sp>
        <p:nvSpPr>
          <p:cNvPr id="48" name="Text 37"/>
          <p:cNvSpPr/>
          <p:nvPr/>
        </p:nvSpPr>
        <p:spPr>
          <a:xfrm>
            <a:off x="4133088" y="6254496"/>
            <a:ext cx="3017520" cy="219456"/>
          </a:xfrm>
          <a:prstGeom prst="rect">
            <a:avLst/>
          </a:prstGeom>
          <a:noFill/>
          <a:ln/>
        </p:spPr>
        <p:txBody>
          <a:bodyPr wrap="square" lIns="0" tIns="0" rIns="0" bIns="0" rtlCol="0" anchor="ctr"/>
          <a:lstStyle/>
          <a:p>
            <a:pPr indent="0" marL="0">
              <a:buNone/>
            </a:pPr>
            <a:r>
              <a:rPr lang="en-US" sz="1000" dirty="0">
                <a:solidFill>
                  <a:srgbClr val="5B6B84"/>
                </a:solidFill>
                <a:latin typeface="Calibri" pitchFamily="34" charset="0"/>
                <a:ea typeface="Calibri" pitchFamily="34" charset="-122"/>
                <a:cs typeface="Calibri" pitchFamily="34" charset="-120"/>
              </a:rPr>
              <a:t>Foundation Harness (platform team)</a:t>
            </a:r>
            <a:endParaRPr lang="en-US" sz="1000" dirty="0"/>
          </a:p>
        </p:txBody>
      </p:sp>
      <p:sp>
        <p:nvSpPr>
          <p:cNvPr id="49" name="Shape 38"/>
          <p:cNvSpPr/>
          <p:nvPr/>
        </p:nvSpPr>
        <p:spPr>
          <a:xfrm>
            <a:off x="7040880" y="6291072"/>
            <a:ext cx="146304" cy="146304"/>
          </a:xfrm>
          <a:prstGeom prst="rect">
            <a:avLst/>
          </a:prstGeom>
          <a:solidFill>
            <a:srgbClr val="1F9D6B"/>
          </a:solidFill>
          <a:ln/>
        </p:spPr>
      </p:sp>
      <p:sp>
        <p:nvSpPr>
          <p:cNvPr id="50" name="Text 39"/>
          <p:cNvSpPr/>
          <p:nvPr/>
        </p:nvSpPr>
        <p:spPr>
          <a:xfrm>
            <a:off x="7242048" y="6254496"/>
            <a:ext cx="3017520" cy="219456"/>
          </a:xfrm>
          <a:prstGeom prst="rect">
            <a:avLst/>
          </a:prstGeom>
          <a:noFill/>
          <a:ln/>
        </p:spPr>
        <p:txBody>
          <a:bodyPr wrap="square" lIns="0" tIns="0" rIns="0" bIns="0" rtlCol="0" anchor="ctr"/>
          <a:lstStyle/>
          <a:p>
            <a:pPr indent="0" marL="0">
              <a:buNone/>
            </a:pPr>
            <a:r>
              <a:rPr lang="en-US" sz="1000" dirty="0">
                <a:solidFill>
                  <a:srgbClr val="5B6B84"/>
                </a:solidFill>
                <a:latin typeface="Calibri" pitchFamily="34" charset="0"/>
                <a:ea typeface="Calibri" pitchFamily="34" charset="-122"/>
                <a:cs typeface="Calibri" pitchFamily="34" charset="-120"/>
              </a:rPr>
              <a:t>Domain Harness (domain teams)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502920"/>
            <a:ext cx="82296" cy="658368"/>
          </a:xfrm>
          <a:prstGeom prst="rect">
            <a:avLst/>
          </a:prstGeom>
          <a:solidFill>
            <a:srgbClr val="3B4CB8"/>
          </a:solidFill>
          <a:ln/>
        </p:spPr>
      </p:sp>
      <p:sp>
        <p:nvSpPr>
          <p:cNvPr id="3" name="Text 1"/>
          <p:cNvSpPr/>
          <p:nvPr/>
        </p:nvSpPr>
        <p:spPr>
          <a:xfrm>
            <a:off x="713232" y="457200"/>
            <a:ext cx="10972800" cy="685800"/>
          </a:xfrm>
          <a:prstGeom prst="rect">
            <a:avLst/>
          </a:prstGeom>
          <a:noFill/>
          <a:ln/>
        </p:spPr>
        <p:txBody>
          <a:bodyPr wrap="square" lIns="0" tIns="0" rIns="0" bIns="0" rtlCol="0" anchor="ctr"/>
          <a:lstStyle/>
          <a:p>
            <a:pPr indent="0" marL="0">
              <a:buNone/>
            </a:pPr>
            <a:r>
              <a:rPr lang="en-US" sz="3000" b="1" dirty="0">
                <a:solidFill>
                  <a:srgbClr val="1E2A44"/>
                </a:solidFill>
                <a:latin typeface="Georgia" pitchFamily="34" charset="0"/>
                <a:ea typeface="Georgia" pitchFamily="34" charset="-122"/>
                <a:cs typeface="Georgia" pitchFamily="34" charset="-120"/>
              </a:rPr>
              <a:t>Four stages of agentic AI maturity</a:t>
            </a:r>
            <a:endParaRPr lang="en-US" sz="3000" dirty="0"/>
          </a:p>
        </p:txBody>
      </p:sp>
      <p:sp>
        <p:nvSpPr>
          <p:cNvPr id="4" name="Text 2"/>
          <p:cNvSpPr/>
          <p:nvPr/>
        </p:nvSpPr>
        <p:spPr>
          <a:xfrm>
            <a:off x="731520" y="1170432"/>
            <a:ext cx="10972800" cy="274320"/>
          </a:xfrm>
          <a:prstGeom prst="rect">
            <a:avLst/>
          </a:prstGeom>
          <a:noFill/>
          <a:ln/>
        </p:spPr>
        <p:txBody>
          <a:bodyPr wrap="square" lIns="0" tIns="0" rIns="0" bIns="0" rtlCol="0" anchor="ctr"/>
          <a:lstStyle/>
          <a:p>
            <a:pPr indent="0" marL="0">
              <a:buNone/>
            </a:pPr>
            <a:r>
              <a:rPr lang="en-US" sz="1100" b="1" spc="200" kern="0" dirty="0">
                <a:solidFill>
                  <a:srgbClr val="3B4CB8"/>
                </a:solidFill>
                <a:latin typeface="Calibri" pitchFamily="34" charset="0"/>
                <a:ea typeface="Calibri" pitchFamily="34" charset="-122"/>
                <a:cs typeface="Calibri" pitchFamily="34" charset="-120"/>
              </a:rPr>
              <a:t>THE MATURITY ROADMAP · L1 → L4</a:t>
            </a:r>
            <a:endParaRPr lang="en-US" sz="1100" dirty="0"/>
          </a:p>
        </p:txBody>
      </p:sp>
      <p:sp>
        <p:nvSpPr>
          <p:cNvPr id="5" name="Text 3"/>
          <p:cNvSpPr/>
          <p:nvPr/>
        </p:nvSpPr>
        <p:spPr>
          <a:xfrm>
            <a:off x="182880" y="2377440"/>
            <a:ext cx="3840480" cy="1645920"/>
          </a:xfrm>
          <a:prstGeom prst="rect">
            <a:avLst/>
          </a:prstGeom>
          <a:noFill/>
          <a:ln/>
        </p:spPr>
        <p:txBody>
          <a:bodyPr wrap="square" lIns="0" tIns="0" rIns="0" bIns="0" rtlCol="0" anchor="ctr"/>
          <a:lstStyle/>
          <a:p>
            <a:pPr algn="ctr" indent="0" marL="0">
              <a:buNone/>
            </a:pPr>
            <a:r>
              <a:rPr lang="en-US" sz="9600" b="1" dirty="0">
                <a:solidFill>
                  <a:srgbClr val="E2E8F2"/>
                </a:solidFill>
                <a:latin typeface="Georgia" pitchFamily="34" charset="0"/>
                <a:ea typeface="Georgia" pitchFamily="34" charset="-122"/>
                <a:cs typeface="Georgia" pitchFamily="34" charset="-120"/>
              </a:rPr>
              <a:t>L1–L4</a:t>
            </a:r>
            <a:endParaRPr lang="en-US" sz="9600" dirty="0"/>
          </a:p>
        </p:txBody>
      </p:sp>
      <p:sp>
        <p:nvSpPr>
          <p:cNvPr id="6" name="Text 4"/>
          <p:cNvSpPr/>
          <p:nvPr/>
        </p:nvSpPr>
        <p:spPr>
          <a:xfrm>
            <a:off x="182880" y="4114800"/>
            <a:ext cx="3840480" cy="457200"/>
          </a:xfrm>
          <a:prstGeom prst="rect">
            <a:avLst/>
          </a:prstGeom>
          <a:noFill/>
          <a:ln/>
        </p:spPr>
        <p:txBody>
          <a:bodyPr wrap="square" lIns="0" tIns="0" rIns="0" bIns="0" rtlCol="0" anchor="ctr"/>
          <a:lstStyle/>
          <a:p>
            <a:pPr algn="ctr" indent="0" marL="0">
              <a:buNone/>
            </a:pPr>
            <a:r>
              <a:rPr lang="en-US" sz="1800" b="1" dirty="0">
                <a:solidFill>
                  <a:srgbClr val="3B4CB8"/>
                </a:solidFill>
                <a:latin typeface="Georgia" pitchFamily="34" charset="0"/>
                <a:ea typeface="Georgia" pitchFamily="34" charset="-122"/>
                <a:cs typeface="Georgia" pitchFamily="34" charset="-120"/>
              </a:rPr>
              <a:t>Strategic evolution</a:t>
            </a:r>
            <a:endParaRPr lang="en-US" sz="1800" dirty="0"/>
          </a:p>
        </p:txBody>
      </p:sp>
      <p:sp>
        <p:nvSpPr>
          <p:cNvPr id="7" name="Text 5"/>
          <p:cNvSpPr/>
          <p:nvPr/>
        </p:nvSpPr>
        <p:spPr>
          <a:xfrm>
            <a:off x="4160520" y="1600200"/>
            <a:ext cx="3657600" cy="365760"/>
          </a:xfrm>
          <a:prstGeom prst="rect">
            <a:avLst/>
          </a:prstGeom>
          <a:noFill/>
          <a:ln/>
        </p:spPr>
        <p:txBody>
          <a:bodyPr wrap="square" lIns="0" tIns="0" rIns="0" bIns="0" rtlCol="0" anchor="ctr"/>
          <a:lstStyle/>
          <a:p>
            <a:pPr indent="0" marL="0">
              <a:buNone/>
            </a:pPr>
            <a:r>
              <a:rPr lang="en-US" sz="1700" b="1" dirty="0">
                <a:solidFill>
                  <a:srgbClr val="E05260"/>
                </a:solidFill>
                <a:latin typeface="Georgia" pitchFamily="34" charset="0"/>
                <a:ea typeface="Georgia" pitchFamily="34" charset="-122"/>
                <a:cs typeface="Georgia" pitchFamily="34" charset="-120"/>
              </a:rPr>
              <a:t>L1: Ad Hoc Agents</a:t>
            </a:r>
            <a:endParaRPr lang="en-US" sz="1700" dirty="0"/>
          </a:p>
        </p:txBody>
      </p:sp>
      <p:sp>
        <p:nvSpPr>
          <p:cNvPr id="8" name="Shape 6"/>
          <p:cNvSpPr/>
          <p:nvPr/>
        </p:nvSpPr>
        <p:spPr>
          <a:xfrm>
            <a:off x="7498080" y="1655064"/>
            <a:ext cx="1737360" cy="274320"/>
          </a:xfrm>
          <a:prstGeom prst="roundRect">
            <a:avLst>
              <a:gd name="adj" fmla="val 46667"/>
            </a:avLst>
          </a:prstGeom>
          <a:solidFill>
            <a:srgbClr val="FBE9EB"/>
          </a:solidFill>
          <a:ln/>
        </p:spPr>
      </p:sp>
      <p:sp>
        <p:nvSpPr>
          <p:cNvPr id="9" name="Text 7"/>
          <p:cNvSpPr/>
          <p:nvPr/>
        </p:nvSpPr>
        <p:spPr>
          <a:xfrm>
            <a:off x="7498080" y="1655064"/>
            <a:ext cx="1737360" cy="274320"/>
          </a:xfrm>
          <a:prstGeom prst="rect">
            <a:avLst/>
          </a:prstGeom>
          <a:noFill/>
          <a:ln/>
        </p:spPr>
        <p:txBody>
          <a:bodyPr wrap="square" lIns="0" tIns="0" rIns="0" bIns="0" rtlCol="0" anchor="ctr"/>
          <a:lstStyle/>
          <a:p>
            <a:pPr algn="ctr" indent="0" marL="0">
              <a:buNone/>
            </a:pPr>
            <a:r>
              <a:rPr lang="en-US" sz="850" b="1" spc="100" kern="0" dirty="0">
                <a:solidFill>
                  <a:srgbClr val="E05260"/>
                </a:solidFill>
                <a:latin typeface="Calibri" pitchFamily="34" charset="0"/>
                <a:ea typeface="Calibri" pitchFamily="34" charset="-122"/>
                <a:cs typeface="Calibri" pitchFamily="34" charset="-120"/>
              </a:rPr>
              <a:t>BUILD AT ALL</a:t>
            </a:r>
            <a:endParaRPr lang="en-US" sz="850" dirty="0"/>
          </a:p>
        </p:txBody>
      </p:sp>
      <p:sp>
        <p:nvSpPr>
          <p:cNvPr id="10" name="Text 8"/>
          <p:cNvSpPr/>
          <p:nvPr/>
        </p:nvSpPr>
        <p:spPr>
          <a:xfrm>
            <a:off x="4160520" y="1984248"/>
            <a:ext cx="7528255" cy="274320"/>
          </a:xfrm>
          <a:prstGeom prst="rect">
            <a:avLst/>
          </a:prstGeom>
          <a:noFill/>
          <a:ln/>
        </p:spPr>
        <p:txBody>
          <a:bodyPr wrap="square" lIns="0" tIns="0" rIns="0" bIns="0" rtlCol="0" anchor="ctr"/>
          <a:lstStyle/>
          <a:p>
            <a:pPr indent="0" marL="0">
              <a:buNone/>
            </a:pPr>
            <a:r>
              <a:rPr lang="en-US" sz="1250" b="1" i="1" dirty="0">
                <a:solidFill>
                  <a:srgbClr val="1E2A44"/>
                </a:solidFill>
                <a:latin typeface="Calibri" pitchFamily="34" charset="0"/>
                <a:ea typeface="Calibri" pitchFamily="34" charset="-122"/>
                <a:cs typeface="Calibri" pitchFamily="34" charset="-120"/>
              </a:rPr>
              <a:t>“Can we build an agent at all?”</a:t>
            </a:r>
            <a:endParaRPr lang="en-US" sz="1250" dirty="0"/>
          </a:p>
        </p:txBody>
      </p:sp>
      <p:sp>
        <p:nvSpPr>
          <p:cNvPr id="11" name="Text 9"/>
          <p:cNvSpPr/>
          <p:nvPr/>
        </p:nvSpPr>
        <p:spPr>
          <a:xfrm>
            <a:off x="4160520" y="2258568"/>
            <a:ext cx="7528255" cy="384048"/>
          </a:xfrm>
          <a:prstGeom prst="rect">
            <a:avLst/>
          </a:prstGeom>
          <a:noFill/>
          <a:ln/>
        </p:spPr>
        <p:txBody>
          <a:bodyPr wrap="square" lIns="0" tIns="0" rIns="0" bIns="0" rtlCol="0" anchor="t"/>
          <a:lstStyle/>
          <a:p>
            <a:pPr indent="0" marL="0">
              <a:buNone/>
            </a:pPr>
            <a:r>
              <a:rPr lang="en-US" sz="1050" dirty="0">
                <a:solidFill>
                  <a:srgbClr val="5B6B84"/>
                </a:solidFill>
                <a:latin typeface="Calibri" pitchFamily="34" charset="0"/>
                <a:ea typeface="Calibri" pitchFamily="34" charset="-122"/>
                <a:cs typeface="Calibri" pitchFamily="34" charset="-120"/>
              </a:rPr>
              <a:t>Isolated pilots, local prompts, manual deployments. Proving feasibility without shared controls.</a:t>
            </a:r>
            <a:endParaRPr lang="en-US" sz="1050" dirty="0"/>
          </a:p>
        </p:txBody>
      </p:sp>
      <p:sp>
        <p:nvSpPr>
          <p:cNvPr id="12" name="Text 10"/>
          <p:cNvSpPr/>
          <p:nvPr/>
        </p:nvSpPr>
        <p:spPr>
          <a:xfrm>
            <a:off x="4160520" y="2715768"/>
            <a:ext cx="3657600" cy="365760"/>
          </a:xfrm>
          <a:prstGeom prst="rect">
            <a:avLst/>
          </a:prstGeom>
          <a:noFill/>
          <a:ln/>
        </p:spPr>
        <p:txBody>
          <a:bodyPr wrap="square" lIns="0" tIns="0" rIns="0" bIns="0" rtlCol="0" anchor="ctr"/>
          <a:lstStyle/>
          <a:p>
            <a:pPr indent="0" marL="0">
              <a:buNone/>
            </a:pPr>
            <a:r>
              <a:rPr lang="en-US" sz="1700" b="1" dirty="0">
                <a:solidFill>
                  <a:srgbClr val="E08A1E"/>
                </a:solidFill>
                <a:latin typeface="Georgia" pitchFamily="34" charset="0"/>
                <a:ea typeface="Georgia" pitchFamily="34" charset="-122"/>
                <a:cs typeface="Georgia" pitchFamily="34" charset="-120"/>
              </a:rPr>
              <a:t>L2: Platform Foundation</a:t>
            </a:r>
            <a:endParaRPr lang="en-US" sz="1700" dirty="0"/>
          </a:p>
        </p:txBody>
      </p:sp>
      <p:sp>
        <p:nvSpPr>
          <p:cNvPr id="13" name="Shape 11"/>
          <p:cNvSpPr/>
          <p:nvPr/>
        </p:nvSpPr>
        <p:spPr>
          <a:xfrm>
            <a:off x="7498080" y="2770632"/>
            <a:ext cx="1737360" cy="274320"/>
          </a:xfrm>
          <a:prstGeom prst="roundRect">
            <a:avLst>
              <a:gd name="adj" fmla="val 46667"/>
            </a:avLst>
          </a:prstGeom>
          <a:solidFill>
            <a:srgbClr val="FBF1E0"/>
          </a:solidFill>
          <a:ln/>
        </p:spPr>
      </p:sp>
      <p:sp>
        <p:nvSpPr>
          <p:cNvPr id="14" name="Text 12"/>
          <p:cNvSpPr/>
          <p:nvPr/>
        </p:nvSpPr>
        <p:spPr>
          <a:xfrm>
            <a:off x="7498080" y="2770632"/>
            <a:ext cx="1737360" cy="274320"/>
          </a:xfrm>
          <a:prstGeom prst="rect">
            <a:avLst/>
          </a:prstGeom>
          <a:noFill/>
          <a:ln/>
        </p:spPr>
        <p:txBody>
          <a:bodyPr wrap="square" lIns="0" tIns="0" rIns="0" bIns="0" rtlCol="0" anchor="ctr"/>
          <a:lstStyle/>
          <a:p>
            <a:pPr algn="ctr" indent="0" marL="0">
              <a:buNone/>
            </a:pPr>
            <a:r>
              <a:rPr lang="en-US" sz="850" b="1" spc="100" kern="0" dirty="0">
                <a:solidFill>
                  <a:srgbClr val="E08A1E"/>
                </a:solidFill>
                <a:latin typeface="Calibri" pitchFamily="34" charset="0"/>
                <a:ea typeface="Calibri" pitchFamily="34" charset="-122"/>
                <a:cs typeface="Calibri" pitchFamily="34" charset="-120"/>
              </a:rPr>
              <a:t>GOVERN CONSISTENTLY</a:t>
            </a:r>
            <a:endParaRPr lang="en-US" sz="850" dirty="0"/>
          </a:p>
        </p:txBody>
      </p:sp>
      <p:sp>
        <p:nvSpPr>
          <p:cNvPr id="15" name="Text 13"/>
          <p:cNvSpPr/>
          <p:nvPr/>
        </p:nvSpPr>
        <p:spPr>
          <a:xfrm>
            <a:off x="4160520" y="3099816"/>
            <a:ext cx="7528255" cy="274320"/>
          </a:xfrm>
          <a:prstGeom prst="rect">
            <a:avLst/>
          </a:prstGeom>
          <a:noFill/>
          <a:ln/>
        </p:spPr>
        <p:txBody>
          <a:bodyPr wrap="square" lIns="0" tIns="0" rIns="0" bIns="0" rtlCol="0" anchor="ctr"/>
          <a:lstStyle/>
          <a:p>
            <a:pPr indent="0" marL="0">
              <a:buNone/>
            </a:pPr>
            <a:r>
              <a:rPr lang="en-US" sz="1250" b="1" i="1" dirty="0">
                <a:solidFill>
                  <a:srgbClr val="1E2A44"/>
                </a:solidFill>
                <a:latin typeface="Calibri" pitchFamily="34" charset="0"/>
                <a:ea typeface="Calibri" pitchFamily="34" charset="-122"/>
                <a:cs typeface="Calibri" pitchFamily="34" charset="-120"/>
              </a:rPr>
              <a:t>“Can we govern agents consistently?”</a:t>
            </a:r>
            <a:endParaRPr lang="en-US" sz="1250" dirty="0"/>
          </a:p>
        </p:txBody>
      </p:sp>
      <p:sp>
        <p:nvSpPr>
          <p:cNvPr id="16" name="Text 14"/>
          <p:cNvSpPr/>
          <p:nvPr/>
        </p:nvSpPr>
        <p:spPr>
          <a:xfrm>
            <a:off x="4160520" y="3374136"/>
            <a:ext cx="7528255" cy="384048"/>
          </a:xfrm>
          <a:prstGeom prst="rect">
            <a:avLst/>
          </a:prstGeom>
          <a:noFill/>
          <a:ln/>
        </p:spPr>
        <p:txBody>
          <a:bodyPr wrap="square" lIns="0" tIns="0" rIns="0" bIns="0" rtlCol="0" anchor="t"/>
          <a:lstStyle/>
          <a:p>
            <a:pPr indent="0" marL="0">
              <a:buNone/>
            </a:pPr>
            <a:r>
              <a:rPr lang="en-US" sz="1050" dirty="0">
                <a:solidFill>
                  <a:srgbClr val="5B6B84"/>
                </a:solidFill>
                <a:latin typeface="Calibri" pitchFamily="34" charset="0"/>
                <a:ea typeface="Calibri" pitchFamily="34" charset="-122"/>
                <a:cs typeface="Calibri" pitchFamily="34" charset="-120"/>
              </a:rPr>
              <a:t>Centralised shared services, a unified AI Registry, basic audit logging. Platform team is still the primary operator.</a:t>
            </a:r>
            <a:endParaRPr lang="en-US" sz="1050" dirty="0"/>
          </a:p>
        </p:txBody>
      </p:sp>
      <p:sp>
        <p:nvSpPr>
          <p:cNvPr id="17" name="Text 15"/>
          <p:cNvSpPr/>
          <p:nvPr/>
        </p:nvSpPr>
        <p:spPr>
          <a:xfrm>
            <a:off x="4160520" y="3831336"/>
            <a:ext cx="3657600" cy="365760"/>
          </a:xfrm>
          <a:prstGeom prst="rect">
            <a:avLst/>
          </a:prstGeom>
          <a:noFill/>
          <a:ln/>
        </p:spPr>
        <p:txBody>
          <a:bodyPr wrap="square" lIns="0" tIns="0" rIns="0" bIns="0" rtlCol="0" anchor="ctr"/>
          <a:lstStyle/>
          <a:p>
            <a:pPr indent="0" marL="0">
              <a:buNone/>
            </a:pPr>
            <a:r>
              <a:rPr lang="en-US" sz="1700" b="1" dirty="0">
                <a:solidFill>
                  <a:srgbClr val="1F9D6B"/>
                </a:solidFill>
                <a:latin typeface="Georgia" pitchFamily="34" charset="0"/>
                <a:ea typeface="Georgia" pitchFamily="34" charset="-122"/>
                <a:cs typeface="Georgia" pitchFamily="34" charset="-120"/>
              </a:rPr>
              <a:t>L3: Self-Service Scale</a:t>
            </a:r>
            <a:endParaRPr lang="en-US" sz="1700" dirty="0"/>
          </a:p>
        </p:txBody>
      </p:sp>
      <p:sp>
        <p:nvSpPr>
          <p:cNvPr id="18" name="Shape 16"/>
          <p:cNvSpPr/>
          <p:nvPr/>
        </p:nvSpPr>
        <p:spPr>
          <a:xfrm>
            <a:off x="7498080" y="3886200"/>
            <a:ext cx="1737360" cy="274320"/>
          </a:xfrm>
          <a:prstGeom prst="roundRect">
            <a:avLst>
              <a:gd name="adj" fmla="val 46667"/>
            </a:avLst>
          </a:prstGeom>
          <a:solidFill>
            <a:srgbClr val="E7F4EE"/>
          </a:solidFill>
          <a:ln/>
        </p:spPr>
      </p:sp>
      <p:sp>
        <p:nvSpPr>
          <p:cNvPr id="19" name="Text 17"/>
          <p:cNvSpPr/>
          <p:nvPr/>
        </p:nvSpPr>
        <p:spPr>
          <a:xfrm>
            <a:off x="7498080" y="3886200"/>
            <a:ext cx="1737360" cy="274320"/>
          </a:xfrm>
          <a:prstGeom prst="rect">
            <a:avLst/>
          </a:prstGeom>
          <a:noFill/>
          <a:ln/>
        </p:spPr>
        <p:txBody>
          <a:bodyPr wrap="square" lIns="0" tIns="0" rIns="0" bIns="0" rtlCol="0" anchor="ctr"/>
          <a:lstStyle/>
          <a:p>
            <a:pPr algn="ctr" indent="0" marL="0">
              <a:buNone/>
            </a:pPr>
            <a:r>
              <a:rPr lang="en-US" sz="850" b="1" spc="100" kern="0" dirty="0">
                <a:solidFill>
                  <a:srgbClr val="1F9D6B"/>
                </a:solidFill>
                <a:latin typeface="Calibri" pitchFamily="34" charset="0"/>
                <a:ea typeface="Calibri" pitchFamily="34" charset="-122"/>
                <a:cs typeface="Calibri" pitchFamily="34" charset="-120"/>
              </a:rPr>
              <a:t>SCALE SAFELY</a:t>
            </a:r>
            <a:endParaRPr lang="en-US" sz="850" dirty="0"/>
          </a:p>
        </p:txBody>
      </p:sp>
      <p:sp>
        <p:nvSpPr>
          <p:cNvPr id="20" name="Text 18"/>
          <p:cNvSpPr/>
          <p:nvPr/>
        </p:nvSpPr>
        <p:spPr>
          <a:xfrm>
            <a:off x="4160520" y="4215384"/>
            <a:ext cx="7528255" cy="274320"/>
          </a:xfrm>
          <a:prstGeom prst="rect">
            <a:avLst/>
          </a:prstGeom>
          <a:noFill/>
          <a:ln/>
        </p:spPr>
        <p:txBody>
          <a:bodyPr wrap="square" lIns="0" tIns="0" rIns="0" bIns="0" rtlCol="0" anchor="ctr"/>
          <a:lstStyle/>
          <a:p>
            <a:pPr indent="0" marL="0">
              <a:buNone/>
            </a:pPr>
            <a:r>
              <a:rPr lang="en-US" sz="1250" b="1" i="1" dirty="0">
                <a:solidFill>
                  <a:srgbClr val="1E2A44"/>
                </a:solidFill>
                <a:latin typeface="Calibri" pitchFamily="34" charset="0"/>
                <a:ea typeface="Calibri" pitchFamily="34" charset="-122"/>
                <a:cs typeface="Calibri" pitchFamily="34" charset="-120"/>
              </a:rPr>
              <a:t>“Can many domain teams ship independently?”</a:t>
            </a:r>
            <a:endParaRPr lang="en-US" sz="1250" dirty="0"/>
          </a:p>
        </p:txBody>
      </p:sp>
      <p:sp>
        <p:nvSpPr>
          <p:cNvPr id="21" name="Text 19"/>
          <p:cNvSpPr/>
          <p:nvPr/>
        </p:nvSpPr>
        <p:spPr>
          <a:xfrm>
            <a:off x="4160520" y="4489704"/>
            <a:ext cx="7528255" cy="384048"/>
          </a:xfrm>
          <a:prstGeom prst="rect">
            <a:avLst/>
          </a:prstGeom>
          <a:noFill/>
          <a:ln/>
        </p:spPr>
        <p:txBody>
          <a:bodyPr wrap="square" lIns="0" tIns="0" rIns="0" bIns="0" rtlCol="0" anchor="t"/>
          <a:lstStyle/>
          <a:p>
            <a:pPr indent="0" marL="0">
              <a:buNone/>
            </a:pPr>
            <a:r>
              <a:rPr lang="en-US" sz="1050" dirty="0">
                <a:solidFill>
                  <a:srgbClr val="5B6B84"/>
                </a:solidFill>
                <a:latin typeface="Calibri" pitchFamily="34" charset="0"/>
                <a:ea typeface="Calibri" pitchFamily="34" charset="-122"/>
                <a:cs typeface="Calibri" pitchFamily="34" charset="-120"/>
              </a:rPr>
              <a:t>Complete control plane with blueprint-driven account vending. Federated teams own runtimes under central governance.</a:t>
            </a:r>
            <a:endParaRPr lang="en-US" sz="1050" dirty="0"/>
          </a:p>
        </p:txBody>
      </p:sp>
      <p:sp>
        <p:nvSpPr>
          <p:cNvPr id="22" name="Text 20"/>
          <p:cNvSpPr/>
          <p:nvPr/>
        </p:nvSpPr>
        <p:spPr>
          <a:xfrm>
            <a:off x="4160520" y="4946904"/>
            <a:ext cx="3657600" cy="365760"/>
          </a:xfrm>
          <a:prstGeom prst="rect">
            <a:avLst/>
          </a:prstGeom>
          <a:noFill/>
          <a:ln/>
        </p:spPr>
        <p:txBody>
          <a:bodyPr wrap="square" lIns="0" tIns="0" rIns="0" bIns="0" rtlCol="0" anchor="ctr"/>
          <a:lstStyle/>
          <a:p>
            <a:pPr indent="0" marL="0">
              <a:buNone/>
            </a:pPr>
            <a:r>
              <a:rPr lang="en-US" sz="1700" b="1" dirty="0">
                <a:solidFill>
                  <a:srgbClr val="6D4FD6"/>
                </a:solidFill>
                <a:latin typeface="Georgia" pitchFamily="34" charset="0"/>
                <a:ea typeface="Georgia" pitchFamily="34" charset="-122"/>
                <a:cs typeface="Georgia" pitchFamily="34" charset="-120"/>
              </a:rPr>
              <a:t>L4: Adaptive Platform</a:t>
            </a:r>
            <a:endParaRPr lang="en-US" sz="1700" dirty="0"/>
          </a:p>
        </p:txBody>
      </p:sp>
      <p:sp>
        <p:nvSpPr>
          <p:cNvPr id="23" name="Shape 21"/>
          <p:cNvSpPr/>
          <p:nvPr/>
        </p:nvSpPr>
        <p:spPr>
          <a:xfrm>
            <a:off x="7498080" y="5001768"/>
            <a:ext cx="1737360" cy="274320"/>
          </a:xfrm>
          <a:prstGeom prst="roundRect">
            <a:avLst>
              <a:gd name="adj" fmla="val 46667"/>
            </a:avLst>
          </a:prstGeom>
          <a:solidFill>
            <a:srgbClr val="EDE8FB"/>
          </a:solidFill>
          <a:ln/>
        </p:spPr>
      </p:sp>
      <p:sp>
        <p:nvSpPr>
          <p:cNvPr id="24" name="Text 22"/>
          <p:cNvSpPr/>
          <p:nvPr/>
        </p:nvSpPr>
        <p:spPr>
          <a:xfrm>
            <a:off x="7498080" y="5001768"/>
            <a:ext cx="1737360" cy="274320"/>
          </a:xfrm>
          <a:prstGeom prst="rect">
            <a:avLst/>
          </a:prstGeom>
          <a:noFill/>
          <a:ln/>
        </p:spPr>
        <p:txBody>
          <a:bodyPr wrap="square" lIns="0" tIns="0" rIns="0" bIns="0" rtlCol="0" anchor="ctr"/>
          <a:lstStyle/>
          <a:p>
            <a:pPr algn="ctr" indent="0" marL="0">
              <a:buNone/>
            </a:pPr>
            <a:r>
              <a:rPr lang="en-US" sz="850" b="1" spc="100" kern="0" dirty="0">
                <a:solidFill>
                  <a:srgbClr val="6D4FD6"/>
                </a:solidFill>
                <a:latin typeface="Calibri" pitchFamily="34" charset="0"/>
                <a:ea typeface="Calibri" pitchFamily="34" charset="-122"/>
                <a:cs typeface="Calibri" pitchFamily="34" charset="-120"/>
              </a:rPr>
              <a:t>SELF-OPTIMIZE</a:t>
            </a:r>
            <a:endParaRPr lang="en-US" sz="850" dirty="0"/>
          </a:p>
        </p:txBody>
      </p:sp>
      <p:sp>
        <p:nvSpPr>
          <p:cNvPr id="25" name="Text 23"/>
          <p:cNvSpPr/>
          <p:nvPr/>
        </p:nvSpPr>
        <p:spPr>
          <a:xfrm>
            <a:off x="4160520" y="5330952"/>
            <a:ext cx="7528255" cy="274320"/>
          </a:xfrm>
          <a:prstGeom prst="rect">
            <a:avLst/>
          </a:prstGeom>
          <a:noFill/>
          <a:ln/>
        </p:spPr>
        <p:txBody>
          <a:bodyPr wrap="square" lIns="0" tIns="0" rIns="0" bIns="0" rtlCol="0" anchor="ctr"/>
          <a:lstStyle/>
          <a:p>
            <a:pPr indent="0" marL="0">
              <a:buNone/>
            </a:pPr>
            <a:r>
              <a:rPr lang="en-US" sz="1250" b="1" i="1" dirty="0">
                <a:solidFill>
                  <a:srgbClr val="1E2A44"/>
                </a:solidFill>
                <a:latin typeface="Calibri" pitchFamily="34" charset="0"/>
                <a:ea typeface="Calibri" pitchFamily="34" charset="-122"/>
                <a:cs typeface="Calibri" pitchFamily="34" charset="-120"/>
              </a:rPr>
              <a:t>“Can the platform continuously optimize itself?”</a:t>
            </a:r>
            <a:endParaRPr lang="en-US" sz="1250" dirty="0"/>
          </a:p>
        </p:txBody>
      </p:sp>
      <p:sp>
        <p:nvSpPr>
          <p:cNvPr id="26" name="Text 24"/>
          <p:cNvSpPr/>
          <p:nvPr/>
        </p:nvSpPr>
        <p:spPr>
          <a:xfrm>
            <a:off x="4160520" y="5605272"/>
            <a:ext cx="7528255" cy="384048"/>
          </a:xfrm>
          <a:prstGeom prst="rect">
            <a:avLst/>
          </a:prstGeom>
          <a:noFill/>
          <a:ln/>
        </p:spPr>
        <p:txBody>
          <a:bodyPr wrap="square" lIns="0" tIns="0" rIns="0" bIns="0" rtlCol="0" anchor="t"/>
          <a:lstStyle/>
          <a:p>
            <a:pPr indent="0" marL="0">
              <a:buNone/>
            </a:pPr>
            <a:r>
              <a:rPr lang="en-US" sz="1050" dirty="0">
                <a:solidFill>
                  <a:srgbClr val="5B6B84"/>
                </a:solidFill>
                <a:latin typeface="Calibri" pitchFamily="34" charset="0"/>
                <a:ea typeface="Calibri" pitchFamily="34" charset="-122"/>
                <a:cs typeface="Calibri" pitchFamily="34" charset="-120"/>
              </a:rPr>
              <a:t>AI-assisted onboarding, auto-tuned evaluation, feedback-driven loops. The north-star for operational excellence.</a:t>
            </a:r>
            <a:endParaRPr lang="en-US" sz="1050" dirty="0"/>
          </a:p>
        </p:txBody>
      </p:sp>
      <p:sp>
        <p:nvSpPr>
          <p:cNvPr id="27" name="Text 25"/>
          <p:cNvSpPr/>
          <p:nvPr/>
        </p:nvSpPr>
        <p:spPr>
          <a:xfrm>
            <a:off x="502920" y="6492240"/>
            <a:ext cx="8229600" cy="256032"/>
          </a:xfrm>
          <a:prstGeom prst="rect">
            <a:avLst/>
          </a:prstGeom>
          <a:noFill/>
          <a:ln/>
        </p:spPr>
        <p:txBody>
          <a:bodyPr wrap="square" lIns="0" tIns="0" rIns="0" bIns="0" rtlCol="0" anchor="ctr"/>
          <a:lstStyle/>
          <a:p>
            <a:pPr indent="0" marL="0">
              <a:buNone/>
            </a:pPr>
            <a:r>
              <a:rPr lang="en-US" sz="800" dirty="0">
                <a:solidFill>
                  <a:srgbClr val="667891"/>
                </a:solidFill>
                <a:latin typeface="Calibri" pitchFamily="34" charset="0"/>
                <a:ea typeface="Calibri" pitchFamily="34" charset="-122"/>
                <a:cs typeface="Calibri" pitchFamily="34" charset="-120"/>
              </a:rPr>
              <a:t>Enterprise Agentic AI Platform</a:t>
            </a:r>
            <a:pPr indent="0" marL="0">
              <a:buNone/>
            </a:pPr>
            <a:r>
              <a:rPr lang="en-US" sz="800" dirty="0">
                <a:solidFill>
                  <a:srgbClr val="3B4CB8"/>
                </a:solidFill>
                <a:latin typeface="Calibri" pitchFamily="34" charset="0"/>
                <a:ea typeface="Calibri" pitchFamily="34" charset="-122"/>
                <a:cs typeface="Calibri" pitchFamily="34" charset="-120"/>
              </a:rPr>
              <a:t>   ·   How — maturity model</a:t>
            </a:r>
            <a:endParaRPr lang="en-US" sz="800" dirty="0"/>
          </a:p>
        </p:txBody>
      </p:sp>
      <p:sp>
        <p:nvSpPr>
          <p:cNvPr id="28" name="Text 26"/>
          <p:cNvSpPr/>
          <p:nvPr/>
        </p:nvSpPr>
        <p:spPr>
          <a:xfrm>
            <a:off x="11231575" y="6492240"/>
            <a:ext cx="457200" cy="256032"/>
          </a:xfrm>
          <a:prstGeom prst="rect">
            <a:avLst/>
          </a:prstGeom>
          <a:noFill/>
          <a:ln/>
        </p:spPr>
        <p:txBody>
          <a:bodyPr wrap="square" lIns="0" tIns="0" rIns="0" bIns="0" rtlCol="0" anchor="ctr"/>
          <a:lstStyle/>
          <a:p>
            <a:pPr algn="r" indent="0" marL="0">
              <a:buNone/>
            </a:pPr>
            <a:r>
              <a:rPr lang="en-US" sz="800" dirty="0">
                <a:solidFill>
                  <a:srgbClr val="667891"/>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502920"/>
            <a:ext cx="82296" cy="658368"/>
          </a:xfrm>
          <a:prstGeom prst="rect">
            <a:avLst/>
          </a:prstGeom>
          <a:solidFill>
            <a:srgbClr val="E08A1E"/>
          </a:solidFill>
          <a:ln/>
        </p:spPr>
      </p:sp>
      <p:sp>
        <p:nvSpPr>
          <p:cNvPr id="3" name="Text 1"/>
          <p:cNvSpPr/>
          <p:nvPr/>
        </p:nvSpPr>
        <p:spPr>
          <a:xfrm>
            <a:off x="713232" y="457200"/>
            <a:ext cx="10972800" cy="685800"/>
          </a:xfrm>
          <a:prstGeom prst="rect">
            <a:avLst/>
          </a:prstGeom>
          <a:noFill/>
          <a:ln/>
        </p:spPr>
        <p:txBody>
          <a:bodyPr wrap="square" lIns="0" tIns="0" rIns="0" bIns="0" rtlCol="0" anchor="ctr"/>
          <a:lstStyle/>
          <a:p>
            <a:pPr indent="0" marL="0">
              <a:buNone/>
            </a:pPr>
            <a:r>
              <a:rPr lang="en-US" sz="3000" b="1" dirty="0">
                <a:solidFill>
                  <a:srgbClr val="1E2A44"/>
                </a:solidFill>
                <a:latin typeface="Georgia" pitchFamily="34" charset="0"/>
                <a:ea typeface="Georgia" pitchFamily="34" charset="-122"/>
                <a:cs typeface="Georgia" pitchFamily="34" charset="-120"/>
              </a:rPr>
              <a:t>L1 → L2: standardizing the foundation</a:t>
            </a:r>
            <a:endParaRPr lang="en-US" sz="3000" dirty="0"/>
          </a:p>
        </p:txBody>
      </p:sp>
      <p:sp>
        <p:nvSpPr>
          <p:cNvPr id="4" name="Text 2"/>
          <p:cNvSpPr/>
          <p:nvPr/>
        </p:nvSpPr>
        <p:spPr>
          <a:xfrm>
            <a:off x="731520" y="1170432"/>
            <a:ext cx="10972800" cy="274320"/>
          </a:xfrm>
          <a:prstGeom prst="rect">
            <a:avLst/>
          </a:prstGeom>
          <a:noFill/>
          <a:ln/>
        </p:spPr>
        <p:txBody>
          <a:bodyPr wrap="square" lIns="0" tIns="0" rIns="0" bIns="0" rtlCol="0" anchor="ctr"/>
          <a:lstStyle/>
          <a:p>
            <a:pPr indent="0" marL="0">
              <a:buNone/>
            </a:pPr>
            <a:r>
              <a:rPr lang="en-US" sz="1100" b="1" spc="200" kern="0" dirty="0">
                <a:solidFill>
                  <a:srgbClr val="E08A1E"/>
                </a:solidFill>
                <a:latin typeface="Calibri" pitchFamily="34" charset="0"/>
                <a:ea typeface="Calibri" pitchFamily="34" charset="-122"/>
                <a:cs typeface="Calibri" pitchFamily="34" charset="-120"/>
              </a:rPr>
              <a:t>MATURITY ROADMAP · PHASE 2 TRANSITION</a:t>
            </a:r>
            <a:endParaRPr lang="en-US" sz="1100" dirty="0"/>
          </a:p>
        </p:txBody>
      </p:sp>
      <p:sp>
        <p:nvSpPr>
          <p:cNvPr id="5" name="Shape 3"/>
          <p:cNvSpPr/>
          <p:nvPr/>
        </p:nvSpPr>
        <p:spPr>
          <a:xfrm>
            <a:off x="502920" y="1691640"/>
            <a:ext cx="5212080" cy="4160520"/>
          </a:xfrm>
          <a:prstGeom prst="rect">
            <a:avLst/>
          </a:prstGeom>
          <a:solidFill>
            <a:srgbClr val="FBE9EB"/>
          </a:solidFill>
          <a:ln w="15875">
            <a:solidFill>
              <a:srgbClr val="E05260"/>
            </a:solidFill>
            <a:prstDash val="solid"/>
          </a:ln>
        </p:spPr>
      </p:sp>
      <p:sp>
        <p:nvSpPr>
          <p:cNvPr id="6" name="Text 4"/>
          <p:cNvSpPr/>
          <p:nvPr/>
        </p:nvSpPr>
        <p:spPr>
          <a:xfrm>
            <a:off x="777240" y="1947672"/>
            <a:ext cx="4663440" cy="320040"/>
          </a:xfrm>
          <a:prstGeom prst="rect">
            <a:avLst/>
          </a:prstGeom>
          <a:noFill/>
          <a:ln/>
        </p:spPr>
        <p:txBody>
          <a:bodyPr wrap="square" lIns="0" tIns="0" rIns="0" bIns="0" rtlCol="0" anchor="ctr"/>
          <a:lstStyle/>
          <a:p>
            <a:pPr indent="0" marL="0">
              <a:buNone/>
            </a:pPr>
            <a:r>
              <a:rPr lang="en-US" sz="1300" b="1" spc="100" kern="0" dirty="0">
                <a:solidFill>
                  <a:srgbClr val="E05260"/>
                </a:solidFill>
                <a:latin typeface="Calibri" pitchFamily="34" charset="0"/>
                <a:ea typeface="Calibri" pitchFamily="34" charset="-122"/>
                <a:cs typeface="Calibri" pitchFamily="34" charset="-120"/>
              </a:rPr>
              <a:t>LEVEL 1 · AD-HOC SYMPTOMS</a:t>
            </a:r>
            <a:endParaRPr lang="en-US" sz="1300" dirty="0"/>
          </a:p>
        </p:txBody>
      </p:sp>
      <p:sp>
        <p:nvSpPr>
          <p:cNvPr id="7" name="Text 5"/>
          <p:cNvSpPr/>
          <p:nvPr/>
        </p:nvSpPr>
        <p:spPr>
          <a:xfrm>
            <a:off x="777240" y="2560320"/>
            <a:ext cx="320040" cy="365760"/>
          </a:xfrm>
          <a:prstGeom prst="rect">
            <a:avLst/>
          </a:prstGeom>
          <a:noFill/>
          <a:ln/>
        </p:spPr>
        <p:txBody>
          <a:bodyPr wrap="square" lIns="0" tIns="0" rIns="0" bIns="0" rtlCol="0" anchor="ctr"/>
          <a:lstStyle/>
          <a:p>
            <a:pPr indent="0" marL="0">
              <a:buNone/>
            </a:pPr>
            <a:r>
              <a:rPr lang="en-US" sz="1500" b="1" dirty="0">
                <a:solidFill>
                  <a:srgbClr val="E05260"/>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1143000" y="2560320"/>
            <a:ext cx="3840480" cy="502920"/>
          </a:xfrm>
          <a:prstGeom prst="rect">
            <a:avLst/>
          </a:prstGeom>
          <a:noFill/>
          <a:ln/>
        </p:spPr>
        <p:txBody>
          <a:bodyPr wrap="square" lIns="0" tIns="0" rIns="0" bIns="0" rtlCol="0" anchor="ctr"/>
          <a:lstStyle/>
          <a:p>
            <a:pPr indent="0" marL="0">
              <a:buNone/>
            </a:pPr>
            <a:r>
              <a:rPr lang="en-US" sz="1250" dirty="0">
                <a:solidFill>
                  <a:srgbClr val="1E2A44"/>
                </a:solidFill>
                <a:latin typeface="Calibri" pitchFamily="34" charset="0"/>
                <a:ea typeface="Calibri" pitchFamily="34" charset="-122"/>
                <a:cs typeface="Calibri" pitchFamily="34" charset="-120"/>
              </a:rPr>
              <a:t>Isolated pilots with local prompt management and custom code</a:t>
            </a:r>
            <a:endParaRPr lang="en-US" sz="1250" dirty="0"/>
          </a:p>
        </p:txBody>
      </p:sp>
      <p:sp>
        <p:nvSpPr>
          <p:cNvPr id="9" name="Text 7"/>
          <p:cNvSpPr/>
          <p:nvPr/>
        </p:nvSpPr>
        <p:spPr>
          <a:xfrm>
            <a:off x="777240" y="3218688"/>
            <a:ext cx="320040" cy="365760"/>
          </a:xfrm>
          <a:prstGeom prst="rect">
            <a:avLst/>
          </a:prstGeom>
          <a:noFill/>
          <a:ln/>
        </p:spPr>
        <p:txBody>
          <a:bodyPr wrap="square" lIns="0" tIns="0" rIns="0" bIns="0" rtlCol="0" anchor="ctr"/>
          <a:lstStyle/>
          <a:p>
            <a:pPr indent="0" marL="0">
              <a:buNone/>
            </a:pPr>
            <a:r>
              <a:rPr lang="en-US" sz="1500" b="1" dirty="0">
                <a:solidFill>
                  <a:srgbClr val="E05260"/>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1143000" y="3218688"/>
            <a:ext cx="3840480" cy="502920"/>
          </a:xfrm>
          <a:prstGeom prst="rect">
            <a:avLst/>
          </a:prstGeom>
          <a:noFill/>
          <a:ln/>
        </p:spPr>
        <p:txBody>
          <a:bodyPr wrap="square" lIns="0" tIns="0" rIns="0" bIns="0" rtlCol="0" anchor="ctr"/>
          <a:lstStyle/>
          <a:p>
            <a:pPr indent="0" marL="0">
              <a:buNone/>
            </a:pPr>
            <a:r>
              <a:rPr lang="en-US" sz="1250" dirty="0">
                <a:solidFill>
                  <a:srgbClr val="1E2A44"/>
                </a:solidFill>
                <a:latin typeface="Calibri" pitchFamily="34" charset="0"/>
                <a:ea typeface="Calibri" pitchFamily="34" charset="-122"/>
                <a:cs typeface="Calibri" pitchFamily="34" charset="-120"/>
              </a:rPr>
              <a:t>Inconsistent security; secrets often embedded in code / notebooks</a:t>
            </a:r>
            <a:endParaRPr lang="en-US" sz="1250" dirty="0"/>
          </a:p>
        </p:txBody>
      </p:sp>
      <p:sp>
        <p:nvSpPr>
          <p:cNvPr id="11" name="Text 9"/>
          <p:cNvSpPr/>
          <p:nvPr/>
        </p:nvSpPr>
        <p:spPr>
          <a:xfrm>
            <a:off x="777240" y="3877056"/>
            <a:ext cx="320040" cy="365760"/>
          </a:xfrm>
          <a:prstGeom prst="rect">
            <a:avLst/>
          </a:prstGeom>
          <a:noFill/>
          <a:ln/>
        </p:spPr>
        <p:txBody>
          <a:bodyPr wrap="square" lIns="0" tIns="0" rIns="0" bIns="0" rtlCol="0" anchor="ctr"/>
          <a:lstStyle/>
          <a:p>
            <a:pPr indent="0" marL="0">
              <a:buNone/>
            </a:pPr>
            <a:r>
              <a:rPr lang="en-US" sz="1500" b="1" dirty="0">
                <a:solidFill>
                  <a:srgbClr val="E05260"/>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143000" y="3877056"/>
            <a:ext cx="3840480" cy="502920"/>
          </a:xfrm>
          <a:prstGeom prst="rect">
            <a:avLst/>
          </a:prstGeom>
          <a:noFill/>
          <a:ln/>
        </p:spPr>
        <p:txBody>
          <a:bodyPr wrap="square" lIns="0" tIns="0" rIns="0" bIns="0" rtlCol="0" anchor="ctr"/>
          <a:lstStyle/>
          <a:p>
            <a:pPr indent="0" marL="0">
              <a:buNone/>
            </a:pPr>
            <a:r>
              <a:rPr lang="en-US" sz="1250" dirty="0">
                <a:solidFill>
                  <a:srgbClr val="1E2A44"/>
                </a:solidFill>
                <a:latin typeface="Calibri" pitchFamily="34" charset="0"/>
                <a:ea typeface="Calibri" pitchFamily="34" charset="-122"/>
                <a:cs typeface="Calibri" pitchFamily="34" charset="-120"/>
              </a:rPr>
              <a:t>Direct model calls without a shared gateway or routing control</a:t>
            </a:r>
            <a:endParaRPr lang="en-US" sz="1250" dirty="0"/>
          </a:p>
        </p:txBody>
      </p:sp>
      <p:sp>
        <p:nvSpPr>
          <p:cNvPr id="13" name="Text 11"/>
          <p:cNvSpPr/>
          <p:nvPr/>
        </p:nvSpPr>
        <p:spPr>
          <a:xfrm>
            <a:off x="777240" y="4535424"/>
            <a:ext cx="320040" cy="365760"/>
          </a:xfrm>
          <a:prstGeom prst="rect">
            <a:avLst/>
          </a:prstGeom>
          <a:noFill/>
          <a:ln/>
        </p:spPr>
        <p:txBody>
          <a:bodyPr wrap="square" lIns="0" tIns="0" rIns="0" bIns="0" rtlCol="0" anchor="ctr"/>
          <a:lstStyle/>
          <a:p>
            <a:pPr indent="0" marL="0">
              <a:buNone/>
            </a:pPr>
            <a:r>
              <a:rPr lang="en-US" sz="1500" b="1" dirty="0">
                <a:solidFill>
                  <a:srgbClr val="E05260"/>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1143000" y="4535424"/>
            <a:ext cx="3840480" cy="502920"/>
          </a:xfrm>
          <a:prstGeom prst="rect">
            <a:avLst/>
          </a:prstGeom>
          <a:noFill/>
          <a:ln/>
        </p:spPr>
        <p:txBody>
          <a:bodyPr wrap="square" lIns="0" tIns="0" rIns="0" bIns="0" rtlCol="0" anchor="ctr"/>
          <a:lstStyle/>
          <a:p>
            <a:pPr indent="0" marL="0">
              <a:buNone/>
            </a:pPr>
            <a:r>
              <a:rPr lang="en-US" sz="1250" dirty="0">
                <a:solidFill>
                  <a:srgbClr val="1E2A44"/>
                </a:solidFill>
                <a:latin typeface="Calibri" pitchFamily="34" charset="0"/>
                <a:ea typeface="Calibri" pitchFamily="34" charset="-122"/>
                <a:cs typeface="Calibri" pitchFamily="34" charset="-120"/>
              </a:rPr>
              <a:t>Unsanctioned channels; one account per team; no shared registry</a:t>
            </a:r>
            <a:endParaRPr lang="en-US" sz="1250" dirty="0"/>
          </a:p>
        </p:txBody>
      </p:sp>
      <p:sp>
        <p:nvSpPr>
          <p:cNvPr id="15" name="Text 13"/>
          <p:cNvSpPr/>
          <p:nvPr/>
        </p:nvSpPr>
        <p:spPr>
          <a:xfrm>
            <a:off x="777240" y="5349240"/>
            <a:ext cx="4663440" cy="320040"/>
          </a:xfrm>
          <a:prstGeom prst="rect">
            <a:avLst/>
          </a:prstGeom>
          <a:noFill/>
          <a:ln/>
        </p:spPr>
        <p:txBody>
          <a:bodyPr wrap="square" lIns="0" tIns="0" rIns="0" bIns="0" rtlCol="0" anchor="ctr"/>
          <a:lstStyle/>
          <a:p>
            <a:pPr indent="0" marL="0">
              <a:buNone/>
            </a:pPr>
            <a:r>
              <a:rPr lang="en-US" sz="1050" i="1" dirty="0">
                <a:solidFill>
                  <a:srgbClr val="5B6B84"/>
                </a:solidFill>
                <a:latin typeface="Calibri" pitchFamily="34" charset="0"/>
                <a:ea typeface="Calibri" pitchFamily="34" charset="-122"/>
                <a:cs typeface="Calibri" pitchFamily="34" charset="-120"/>
              </a:rPr>
              <a:t>Current topology: fragmented, ungoverned.</a:t>
            </a:r>
            <a:endParaRPr lang="en-US" sz="1050" dirty="0"/>
          </a:p>
        </p:txBody>
      </p:sp>
      <p:sp>
        <p:nvSpPr>
          <p:cNvPr id="16" name="Text 14"/>
          <p:cNvSpPr/>
          <p:nvPr/>
        </p:nvSpPr>
        <p:spPr>
          <a:xfrm>
            <a:off x="5715000" y="3406140"/>
            <a:ext cx="502920" cy="731520"/>
          </a:xfrm>
          <a:prstGeom prst="rect">
            <a:avLst/>
          </a:prstGeom>
          <a:noFill/>
          <a:ln/>
        </p:spPr>
        <p:txBody>
          <a:bodyPr wrap="square" lIns="0" tIns="0" rIns="0" bIns="0" rtlCol="0" anchor="ctr"/>
          <a:lstStyle/>
          <a:p>
            <a:pPr algn="ctr" indent="0" marL="0">
              <a:buNone/>
            </a:pPr>
            <a:r>
              <a:rPr lang="en-US" sz="3000" b="1" dirty="0">
                <a:solidFill>
                  <a:srgbClr val="E08A1E"/>
                </a:solidFill>
              </a:rPr>
              <a:t>→</a:t>
            </a:r>
            <a:endParaRPr lang="en-US" sz="3000" dirty="0"/>
          </a:p>
        </p:txBody>
      </p:sp>
      <p:sp>
        <p:nvSpPr>
          <p:cNvPr id="17" name="Shape 15"/>
          <p:cNvSpPr/>
          <p:nvPr/>
        </p:nvSpPr>
        <p:spPr>
          <a:xfrm>
            <a:off x="6217920" y="1691640"/>
            <a:ext cx="5212080" cy="4160520"/>
          </a:xfrm>
          <a:prstGeom prst="rect">
            <a:avLst/>
          </a:prstGeom>
          <a:solidFill>
            <a:srgbClr val="FBF1E0"/>
          </a:solidFill>
          <a:ln w="15875">
            <a:solidFill>
              <a:srgbClr val="E08A1E"/>
            </a:solidFill>
            <a:prstDash val="solid"/>
          </a:ln>
        </p:spPr>
      </p:sp>
      <p:sp>
        <p:nvSpPr>
          <p:cNvPr id="18" name="Text 16"/>
          <p:cNvSpPr/>
          <p:nvPr/>
        </p:nvSpPr>
        <p:spPr>
          <a:xfrm>
            <a:off x="6492240" y="1947672"/>
            <a:ext cx="4663440" cy="320040"/>
          </a:xfrm>
          <a:prstGeom prst="rect">
            <a:avLst/>
          </a:prstGeom>
          <a:noFill/>
          <a:ln/>
        </p:spPr>
        <p:txBody>
          <a:bodyPr wrap="square" lIns="0" tIns="0" rIns="0" bIns="0" rtlCol="0" anchor="ctr"/>
          <a:lstStyle/>
          <a:p>
            <a:pPr indent="0" marL="0">
              <a:buNone/>
            </a:pPr>
            <a:r>
              <a:rPr lang="en-US" sz="1300" b="1" spc="100" kern="0" dirty="0">
                <a:solidFill>
                  <a:srgbClr val="E08A1E"/>
                </a:solidFill>
                <a:latin typeface="Calibri" pitchFamily="34" charset="0"/>
                <a:ea typeface="Calibri" pitchFamily="34" charset="-122"/>
                <a:cs typeface="Calibri" pitchFamily="34" charset="-120"/>
              </a:rPr>
              <a:t>LEVEL 2 · PLATFORM FOUNDATION</a:t>
            </a:r>
            <a:endParaRPr lang="en-US" sz="1300" dirty="0"/>
          </a:p>
        </p:txBody>
      </p:sp>
      <p:pic>
        <p:nvPicPr>
          <p:cNvPr id="19" name="Image 0" descr="preencoded.png">    </p:cNvPr>
          <p:cNvPicPr>
            <a:picLocks noChangeAspect="1"/>
          </p:cNvPicPr>
          <p:nvPr/>
        </p:nvPicPr>
        <p:blipFill>
          <a:blip r:embed="rId1"/>
          <a:stretch>
            <a:fillRect/>
          </a:stretch>
        </p:blipFill>
        <p:spPr>
          <a:xfrm>
            <a:off x="6492240" y="2606040"/>
            <a:ext cx="256032" cy="256032"/>
          </a:xfrm>
          <a:prstGeom prst="rect">
            <a:avLst/>
          </a:prstGeom>
        </p:spPr>
      </p:pic>
      <p:sp>
        <p:nvSpPr>
          <p:cNvPr id="20" name="Text 17"/>
          <p:cNvSpPr/>
          <p:nvPr/>
        </p:nvSpPr>
        <p:spPr>
          <a:xfrm>
            <a:off x="6858000" y="2560320"/>
            <a:ext cx="4297680" cy="640080"/>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Unified AI Registry  </a:t>
            </a:r>
            <a:pPr indent="0" marL="0">
              <a:buNone/>
            </a:pPr>
            <a:r>
              <a:rPr lang="en-US" sz="1200" dirty="0">
                <a:solidFill>
                  <a:srgbClr val="5B6B84"/>
                </a:solidFill>
                <a:latin typeface="Calibri" pitchFamily="34" charset="0"/>
                <a:ea typeface="Calibri" pitchFamily="34" charset="-122"/>
                <a:cs typeface="Calibri" pitchFamily="34" charset="-120"/>
              </a:rPr>
              <a:t>discovery for agents, MCP servers, skills and tools</a:t>
            </a:r>
            <a:endParaRPr lang="en-US" sz="1200" dirty="0"/>
          </a:p>
        </p:txBody>
      </p:sp>
      <p:pic>
        <p:nvPicPr>
          <p:cNvPr id="21" name="Image 1" descr="preencoded.png">    </p:cNvPr>
          <p:cNvPicPr>
            <a:picLocks noChangeAspect="1"/>
          </p:cNvPicPr>
          <p:nvPr/>
        </p:nvPicPr>
        <p:blipFill>
          <a:blip r:embed="rId2"/>
          <a:stretch>
            <a:fillRect/>
          </a:stretch>
        </p:blipFill>
        <p:spPr>
          <a:xfrm>
            <a:off x="6492240" y="3355848"/>
            <a:ext cx="256032" cy="256032"/>
          </a:xfrm>
          <a:prstGeom prst="rect">
            <a:avLst/>
          </a:prstGeom>
        </p:spPr>
      </p:pic>
      <p:sp>
        <p:nvSpPr>
          <p:cNvPr id="22" name="Text 18"/>
          <p:cNvSpPr/>
          <p:nvPr/>
        </p:nvSpPr>
        <p:spPr>
          <a:xfrm>
            <a:off x="6858000" y="3310128"/>
            <a:ext cx="4297680" cy="640080"/>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Optional AI Gateway  </a:t>
            </a:r>
            <a:pPr indent="0" marL="0">
              <a:buNone/>
            </a:pPr>
            <a:r>
              <a:rPr lang="en-US" sz="1200" dirty="0">
                <a:solidFill>
                  <a:srgbClr val="5B6B84"/>
                </a:solidFill>
                <a:latin typeface="Calibri" pitchFamily="34" charset="0"/>
                <a:ea typeface="Calibri" pitchFamily="34" charset="-122"/>
                <a:cs typeface="Calibri" pitchFamily="34" charset="-120"/>
              </a:rPr>
              <a:t>routing, auth, cost attribution — not yet mandatory</a:t>
            </a:r>
            <a:endParaRPr lang="en-US" sz="1200" dirty="0"/>
          </a:p>
        </p:txBody>
      </p:sp>
      <p:pic>
        <p:nvPicPr>
          <p:cNvPr id="23" name="Image 2" descr="preencoded.png">    </p:cNvPr>
          <p:cNvPicPr>
            <a:picLocks noChangeAspect="1"/>
          </p:cNvPicPr>
          <p:nvPr/>
        </p:nvPicPr>
        <p:blipFill>
          <a:blip r:embed="rId3"/>
          <a:stretch>
            <a:fillRect/>
          </a:stretch>
        </p:blipFill>
        <p:spPr>
          <a:xfrm>
            <a:off x="6492240" y="4105656"/>
            <a:ext cx="256032" cy="256032"/>
          </a:xfrm>
          <a:prstGeom prst="rect">
            <a:avLst/>
          </a:prstGeom>
        </p:spPr>
      </p:pic>
      <p:sp>
        <p:nvSpPr>
          <p:cNvPr id="24" name="Text 19"/>
          <p:cNvSpPr/>
          <p:nvPr/>
        </p:nvSpPr>
        <p:spPr>
          <a:xfrm>
            <a:off x="6858000" y="4059936"/>
            <a:ext cx="4297680" cy="640080"/>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Approved production runtimes  </a:t>
            </a:r>
            <a:pPr indent="0" marL="0">
              <a:buNone/>
            </a:pPr>
            <a:r>
              <a:rPr lang="en-US" sz="1200" dirty="0">
                <a:solidFill>
                  <a:srgbClr val="5B6B84"/>
                </a:solidFill>
                <a:latin typeface="Calibri" pitchFamily="34" charset="0"/>
                <a:ea typeface="Calibri" pitchFamily="34" charset="-122"/>
                <a:cs typeface="Calibri" pitchFamily="34" charset="-120"/>
              </a:rPr>
              <a:t>sanctioned execution replaces laptops</a:t>
            </a:r>
            <a:endParaRPr lang="en-US" sz="1200" dirty="0"/>
          </a:p>
        </p:txBody>
      </p:sp>
      <p:pic>
        <p:nvPicPr>
          <p:cNvPr id="25" name="Image 3" descr="preencoded.png">    </p:cNvPr>
          <p:cNvPicPr>
            <a:picLocks noChangeAspect="1"/>
          </p:cNvPicPr>
          <p:nvPr/>
        </p:nvPicPr>
        <p:blipFill>
          <a:blip r:embed="rId4"/>
          <a:stretch>
            <a:fillRect/>
          </a:stretch>
        </p:blipFill>
        <p:spPr>
          <a:xfrm>
            <a:off x="6492240" y="4855464"/>
            <a:ext cx="256032" cy="256032"/>
          </a:xfrm>
          <a:prstGeom prst="rect">
            <a:avLst/>
          </a:prstGeom>
        </p:spPr>
      </p:pic>
      <p:sp>
        <p:nvSpPr>
          <p:cNvPr id="26" name="Text 20"/>
          <p:cNvSpPr/>
          <p:nvPr/>
        </p:nvSpPr>
        <p:spPr>
          <a:xfrm>
            <a:off x="6858000" y="4809744"/>
            <a:ext cx="4297680" cy="640080"/>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Basic governance &amp; audit logging  </a:t>
            </a:r>
            <a:pPr indent="0" marL="0">
              <a:buNone/>
            </a:pPr>
            <a:r>
              <a:rPr lang="en-US" sz="1200" dirty="0">
                <a:solidFill>
                  <a:srgbClr val="5B6B84"/>
                </a:solidFill>
                <a:latin typeface="Calibri" pitchFamily="34" charset="0"/>
                <a:ea typeface="Calibri" pitchFamily="34" charset="-122"/>
                <a:cs typeface="Calibri" pitchFamily="34" charset="-120"/>
              </a:rPr>
              <a:t>a first, partial control plane</a:t>
            </a:r>
            <a:endParaRPr lang="en-US" sz="1200" dirty="0"/>
          </a:p>
        </p:txBody>
      </p:sp>
      <p:sp>
        <p:nvSpPr>
          <p:cNvPr id="27" name="Text 21"/>
          <p:cNvSpPr/>
          <p:nvPr/>
        </p:nvSpPr>
        <p:spPr>
          <a:xfrm>
            <a:off x="502920" y="6492240"/>
            <a:ext cx="8229600" cy="256032"/>
          </a:xfrm>
          <a:prstGeom prst="rect">
            <a:avLst/>
          </a:prstGeom>
          <a:noFill/>
          <a:ln/>
        </p:spPr>
        <p:txBody>
          <a:bodyPr wrap="square" lIns="0" tIns="0" rIns="0" bIns="0" rtlCol="0" anchor="ctr"/>
          <a:lstStyle/>
          <a:p>
            <a:pPr indent="0" marL="0">
              <a:buNone/>
            </a:pPr>
            <a:r>
              <a:rPr lang="en-US" sz="800" dirty="0">
                <a:solidFill>
                  <a:srgbClr val="667891"/>
                </a:solidFill>
                <a:latin typeface="Calibri" pitchFamily="34" charset="0"/>
                <a:ea typeface="Calibri" pitchFamily="34" charset="-122"/>
                <a:cs typeface="Calibri" pitchFamily="34" charset="-120"/>
              </a:rPr>
              <a:t>Enterprise Agentic AI Platform</a:t>
            </a:r>
            <a:pPr indent="0" marL="0">
              <a:buNone/>
            </a:pPr>
            <a:r>
              <a:rPr lang="en-US" sz="800" dirty="0">
                <a:solidFill>
                  <a:srgbClr val="3B4CB8"/>
                </a:solidFill>
                <a:latin typeface="Calibri" pitchFamily="34" charset="0"/>
                <a:ea typeface="Calibri" pitchFamily="34" charset="-122"/>
                <a:cs typeface="Calibri" pitchFamily="34" charset="-120"/>
              </a:rPr>
              <a:t>   ·   How — L1 to L2</a:t>
            </a:r>
            <a:endParaRPr lang="en-US" sz="800" dirty="0"/>
          </a:p>
        </p:txBody>
      </p:sp>
      <p:sp>
        <p:nvSpPr>
          <p:cNvPr id="28" name="Text 22"/>
          <p:cNvSpPr/>
          <p:nvPr/>
        </p:nvSpPr>
        <p:spPr>
          <a:xfrm>
            <a:off x="11231575" y="6492240"/>
            <a:ext cx="457200" cy="256032"/>
          </a:xfrm>
          <a:prstGeom prst="rect">
            <a:avLst/>
          </a:prstGeom>
          <a:noFill/>
          <a:ln/>
        </p:spPr>
        <p:txBody>
          <a:bodyPr wrap="square" lIns="0" tIns="0" rIns="0" bIns="0" rtlCol="0" anchor="ctr"/>
          <a:lstStyle/>
          <a:p>
            <a:pPr algn="r" indent="0" marL="0">
              <a:buNone/>
            </a:pPr>
            <a:r>
              <a:rPr lang="en-US" sz="800" dirty="0">
                <a:solidFill>
                  <a:srgbClr val="667891"/>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502920"/>
            <a:ext cx="82296" cy="658368"/>
          </a:xfrm>
          <a:prstGeom prst="rect">
            <a:avLst/>
          </a:prstGeom>
          <a:solidFill>
            <a:srgbClr val="1F9D6B"/>
          </a:solidFill>
          <a:ln/>
        </p:spPr>
      </p:sp>
      <p:sp>
        <p:nvSpPr>
          <p:cNvPr id="3" name="Text 1"/>
          <p:cNvSpPr/>
          <p:nvPr/>
        </p:nvSpPr>
        <p:spPr>
          <a:xfrm>
            <a:off x="713232" y="457200"/>
            <a:ext cx="10972800" cy="685800"/>
          </a:xfrm>
          <a:prstGeom prst="rect">
            <a:avLst/>
          </a:prstGeom>
          <a:noFill/>
          <a:ln/>
        </p:spPr>
        <p:txBody>
          <a:bodyPr wrap="square" lIns="0" tIns="0" rIns="0" bIns="0" rtlCol="0" anchor="ctr"/>
          <a:lstStyle/>
          <a:p>
            <a:pPr indent="0" marL="0">
              <a:buNone/>
            </a:pPr>
            <a:r>
              <a:rPr lang="en-US" sz="3000" b="1" dirty="0">
                <a:solidFill>
                  <a:srgbClr val="1E2A44"/>
                </a:solidFill>
                <a:latin typeface="Georgia" pitchFamily="34" charset="0"/>
                <a:ea typeface="Georgia" pitchFamily="34" charset="-122"/>
                <a:cs typeface="Georgia" pitchFamily="34" charset="-120"/>
              </a:rPr>
              <a:t>L3: scaling through self-service &amp; federation</a:t>
            </a:r>
            <a:endParaRPr lang="en-US" sz="3000" dirty="0"/>
          </a:p>
        </p:txBody>
      </p:sp>
      <p:sp>
        <p:nvSpPr>
          <p:cNvPr id="4" name="Text 2"/>
          <p:cNvSpPr/>
          <p:nvPr/>
        </p:nvSpPr>
        <p:spPr>
          <a:xfrm>
            <a:off x="731520" y="1170432"/>
            <a:ext cx="10972800" cy="274320"/>
          </a:xfrm>
          <a:prstGeom prst="rect">
            <a:avLst/>
          </a:prstGeom>
          <a:noFill/>
          <a:ln/>
        </p:spPr>
        <p:txBody>
          <a:bodyPr wrap="square" lIns="0" tIns="0" rIns="0" bIns="0" rtlCol="0" anchor="ctr"/>
          <a:lstStyle/>
          <a:p>
            <a:pPr indent="0" marL="0">
              <a:buNone/>
            </a:pPr>
            <a:r>
              <a:rPr lang="en-US" sz="1100" b="1" spc="200" kern="0" dirty="0">
                <a:solidFill>
                  <a:srgbClr val="1F9D6B"/>
                </a:solidFill>
                <a:latin typeface="Calibri" pitchFamily="34" charset="0"/>
                <a:ea typeface="Calibri" pitchFamily="34" charset="-122"/>
                <a:cs typeface="Calibri" pitchFamily="34" charset="-120"/>
              </a:rPr>
              <a:t>MATURITY ROADMAP · PHASE 3</a:t>
            </a:r>
            <a:endParaRPr lang="en-US" sz="1100" dirty="0"/>
          </a:p>
        </p:txBody>
      </p:sp>
      <p:sp>
        <p:nvSpPr>
          <p:cNvPr id="5" name="Shape 3"/>
          <p:cNvSpPr/>
          <p:nvPr/>
        </p:nvSpPr>
        <p:spPr>
          <a:xfrm>
            <a:off x="502920" y="1645920"/>
            <a:ext cx="3611880" cy="3246120"/>
          </a:xfrm>
          <a:prstGeom prst="rect">
            <a:avLst/>
          </a:prstGeom>
          <a:solidFill>
            <a:srgbClr val="FFFFFF"/>
          </a:solidFill>
          <a:ln w="12700">
            <a:solidFill>
              <a:srgbClr val="E2E8F2"/>
            </a:solidFill>
            <a:prstDash val="solid"/>
          </a:ln>
        </p:spPr>
      </p:sp>
      <p:sp>
        <p:nvSpPr>
          <p:cNvPr id="6" name="Shape 4"/>
          <p:cNvSpPr/>
          <p:nvPr/>
        </p:nvSpPr>
        <p:spPr>
          <a:xfrm>
            <a:off x="502920" y="1645920"/>
            <a:ext cx="3611880" cy="64008"/>
          </a:xfrm>
          <a:prstGeom prst="rect">
            <a:avLst/>
          </a:prstGeom>
          <a:solidFill>
            <a:srgbClr val="1F9D6B"/>
          </a:solidFill>
          <a:ln/>
        </p:spPr>
      </p:sp>
      <p:pic>
        <p:nvPicPr>
          <p:cNvPr id="7" name="Image 0" descr="preencoded.png">    </p:cNvPr>
          <p:cNvPicPr>
            <a:picLocks noChangeAspect="1"/>
          </p:cNvPicPr>
          <p:nvPr/>
        </p:nvPicPr>
        <p:blipFill>
          <a:blip r:embed="rId1"/>
          <a:stretch>
            <a:fillRect/>
          </a:stretch>
        </p:blipFill>
        <p:spPr>
          <a:xfrm>
            <a:off x="758952" y="1901952"/>
            <a:ext cx="292608" cy="292608"/>
          </a:xfrm>
          <a:prstGeom prst="rect">
            <a:avLst/>
          </a:prstGeom>
        </p:spPr>
      </p:pic>
      <p:sp>
        <p:nvSpPr>
          <p:cNvPr id="8" name="Text 5"/>
          <p:cNvSpPr/>
          <p:nvPr/>
        </p:nvSpPr>
        <p:spPr>
          <a:xfrm>
            <a:off x="1161288" y="1883664"/>
            <a:ext cx="2788920" cy="365760"/>
          </a:xfrm>
          <a:prstGeom prst="rect">
            <a:avLst/>
          </a:prstGeom>
          <a:noFill/>
          <a:ln/>
        </p:spPr>
        <p:txBody>
          <a:bodyPr wrap="square" lIns="0" tIns="0" rIns="0" bIns="0" rtlCol="0" anchor="ctr"/>
          <a:lstStyle/>
          <a:p>
            <a:pPr indent="0" marL="0">
              <a:buNone/>
            </a:pPr>
            <a:r>
              <a:rPr lang="en-US" sz="1400" b="1" dirty="0">
                <a:solidFill>
                  <a:srgbClr val="1E2A44"/>
                </a:solidFill>
                <a:latin typeface="Georgia" pitchFamily="34" charset="0"/>
                <a:ea typeface="Georgia" pitchFamily="34" charset="-122"/>
                <a:cs typeface="Georgia" pitchFamily="34" charset="-120"/>
              </a:rPr>
              <a:t>Complete Control Plane</a:t>
            </a:r>
            <a:endParaRPr lang="en-US" sz="1400" dirty="0"/>
          </a:p>
        </p:txBody>
      </p:sp>
      <p:pic>
        <p:nvPicPr>
          <p:cNvPr id="9" name="Image 1" descr="preencoded.png">    </p:cNvPr>
          <p:cNvPicPr>
            <a:picLocks noChangeAspect="1"/>
          </p:cNvPicPr>
          <p:nvPr/>
        </p:nvPicPr>
        <p:blipFill>
          <a:blip r:embed="rId2"/>
          <a:stretch>
            <a:fillRect/>
          </a:stretch>
        </p:blipFill>
        <p:spPr>
          <a:xfrm>
            <a:off x="758952" y="2487168"/>
            <a:ext cx="182880" cy="182880"/>
          </a:xfrm>
          <a:prstGeom prst="rect">
            <a:avLst/>
          </a:prstGeom>
        </p:spPr>
      </p:pic>
      <p:sp>
        <p:nvSpPr>
          <p:cNvPr id="10" name="Text 6"/>
          <p:cNvSpPr/>
          <p:nvPr/>
        </p:nvSpPr>
        <p:spPr>
          <a:xfrm>
            <a:off x="1033272" y="24688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Self-service blueprint catalog</a:t>
            </a:r>
            <a:endParaRPr lang="en-US" sz="1050" dirty="0"/>
          </a:p>
        </p:txBody>
      </p:sp>
      <p:pic>
        <p:nvPicPr>
          <p:cNvPr id="11" name="Image 2" descr="preencoded.png">    </p:cNvPr>
          <p:cNvPicPr>
            <a:picLocks noChangeAspect="1"/>
          </p:cNvPicPr>
          <p:nvPr/>
        </p:nvPicPr>
        <p:blipFill>
          <a:blip r:embed="rId3"/>
          <a:stretch>
            <a:fillRect/>
          </a:stretch>
        </p:blipFill>
        <p:spPr>
          <a:xfrm>
            <a:off x="758952" y="2944368"/>
            <a:ext cx="182880" cy="182880"/>
          </a:xfrm>
          <a:prstGeom prst="rect">
            <a:avLst/>
          </a:prstGeom>
        </p:spPr>
      </p:pic>
      <p:sp>
        <p:nvSpPr>
          <p:cNvPr id="12" name="Text 7"/>
          <p:cNvSpPr/>
          <p:nvPr/>
        </p:nvSpPr>
        <p:spPr>
          <a:xfrm>
            <a:off x="1033272" y="29260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AI Gateway &amp; unified registry</a:t>
            </a:r>
            <a:endParaRPr lang="en-US" sz="1050" dirty="0"/>
          </a:p>
        </p:txBody>
      </p:sp>
      <p:pic>
        <p:nvPicPr>
          <p:cNvPr id="13" name="Image 3" descr="preencoded.png">    </p:cNvPr>
          <p:cNvPicPr>
            <a:picLocks noChangeAspect="1"/>
          </p:cNvPicPr>
          <p:nvPr/>
        </p:nvPicPr>
        <p:blipFill>
          <a:blip r:embed="rId4"/>
          <a:stretch>
            <a:fillRect/>
          </a:stretch>
        </p:blipFill>
        <p:spPr>
          <a:xfrm>
            <a:off x="758952" y="3401568"/>
            <a:ext cx="182880" cy="182880"/>
          </a:xfrm>
          <a:prstGeom prst="rect">
            <a:avLst/>
          </a:prstGeom>
        </p:spPr>
      </p:pic>
      <p:sp>
        <p:nvSpPr>
          <p:cNvPr id="14" name="Text 8"/>
          <p:cNvSpPr/>
          <p:nvPr/>
        </p:nvSpPr>
        <p:spPr>
          <a:xfrm>
            <a:off x="1033272" y="33832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Policy-as-code (Cedar)</a:t>
            </a:r>
            <a:endParaRPr lang="en-US" sz="1050" dirty="0"/>
          </a:p>
        </p:txBody>
      </p:sp>
      <p:pic>
        <p:nvPicPr>
          <p:cNvPr id="15" name="Image 4" descr="preencoded.png">    </p:cNvPr>
          <p:cNvPicPr>
            <a:picLocks noChangeAspect="1"/>
          </p:cNvPicPr>
          <p:nvPr/>
        </p:nvPicPr>
        <p:blipFill>
          <a:blip r:embed="rId5"/>
          <a:stretch>
            <a:fillRect/>
          </a:stretch>
        </p:blipFill>
        <p:spPr>
          <a:xfrm>
            <a:off x="758952" y="3858768"/>
            <a:ext cx="182880" cy="182880"/>
          </a:xfrm>
          <a:prstGeom prst="rect">
            <a:avLst/>
          </a:prstGeom>
        </p:spPr>
      </p:pic>
      <p:sp>
        <p:nvSpPr>
          <p:cNvPr id="16" name="Text 9"/>
          <p:cNvSpPr/>
          <p:nvPr/>
        </p:nvSpPr>
        <p:spPr>
          <a:xfrm>
            <a:off x="1033272" y="38404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Automated CI/CD quality gates</a:t>
            </a:r>
            <a:endParaRPr lang="en-US" sz="1050" dirty="0"/>
          </a:p>
        </p:txBody>
      </p:sp>
      <p:pic>
        <p:nvPicPr>
          <p:cNvPr id="17" name="Image 5" descr="preencoded.png">    </p:cNvPr>
          <p:cNvPicPr>
            <a:picLocks noChangeAspect="1"/>
          </p:cNvPicPr>
          <p:nvPr/>
        </p:nvPicPr>
        <p:blipFill>
          <a:blip r:embed="rId6"/>
          <a:stretch>
            <a:fillRect/>
          </a:stretch>
        </p:blipFill>
        <p:spPr>
          <a:xfrm>
            <a:off x="758952" y="4315968"/>
            <a:ext cx="182880" cy="182880"/>
          </a:xfrm>
          <a:prstGeom prst="rect">
            <a:avLst/>
          </a:prstGeom>
        </p:spPr>
      </p:pic>
      <p:sp>
        <p:nvSpPr>
          <p:cNvPr id="18" name="Text 10"/>
          <p:cNvSpPr/>
          <p:nvPr/>
        </p:nvSpPr>
        <p:spPr>
          <a:xfrm>
            <a:off x="1033272" y="42976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Prebuilt evaluation pipeline</a:t>
            </a:r>
            <a:endParaRPr lang="en-US" sz="1050" dirty="0"/>
          </a:p>
        </p:txBody>
      </p:sp>
      <p:sp>
        <p:nvSpPr>
          <p:cNvPr id="19" name="Shape 11"/>
          <p:cNvSpPr/>
          <p:nvPr/>
        </p:nvSpPr>
        <p:spPr>
          <a:xfrm>
            <a:off x="4334256" y="1645920"/>
            <a:ext cx="3611880" cy="3246120"/>
          </a:xfrm>
          <a:prstGeom prst="rect">
            <a:avLst/>
          </a:prstGeom>
          <a:solidFill>
            <a:srgbClr val="FFFFFF"/>
          </a:solidFill>
          <a:ln w="12700">
            <a:solidFill>
              <a:srgbClr val="E2E8F2"/>
            </a:solidFill>
            <a:prstDash val="solid"/>
          </a:ln>
        </p:spPr>
      </p:sp>
      <p:sp>
        <p:nvSpPr>
          <p:cNvPr id="20" name="Shape 12"/>
          <p:cNvSpPr/>
          <p:nvPr/>
        </p:nvSpPr>
        <p:spPr>
          <a:xfrm>
            <a:off x="4334256" y="1645920"/>
            <a:ext cx="3611880" cy="64008"/>
          </a:xfrm>
          <a:prstGeom prst="rect">
            <a:avLst/>
          </a:prstGeom>
          <a:solidFill>
            <a:srgbClr val="1F9D6B"/>
          </a:solidFill>
          <a:ln/>
        </p:spPr>
      </p:sp>
      <p:pic>
        <p:nvPicPr>
          <p:cNvPr id="21" name="Image 6" descr="preencoded.png">    </p:cNvPr>
          <p:cNvPicPr>
            <a:picLocks noChangeAspect="1"/>
          </p:cNvPicPr>
          <p:nvPr/>
        </p:nvPicPr>
        <p:blipFill>
          <a:blip r:embed="rId7"/>
          <a:stretch>
            <a:fillRect/>
          </a:stretch>
        </p:blipFill>
        <p:spPr>
          <a:xfrm>
            <a:off x="4590288" y="1901952"/>
            <a:ext cx="292608" cy="292608"/>
          </a:xfrm>
          <a:prstGeom prst="rect">
            <a:avLst/>
          </a:prstGeom>
        </p:spPr>
      </p:pic>
      <p:sp>
        <p:nvSpPr>
          <p:cNvPr id="22" name="Text 13"/>
          <p:cNvSpPr/>
          <p:nvPr/>
        </p:nvSpPr>
        <p:spPr>
          <a:xfrm>
            <a:off x="4992624" y="1883664"/>
            <a:ext cx="2788920" cy="365760"/>
          </a:xfrm>
          <a:prstGeom prst="rect">
            <a:avLst/>
          </a:prstGeom>
          <a:noFill/>
          <a:ln/>
        </p:spPr>
        <p:txBody>
          <a:bodyPr wrap="square" lIns="0" tIns="0" rIns="0" bIns="0" rtlCol="0" anchor="ctr"/>
          <a:lstStyle/>
          <a:p>
            <a:pPr indent="0" marL="0">
              <a:buNone/>
            </a:pPr>
            <a:r>
              <a:rPr lang="en-US" sz="1400" b="1" dirty="0">
                <a:solidFill>
                  <a:srgbClr val="1E2A44"/>
                </a:solidFill>
                <a:latin typeface="Georgia" pitchFamily="34" charset="0"/>
                <a:ea typeface="Georgia" pitchFamily="34" charset="-122"/>
                <a:cs typeface="Georgia" pitchFamily="34" charset="-120"/>
              </a:rPr>
              <a:t>Governance Landing Zone</a:t>
            </a:r>
            <a:endParaRPr lang="en-US" sz="1400" dirty="0"/>
          </a:p>
        </p:txBody>
      </p:sp>
      <p:pic>
        <p:nvPicPr>
          <p:cNvPr id="23" name="Image 7" descr="preencoded.png">    </p:cNvPr>
          <p:cNvPicPr>
            <a:picLocks noChangeAspect="1"/>
          </p:cNvPicPr>
          <p:nvPr/>
        </p:nvPicPr>
        <p:blipFill>
          <a:blip r:embed="rId8"/>
          <a:stretch>
            <a:fillRect/>
          </a:stretch>
        </p:blipFill>
        <p:spPr>
          <a:xfrm>
            <a:off x="4590288" y="2487168"/>
            <a:ext cx="182880" cy="182880"/>
          </a:xfrm>
          <a:prstGeom prst="rect">
            <a:avLst/>
          </a:prstGeom>
        </p:spPr>
      </p:pic>
      <p:sp>
        <p:nvSpPr>
          <p:cNvPr id="24" name="Text 14"/>
          <p:cNvSpPr/>
          <p:nvPr/>
        </p:nvSpPr>
        <p:spPr>
          <a:xfrm>
            <a:off x="4864608" y="24688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Automated account vending</a:t>
            </a:r>
            <a:endParaRPr lang="en-US" sz="1050" dirty="0"/>
          </a:p>
        </p:txBody>
      </p:sp>
      <p:pic>
        <p:nvPicPr>
          <p:cNvPr id="25" name="Image 8" descr="preencoded.png">    </p:cNvPr>
          <p:cNvPicPr>
            <a:picLocks noChangeAspect="1"/>
          </p:cNvPicPr>
          <p:nvPr/>
        </p:nvPicPr>
        <p:blipFill>
          <a:blip r:embed="rId9"/>
          <a:stretch>
            <a:fillRect/>
          </a:stretch>
        </p:blipFill>
        <p:spPr>
          <a:xfrm>
            <a:off x="4590288" y="2944368"/>
            <a:ext cx="182880" cy="182880"/>
          </a:xfrm>
          <a:prstGeom prst="rect">
            <a:avLst/>
          </a:prstGeom>
        </p:spPr>
      </p:pic>
      <p:sp>
        <p:nvSpPr>
          <p:cNvPr id="26" name="Text 15"/>
          <p:cNvSpPr/>
          <p:nvPr/>
        </p:nvSpPr>
        <p:spPr>
          <a:xfrm>
            <a:off x="4864608" y="29260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Control Tower &amp; Service Catalog</a:t>
            </a:r>
            <a:endParaRPr lang="en-US" sz="1050" dirty="0"/>
          </a:p>
        </p:txBody>
      </p:sp>
      <p:pic>
        <p:nvPicPr>
          <p:cNvPr id="27" name="Image 9" descr="preencoded.png">    </p:cNvPr>
          <p:cNvPicPr>
            <a:picLocks noChangeAspect="1"/>
          </p:cNvPicPr>
          <p:nvPr/>
        </p:nvPicPr>
        <p:blipFill>
          <a:blip r:embed="rId10"/>
          <a:stretch>
            <a:fillRect/>
          </a:stretch>
        </p:blipFill>
        <p:spPr>
          <a:xfrm>
            <a:off x="4590288" y="3401568"/>
            <a:ext cx="182880" cy="182880"/>
          </a:xfrm>
          <a:prstGeom prst="rect">
            <a:avLst/>
          </a:prstGeom>
        </p:spPr>
      </p:pic>
      <p:sp>
        <p:nvSpPr>
          <p:cNvPr id="28" name="Text 16"/>
          <p:cNvSpPr/>
          <p:nvPr/>
        </p:nvSpPr>
        <p:spPr>
          <a:xfrm>
            <a:off x="4864608" y="33832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Per-domain Dev/UAT/Prod sets</a:t>
            </a:r>
            <a:endParaRPr lang="en-US" sz="1050" dirty="0"/>
          </a:p>
        </p:txBody>
      </p:sp>
      <p:pic>
        <p:nvPicPr>
          <p:cNvPr id="29" name="Image 10" descr="preencoded.png">    </p:cNvPr>
          <p:cNvPicPr>
            <a:picLocks noChangeAspect="1"/>
          </p:cNvPicPr>
          <p:nvPr/>
        </p:nvPicPr>
        <p:blipFill>
          <a:blip r:embed="rId11"/>
          <a:stretch>
            <a:fillRect/>
          </a:stretch>
        </p:blipFill>
        <p:spPr>
          <a:xfrm>
            <a:off x="4590288" y="3858768"/>
            <a:ext cx="182880" cy="182880"/>
          </a:xfrm>
          <a:prstGeom prst="rect">
            <a:avLst/>
          </a:prstGeom>
        </p:spPr>
      </p:pic>
      <p:sp>
        <p:nvSpPr>
          <p:cNvPr id="30" name="Text 17"/>
          <p:cNvSpPr/>
          <p:nvPr/>
        </p:nvSpPr>
        <p:spPr>
          <a:xfrm>
            <a:off x="4864608" y="38404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Bedrock Guardrails enforcement</a:t>
            </a:r>
            <a:endParaRPr lang="en-US" sz="1050" dirty="0"/>
          </a:p>
        </p:txBody>
      </p:sp>
      <p:pic>
        <p:nvPicPr>
          <p:cNvPr id="31" name="Image 11" descr="preencoded.png">    </p:cNvPr>
          <p:cNvPicPr>
            <a:picLocks noChangeAspect="1"/>
          </p:cNvPicPr>
          <p:nvPr/>
        </p:nvPicPr>
        <p:blipFill>
          <a:blip r:embed="rId12"/>
          <a:stretch>
            <a:fillRect/>
          </a:stretch>
        </p:blipFill>
        <p:spPr>
          <a:xfrm>
            <a:off x="4590288" y="4315968"/>
            <a:ext cx="182880" cy="182880"/>
          </a:xfrm>
          <a:prstGeom prst="rect">
            <a:avLst/>
          </a:prstGeom>
        </p:spPr>
      </p:pic>
      <p:sp>
        <p:nvSpPr>
          <p:cNvPr id="32" name="Text 18"/>
          <p:cNvSpPr/>
          <p:nvPr/>
        </p:nvSpPr>
        <p:spPr>
          <a:xfrm>
            <a:off x="4864608" y="42976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Centralised identity mapping</a:t>
            </a:r>
            <a:endParaRPr lang="en-US" sz="1050" dirty="0"/>
          </a:p>
        </p:txBody>
      </p:sp>
      <p:sp>
        <p:nvSpPr>
          <p:cNvPr id="33" name="Shape 19"/>
          <p:cNvSpPr/>
          <p:nvPr/>
        </p:nvSpPr>
        <p:spPr>
          <a:xfrm>
            <a:off x="8165592" y="1645920"/>
            <a:ext cx="3611880" cy="3246120"/>
          </a:xfrm>
          <a:prstGeom prst="rect">
            <a:avLst/>
          </a:prstGeom>
          <a:solidFill>
            <a:srgbClr val="FFFFFF"/>
          </a:solidFill>
          <a:ln w="12700">
            <a:solidFill>
              <a:srgbClr val="E2E8F2"/>
            </a:solidFill>
            <a:prstDash val="solid"/>
          </a:ln>
        </p:spPr>
      </p:sp>
      <p:sp>
        <p:nvSpPr>
          <p:cNvPr id="34" name="Shape 20"/>
          <p:cNvSpPr/>
          <p:nvPr/>
        </p:nvSpPr>
        <p:spPr>
          <a:xfrm>
            <a:off x="8165592" y="1645920"/>
            <a:ext cx="3611880" cy="64008"/>
          </a:xfrm>
          <a:prstGeom prst="rect">
            <a:avLst/>
          </a:prstGeom>
          <a:solidFill>
            <a:srgbClr val="1F9D6B"/>
          </a:solidFill>
          <a:ln/>
        </p:spPr>
      </p:sp>
      <p:pic>
        <p:nvPicPr>
          <p:cNvPr id="35" name="Image 12" descr="preencoded.png">    </p:cNvPr>
          <p:cNvPicPr>
            <a:picLocks noChangeAspect="1"/>
          </p:cNvPicPr>
          <p:nvPr/>
        </p:nvPicPr>
        <p:blipFill>
          <a:blip r:embed="rId13"/>
          <a:stretch>
            <a:fillRect/>
          </a:stretch>
        </p:blipFill>
        <p:spPr>
          <a:xfrm>
            <a:off x="8421624" y="1901952"/>
            <a:ext cx="292608" cy="292608"/>
          </a:xfrm>
          <a:prstGeom prst="rect">
            <a:avLst/>
          </a:prstGeom>
        </p:spPr>
      </p:pic>
      <p:sp>
        <p:nvSpPr>
          <p:cNvPr id="36" name="Text 21"/>
          <p:cNvSpPr/>
          <p:nvPr/>
        </p:nvSpPr>
        <p:spPr>
          <a:xfrm>
            <a:off x="8823960" y="1883664"/>
            <a:ext cx="2788920" cy="365760"/>
          </a:xfrm>
          <a:prstGeom prst="rect">
            <a:avLst/>
          </a:prstGeom>
          <a:noFill/>
          <a:ln/>
        </p:spPr>
        <p:txBody>
          <a:bodyPr wrap="square" lIns="0" tIns="0" rIns="0" bIns="0" rtlCol="0" anchor="ctr"/>
          <a:lstStyle/>
          <a:p>
            <a:pPr indent="0" marL="0">
              <a:buNone/>
            </a:pPr>
            <a:r>
              <a:rPr lang="en-US" sz="1400" b="1" dirty="0">
                <a:solidFill>
                  <a:srgbClr val="1E2A44"/>
                </a:solidFill>
                <a:latin typeface="Georgia" pitchFamily="34" charset="0"/>
                <a:ea typeface="Georgia" pitchFamily="34" charset="-122"/>
                <a:cs typeface="Georgia" pitchFamily="34" charset="-120"/>
              </a:rPr>
              <a:t>Federated Runtimes</a:t>
            </a:r>
            <a:endParaRPr lang="en-US" sz="1400" dirty="0"/>
          </a:p>
        </p:txBody>
      </p:sp>
      <p:pic>
        <p:nvPicPr>
          <p:cNvPr id="37" name="Image 13" descr="preencoded.png">    </p:cNvPr>
          <p:cNvPicPr>
            <a:picLocks noChangeAspect="1"/>
          </p:cNvPicPr>
          <p:nvPr/>
        </p:nvPicPr>
        <p:blipFill>
          <a:blip r:embed="rId14"/>
          <a:stretch>
            <a:fillRect/>
          </a:stretch>
        </p:blipFill>
        <p:spPr>
          <a:xfrm>
            <a:off x="8421624" y="2487168"/>
            <a:ext cx="182880" cy="182880"/>
          </a:xfrm>
          <a:prstGeom prst="rect">
            <a:avLst/>
          </a:prstGeom>
        </p:spPr>
      </p:pic>
      <p:sp>
        <p:nvSpPr>
          <p:cNvPr id="38" name="Text 22"/>
          <p:cNvSpPr/>
          <p:nvPr/>
        </p:nvSpPr>
        <p:spPr>
          <a:xfrm>
            <a:off x="8695944" y="24688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Domain-owned run &amp; data planes</a:t>
            </a:r>
            <a:endParaRPr lang="en-US" sz="1050" dirty="0"/>
          </a:p>
        </p:txBody>
      </p:sp>
      <p:pic>
        <p:nvPicPr>
          <p:cNvPr id="39" name="Image 14" descr="preencoded.png">    </p:cNvPr>
          <p:cNvPicPr>
            <a:picLocks noChangeAspect="1"/>
          </p:cNvPicPr>
          <p:nvPr/>
        </p:nvPicPr>
        <p:blipFill>
          <a:blip r:embed="rId15"/>
          <a:stretch>
            <a:fillRect/>
          </a:stretch>
        </p:blipFill>
        <p:spPr>
          <a:xfrm>
            <a:off x="8421624" y="2944368"/>
            <a:ext cx="182880" cy="182880"/>
          </a:xfrm>
          <a:prstGeom prst="rect">
            <a:avLst/>
          </a:prstGeom>
        </p:spPr>
      </p:pic>
      <p:sp>
        <p:nvSpPr>
          <p:cNvPr id="40" name="Text 23"/>
          <p:cNvSpPr/>
          <p:nvPr/>
        </p:nvSpPr>
        <p:spPr>
          <a:xfrm>
            <a:off x="8695944" y="29260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Data residency in domain account</a:t>
            </a:r>
            <a:endParaRPr lang="en-US" sz="1050" dirty="0"/>
          </a:p>
        </p:txBody>
      </p:sp>
      <p:pic>
        <p:nvPicPr>
          <p:cNvPr id="41" name="Image 15" descr="preencoded.png">    </p:cNvPr>
          <p:cNvPicPr>
            <a:picLocks noChangeAspect="1"/>
          </p:cNvPicPr>
          <p:nvPr/>
        </p:nvPicPr>
        <p:blipFill>
          <a:blip r:embed="rId16"/>
          <a:stretch>
            <a:fillRect/>
          </a:stretch>
        </p:blipFill>
        <p:spPr>
          <a:xfrm>
            <a:off x="8421624" y="3401568"/>
            <a:ext cx="182880" cy="182880"/>
          </a:xfrm>
          <a:prstGeom prst="rect">
            <a:avLst/>
          </a:prstGeom>
        </p:spPr>
      </p:pic>
      <p:sp>
        <p:nvSpPr>
          <p:cNvPr id="42" name="Text 24"/>
          <p:cNvSpPr/>
          <p:nvPr/>
        </p:nvSpPr>
        <p:spPr>
          <a:xfrm>
            <a:off x="8695944" y="33832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Telemetry uplink to central plane</a:t>
            </a:r>
            <a:endParaRPr lang="en-US" sz="1050" dirty="0"/>
          </a:p>
        </p:txBody>
      </p:sp>
      <p:pic>
        <p:nvPicPr>
          <p:cNvPr id="43" name="Image 16" descr="preencoded.png">    </p:cNvPr>
          <p:cNvPicPr>
            <a:picLocks noChangeAspect="1"/>
          </p:cNvPicPr>
          <p:nvPr/>
        </p:nvPicPr>
        <p:blipFill>
          <a:blip r:embed="rId17"/>
          <a:stretch>
            <a:fillRect/>
          </a:stretch>
        </p:blipFill>
        <p:spPr>
          <a:xfrm>
            <a:off x="8421624" y="3858768"/>
            <a:ext cx="182880" cy="182880"/>
          </a:xfrm>
          <a:prstGeom prst="rect">
            <a:avLst/>
          </a:prstGeom>
        </p:spPr>
      </p:pic>
      <p:sp>
        <p:nvSpPr>
          <p:cNvPr id="44" name="Text 25"/>
          <p:cNvSpPr/>
          <p:nvPr/>
        </p:nvSpPr>
        <p:spPr>
          <a:xfrm>
            <a:off x="8695944" y="38404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Differentiated tools &amp; logic</a:t>
            </a:r>
            <a:endParaRPr lang="en-US" sz="1050" dirty="0"/>
          </a:p>
        </p:txBody>
      </p:sp>
      <p:pic>
        <p:nvPicPr>
          <p:cNvPr id="45" name="Image 17" descr="preencoded.png">    </p:cNvPr>
          <p:cNvPicPr>
            <a:picLocks noChangeAspect="1"/>
          </p:cNvPicPr>
          <p:nvPr/>
        </p:nvPicPr>
        <p:blipFill>
          <a:blip r:embed="rId18"/>
          <a:stretch>
            <a:fillRect/>
          </a:stretch>
        </p:blipFill>
        <p:spPr>
          <a:xfrm>
            <a:off x="8421624" y="4315968"/>
            <a:ext cx="182880" cy="182880"/>
          </a:xfrm>
          <a:prstGeom prst="rect">
            <a:avLst/>
          </a:prstGeom>
        </p:spPr>
      </p:pic>
      <p:sp>
        <p:nvSpPr>
          <p:cNvPr id="46" name="Text 26"/>
          <p:cNvSpPr/>
          <p:nvPr/>
        </p:nvSpPr>
        <p:spPr>
          <a:xfrm>
            <a:off x="8695944" y="4297680"/>
            <a:ext cx="2880360" cy="365760"/>
          </a:xfrm>
          <a:prstGeom prst="rect">
            <a:avLst/>
          </a:prstGeom>
          <a:noFill/>
          <a:ln/>
        </p:spPr>
        <p:txBody>
          <a:bodyPr wrap="square" lIns="0" tIns="0" rIns="0" bIns="0" rtlCol="0" anchor="ctr"/>
          <a:lstStyle/>
          <a:p>
            <a:pPr indent="0" marL="0">
              <a:buNone/>
            </a:pPr>
            <a:r>
              <a:rPr lang="en-US" sz="1050" dirty="0">
                <a:solidFill>
                  <a:srgbClr val="1E2A44"/>
                </a:solidFill>
                <a:latin typeface="Calibri" pitchFamily="34" charset="0"/>
                <a:ea typeface="Calibri" pitchFamily="34" charset="-122"/>
                <a:cs typeface="Calibri" pitchFamily="34" charset="-120"/>
              </a:rPr>
              <a:t>Sandboxed microVM execution</a:t>
            </a:r>
            <a:endParaRPr lang="en-US" sz="1050" dirty="0"/>
          </a:p>
        </p:txBody>
      </p:sp>
      <p:sp>
        <p:nvSpPr>
          <p:cNvPr id="47" name="Shape 27"/>
          <p:cNvSpPr/>
          <p:nvPr/>
        </p:nvSpPr>
        <p:spPr>
          <a:xfrm>
            <a:off x="502920" y="5056632"/>
            <a:ext cx="11185855" cy="868680"/>
          </a:xfrm>
          <a:prstGeom prst="rect">
            <a:avLst/>
          </a:prstGeom>
          <a:solidFill>
            <a:srgbClr val="E2E8F2"/>
          </a:solidFill>
          <a:ln/>
        </p:spPr>
      </p:sp>
      <p:sp>
        <p:nvSpPr>
          <p:cNvPr id="48" name="Text 28"/>
          <p:cNvSpPr/>
          <p:nvPr/>
        </p:nvSpPr>
        <p:spPr>
          <a:xfrm>
            <a:off x="685800" y="5239512"/>
            <a:ext cx="1554480" cy="548640"/>
          </a:xfrm>
          <a:prstGeom prst="rect">
            <a:avLst/>
          </a:prstGeom>
          <a:noFill/>
          <a:ln/>
        </p:spPr>
        <p:txBody>
          <a:bodyPr wrap="square" lIns="0" tIns="0" rIns="0" bIns="0" rtlCol="0" anchor="ctr"/>
          <a:lstStyle/>
          <a:p>
            <a:pPr indent="0" marL="0">
              <a:lnSpc>
                <a:spcPct val="95000"/>
              </a:lnSpc>
              <a:buNone/>
            </a:pPr>
            <a:r>
              <a:rPr lang="en-US" sz="1000" b="1" dirty="0">
                <a:solidFill>
                  <a:srgbClr val="5B6B84"/>
                </a:solidFill>
                <a:latin typeface="Calibri" pitchFamily="34" charset="0"/>
                <a:ea typeface="Calibri" pitchFamily="34" charset="-122"/>
                <a:cs typeface="Calibri" pitchFamily="34" charset="-120"/>
              </a:rPr>
              <a:t>ENVIRONMENT</a:t>
            </a:r>
            <a:endParaRPr lang="en-US" sz="1000" dirty="0"/>
          </a:p>
          <a:p>
            <a:pPr indent="0" marL="0">
              <a:lnSpc>
                <a:spcPct val="95000"/>
              </a:lnSpc>
              <a:buNone/>
            </a:pPr>
            <a:r>
              <a:rPr lang="en-US" sz="1000" b="1" dirty="0">
                <a:solidFill>
                  <a:srgbClr val="5B6B84"/>
                </a:solidFill>
                <a:latin typeface="Calibri" pitchFamily="34" charset="0"/>
                <a:ea typeface="Calibri" pitchFamily="34" charset="-122"/>
                <a:cs typeface="Calibri" pitchFamily="34" charset="-120"/>
              </a:rPr>
              <a:t>BEHAVIOR</a:t>
            </a:r>
            <a:endParaRPr lang="en-US" sz="1000" dirty="0"/>
          </a:p>
        </p:txBody>
      </p:sp>
      <p:sp>
        <p:nvSpPr>
          <p:cNvPr id="49" name="Shape 29"/>
          <p:cNvSpPr/>
          <p:nvPr/>
        </p:nvSpPr>
        <p:spPr>
          <a:xfrm>
            <a:off x="2468880" y="5193792"/>
            <a:ext cx="54864" cy="594360"/>
          </a:xfrm>
          <a:prstGeom prst="rect">
            <a:avLst/>
          </a:prstGeom>
          <a:solidFill>
            <a:srgbClr val="1F9D6B"/>
          </a:solidFill>
          <a:ln/>
        </p:spPr>
      </p:sp>
      <p:sp>
        <p:nvSpPr>
          <p:cNvPr id="50" name="Text 30"/>
          <p:cNvSpPr/>
          <p:nvPr/>
        </p:nvSpPr>
        <p:spPr>
          <a:xfrm>
            <a:off x="2615184" y="5175504"/>
            <a:ext cx="2788920" cy="640080"/>
          </a:xfrm>
          <a:prstGeom prst="rect">
            <a:avLst/>
          </a:prstGeom>
          <a:noFill/>
          <a:ln/>
        </p:spPr>
        <p:txBody>
          <a:bodyPr wrap="square" lIns="0" tIns="0" rIns="0" bIns="0" rtlCol="0" anchor="ctr"/>
          <a:lstStyle/>
          <a:p>
            <a:pPr indent="0" marL="0">
              <a:lnSpc>
                <a:spcPct val="95000"/>
              </a:lnSpc>
              <a:buNone/>
            </a:pPr>
            <a:r>
              <a:rPr lang="en-US" sz="1000" b="1" dirty="0">
                <a:solidFill>
                  <a:srgbClr val="1E2A44"/>
                </a:solidFill>
                <a:latin typeface="Calibri" pitchFamily="34" charset="0"/>
                <a:ea typeface="Calibri" pitchFamily="34" charset="-122"/>
                <a:cs typeface="Calibri" pitchFamily="34" charset="-120"/>
              </a:rPr>
              <a:t>DEVELOPMENT
</a:t>
            </a:r>
            <a:pPr indent="0" marL="0">
              <a:lnSpc>
                <a:spcPct val="95000"/>
              </a:lnSpc>
              <a:buNone/>
            </a:pPr>
            <a:r>
              <a:rPr lang="en-US" sz="900" dirty="0">
                <a:solidFill>
                  <a:srgbClr val="5B6B84"/>
                </a:solidFill>
                <a:latin typeface="Calibri" pitchFamily="34" charset="0"/>
                <a:ea typeface="Calibri" pitchFamily="34" charset="-122"/>
                <a:cs typeface="Calibri" pitchFamily="34" charset="-120"/>
              </a:rPr>
              <a:t>Synthetic data, verbose tracing, guardrails in warn mode.</a:t>
            </a:r>
            <a:endParaRPr lang="en-US" sz="1000" dirty="0"/>
          </a:p>
        </p:txBody>
      </p:sp>
      <p:sp>
        <p:nvSpPr>
          <p:cNvPr id="51" name="Shape 31"/>
          <p:cNvSpPr/>
          <p:nvPr/>
        </p:nvSpPr>
        <p:spPr>
          <a:xfrm>
            <a:off x="5532120" y="5193792"/>
            <a:ext cx="54864" cy="594360"/>
          </a:xfrm>
          <a:prstGeom prst="rect">
            <a:avLst/>
          </a:prstGeom>
          <a:solidFill>
            <a:srgbClr val="E08A1E"/>
          </a:solidFill>
          <a:ln/>
        </p:spPr>
      </p:sp>
      <p:sp>
        <p:nvSpPr>
          <p:cNvPr id="52" name="Text 32"/>
          <p:cNvSpPr/>
          <p:nvPr/>
        </p:nvSpPr>
        <p:spPr>
          <a:xfrm>
            <a:off x="5678424" y="5175504"/>
            <a:ext cx="2788920" cy="640080"/>
          </a:xfrm>
          <a:prstGeom prst="rect">
            <a:avLst/>
          </a:prstGeom>
          <a:noFill/>
          <a:ln/>
        </p:spPr>
        <p:txBody>
          <a:bodyPr wrap="square" lIns="0" tIns="0" rIns="0" bIns="0" rtlCol="0" anchor="ctr"/>
          <a:lstStyle/>
          <a:p>
            <a:pPr indent="0" marL="0">
              <a:lnSpc>
                <a:spcPct val="95000"/>
              </a:lnSpc>
              <a:buNone/>
            </a:pPr>
            <a:r>
              <a:rPr lang="en-US" sz="1000" b="1" dirty="0">
                <a:solidFill>
                  <a:srgbClr val="1E2A44"/>
                </a:solidFill>
                <a:latin typeface="Calibri" pitchFamily="34" charset="0"/>
                <a:ea typeface="Calibri" pitchFamily="34" charset="-122"/>
                <a:cs typeface="Calibri" pitchFamily="34" charset="-120"/>
              </a:rPr>
              <a:t>STAGING / UAT
</a:t>
            </a:r>
            <a:pPr indent="0" marL="0">
              <a:lnSpc>
                <a:spcPct val="95000"/>
              </a:lnSpc>
              <a:buNone/>
            </a:pPr>
            <a:r>
              <a:rPr lang="en-US" sz="900" dirty="0">
                <a:solidFill>
                  <a:srgbClr val="5B6B84"/>
                </a:solidFill>
                <a:latin typeface="Calibri" pitchFamily="34" charset="0"/>
                <a:ea typeface="Calibri" pitchFamily="34" charset="-122"/>
                <a:cs typeface="Calibri" pitchFamily="34" charset="-120"/>
              </a:rPr>
              <a:t>PII-masked data, prod parity, SME sign-off gates.</a:t>
            </a:r>
            <a:endParaRPr lang="en-US" sz="1000" dirty="0"/>
          </a:p>
        </p:txBody>
      </p:sp>
      <p:sp>
        <p:nvSpPr>
          <p:cNvPr id="53" name="Shape 33"/>
          <p:cNvSpPr/>
          <p:nvPr/>
        </p:nvSpPr>
        <p:spPr>
          <a:xfrm>
            <a:off x="8595360" y="5193792"/>
            <a:ext cx="54864" cy="594360"/>
          </a:xfrm>
          <a:prstGeom prst="rect">
            <a:avLst/>
          </a:prstGeom>
          <a:solidFill>
            <a:srgbClr val="6D4FD6"/>
          </a:solidFill>
          <a:ln/>
        </p:spPr>
      </p:sp>
      <p:sp>
        <p:nvSpPr>
          <p:cNvPr id="54" name="Text 34"/>
          <p:cNvSpPr/>
          <p:nvPr/>
        </p:nvSpPr>
        <p:spPr>
          <a:xfrm>
            <a:off x="8741664" y="5175504"/>
            <a:ext cx="2788920" cy="640080"/>
          </a:xfrm>
          <a:prstGeom prst="rect">
            <a:avLst/>
          </a:prstGeom>
          <a:noFill/>
          <a:ln/>
        </p:spPr>
        <p:txBody>
          <a:bodyPr wrap="square" lIns="0" tIns="0" rIns="0" bIns="0" rtlCol="0" anchor="ctr"/>
          <a:lstStyle/>
          <a:p>
            <a:pPr indent="0" marL="0">
              <a:lnSpc>
                <a:spcPct val="95000"/>
              </a:lnSpc>
              <a:buNone/>
            </a:pPr>
            <a:r>
              <a:rPr lang="en-US" sz="1000" b="1" dirty="0">
                <a:solidFill>
                  <a:srgbClr val="1E2A44"/>
                </a:solidFill>
                <a:latin typeface="Calibri" pitchFamily="34" charset="0"/>
                <a:ea typeface="Calibri" pitchFamily="34" charset="-122"/>
                <a:cs typeface="Calibri" pitchFamily="34" charset="-120"/>
              </a:rPr>
              <a:t>PRODUCTION
</a:t>
            </a:r>
            <a:pPr indent="0" marL="0">
              <a:lnSpc>
                <a:spcPct val="95000"/>
              </a:lnSpc>
              <a:buNone/>
            </a:pPr>
            <a:r>
              <a:rPr lang="en-US" sz="900" dirty="0">
                <a:solidFill>
                  <a:srgbClr val="5B6B84"/>
                </a:solidFill>
                <a:latin typeface="Calibri" pitchFamily="34" charset="0"/>
                <a:ea typeface="Calibri" pitchFamily="34" charset="-122"/>
                <a:cs typeface="Calibri" pitchFamily="34" charset="-120"/>
              </a:rPr>
              <a:t>Real data, canary / blue-green, human-in-the-loop.</a:t>
            </a:r>
            <a:endParaRPr lang="en-US" sz="1000" dirty="0"/>
          </a:p>
        </p:txBody>
      </p:sp>
      <p:sp>
        <p:nvSpPr>
          <p:cNvPr id="55" name="Text 35"/>
          <p:cNvSpPr/>
          <p:nvPr/>
        </p:nvSpPr>
        <p:spPr>
          <a:xfrm>
            <a:off x="502920" y="6291072"/>
            <a:ext cx="10058400" cy="274320"/>
          </a:xfrm>
          <a:prstGeom prst="rect">
            <a:avLst/>
          </a:prstGeom>
          <a:noFill/>
          <a:ln/>
        </p:spPr>
        <p:txBody>
          <a:bodyPr wrap="square" lIns="0" tIns="0" rIns="0" bIns="0" rtlCol="0" anchor="ctr"/>
          <a:lstStyle/>
          <a:p>
            <a:pPr indent="0" marL="0">
              <a:buNone/>
            </a:pPr>
            <a:r>
              <a:rPr lang="en-US" sz="1150" b="1" dirty="0">
                <a:solidFill>
                  <a:srgbClr val="1F9D6B"/>
                </a:solidFill>
                <a:latin typeface="Calibri" pitchFamily="34" charset="0"/>
                <a:ea typeface="Calibri" pitchFamily="34" charset="-122"/>
                <a:cs typeface="Calibri" pitchFamily="34" charset="-120"/>
              </a:rPr>
              <a:t>Target operating model: the platform becomes a product — teams scale safely and independently.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502920"/>
            <a:ext cx="82296" cy="658368"/>
          </a:xfrm>
          <a:prstGeom prst="rect">
            <a:avLst/>
          </a:prstGeom>
          <a:solidFill>
            <a:srgbClr val="3B4CB8"/>
          </a:solidFill>
          <a:ln/>
        </p:spPr>
      </p:sp>
      <p:sp>
        <p:nvSpPr>
          <p:cNvPr id="3" name="Text 1"/>
          <p:cNvSpPr/>
          <p:nvPr/>
        </p:nvSpPr>
        <p:spPr>
          <a:xfrm>
            <a:off x="713232" y="457200"/>
            <a:ext cx="10972800" cy="685800"/>
          </a:xfrm>
          <a:prstGeom prst="rect">
            <a:avLst/>
          </a:prstGeom>
          <a:noFill/>
          <a:ln/>
        </p:spPr>
        <p:txBody>
          <a:bodyPr wrap="square" lIns="0" tIns="0" rIns="0" bIns="0" rtlCol="0" anchor="ctr"/>
          <a:lstStyle/>
          <a:p>
            <a:pPr indent="0" marL="0">
              <a:buNone/>
            </a:pPr>
            <a:r>
              <a:rPr lang="en-US" sz="3000" b="1" dirty="0">
                <a:solidFill>
                  <a:srgbClr val="1E2A44"/>
                </a:solidFill>
                <a:latin typeface="Georgia" pitchFamily="34" charset="0"/>
                <a:ea typeface="Georgia" pitchFamily="34" charset="-122"/>
                <a:cs typeface="Georgia" pitchFamily="34" charset="-120"/>
              </a:rPr>
              <a:t>The Golden Path — governed agent lifecycle</a:t>
            </a:r>
            <a:endParaRPr lang="en-US" sz="3000" dirty="0"/>
          </a:p>
        </p:txBody>
      </p:sp>
      <p:sp>
        <p:nvSpPr>
          <p:cNvPr id="4" name="Text 2"/>
          <p:cNvSpPr/>
          <p:nvPr/>
        </p:nvSpPr>
        <p:spPr>
          <a:xfrm>
            <a:off x="731520" y="1170432"/>
            <a:ext cx="10972800" cy="274320"/>
          </a:xfrm>
          <a:prstGeom prst="rect">
            <a:avLst/>
          </a:prstGeom>
          <a:noFill/>
          <a:ln/>
        </p:spPr>
        <p:txBody>
          <a:bodyPr wrap="square" lIns="0" tIns="0" rIns="0" bIns="0" rtlCol="0" anchor="ctr"/>
          <a:lstStyle/>
          <a:p>
            <a:pPr indent="0" marL="0">
              <a:buNone/>
            </a:pPr>
            <a:r>
              <a:rPr lang="en-US" sz="1100" b="1" spc="200" kern="0" dirty="0">
                <a:solidFill>
                  <a:srgbClr val="3B4CB8"/>
                </a:solidFill>
                <a:latin typeface="Calibri" pitchFamily="34" charset="0"/>
                <a:ea typeface="Calibri" pitchFamily="34" charset="-122"/>
                <a:cs typeface="Calibri" pitchFamily="34" charset="-120"/>
              </a:rPr>
              <a:t>L3: SELF-SERVICE SCALE · AALOE (OPERATIONAL EXCELLENCE)</a:t>
            </a:r>
            <a:endParaRPr lang="en-US" sz="1100" dirty="0"/>
          </a:p>
        </p:txBody>
      </p:sp>
      <p:sp>
        <p:nvSpPr>
          <p:cNvPr id="5" name="Shape 3"/>
          <p:cNvSpPr/>
          <p:nvPr/>
        </p:nvSpPr>
        <p:spPr>
          <a:xfrm>
            <a:off x="502920" y="1600200"/>
            <a:ext cx="3246120" cy="4343400"/>
          </a:xfrm>
          <a:prstGeom prst="rect">
            <a:avLst/>
          </a:prstGeom>
          <a:solidFill>
            <a:srgbClr val="FFFFFF"/>
          </a:solidFill>
          <a:ln w="12700">
            <a:solidFill>
              <a:srgbClr val="E2E8F2"/>
            </a:solidFill>
            <a:prstDash val="solid"/>
          </a:ln>
        </p:spPr>
      </p:sp>
      <p:pic>
        <p:nvPicPr>
          <p:cNvPr id="6" name="Image 0" descr="preencoded.png">    </p:cNvPr>
          <p:cNvPicPr>
            <a:picLocks noChangeAspect="1"/>
          </p:cNvPicPr>
          <p:nvPr/>
        </p:nvPicPr>
        <p:blipFill>
          <a:blip r:embed="rId1"/>
          <a:stretch>
            <a:fillRect/>
          </a:stretch>
        </p:blipFill>
        <p:spPr>
          <a:xfrm>
            <a:off x="777240" y="1892808"/>
            <a:ext cx="384048" cy="384048"/>
          </a:xfrm>
          <a:prstGeom prst="rect">
            <a:avLst/>
          </a:prstGeom>
        </p:spPr>
      </p:pic>
      <p:sp>
        <p:nvSpPr>
          <p:cNvPr id="7" name="Text 4"/>
          <p:cNvSpPr/>
          <p:nvPr/>
        </p:nvSpPr>
        <p:spPr>
          <a:xfrm>
            <a:off x="1280160" y="1874520"/>
            <a:ext cx="2331720" cy="411480"/>
          </a:xfrm>
          <a:prstGeom prst="rect">
            <a:avLst/>
          </a:prstGeom>
          <a:noFill/>
          <a:ln/>
        </p:spPr>
        <p:txBody>
          <a:bodyPr wrap="square" lIns="0" tIns="0" rIns="0" bIns="0" rtlCol="0" anchor="ctr"/>
          <a:lstStyle/>
          <a:p>
            <a:pPr indent="0" marL="0">
              <a:buNone/>
            </a:pPr>
            <a:r>
              <a:rPr lang="en-US" sz="1700" b="1" dirty="0">
                <a:solidFill>
                  <a:srgbClr val="1E2A44"/>
                </a:solidFill>
                <a:latin typeface="Georgia" pitchFamily="34" charset="0"/>
                <a:ea typeface="Georgia" pitchFamily="34" charset="-122"/>
                <a:cs typeface="Georgia" pitchFamily="34" charset="-120"/>
              </a:rPr>
              <a:t>Agent-as-Code</a:t>
            </a:r>
            <a:endParaRPr lang="en-US" sz="1700" dirty="0"/>
          </a:p>
        </p:txBody>
      </p:sp>
      <p:sp>
        <p:nvSpPr>
          <p:cNvPr id="8" name="Text 5"/>
          <p:cNvSpPr/>
          <p:nvPr/>
        </p:nvSpPr>
        <p:spPr>
          <a:xfrm>
            <a:off x="777240" y="2468880"/>
            <a:ext cx="2697480" cy="640080"/>
          </a:xfrm>
          <a:prstGeom prst="rect">
            <a:avLst/>
          </a:prstGeom>
          <a:noFill/>
          <a:ln/>
        </p:spPr>
        <p:txBody>
          <a:bodyPr wrap="square" lIns="0" tIns="0" rIns="0" bIns="0" rtlCol="0" anchor="t"/>
          <a:lstStyle/>
          <a:p>
            <a:pPr indent="0" marL="0">
              <a:buNone/>
            </a:pPr>
            <a:r>
              <a:rPr lang="en-US" sz="1150" dirty="0">
                <a:solidFill>
                  <a:srgbClr val="5B6B84"/>
                </a:solidFill>
                <a:latin typeface="Calibri" pitchFamily="34" charset="0"/>
                <a:ea typeface="Calibri" pitchFamily="34" charset="-122"/>
                <a:cs typeface="Calibri" pitchFamily="34" charset="-120"/>
              </a:rPr>
              <a:t>Treating agents as software artifacts makes them reviewed, versioned and reversible.</a:t>
            </a:r>
            <a:endParaRPr lang="en-US" sz="1150" dirty="0"/>
          </a:p>
        </p:txBody>
      </p:sp>
      <p:sp>
        <p:nvSpPr>
          <p:cNvPr id="9" name="Shape 6"/>
          <p:cNvSpPr/>
          <p:nvPr/>
        </p:nvSpPr>
        <p:spPr>
          <a:xfrm>
            <a:off x="777240" y="3200400"/>
            <a:ext cx="54864" cy="713232"/>
          </a:xfrm>
          <a:prstGeom prst="rect">
            <a:avLst/>
          </a:prstGeom>
          <a:solidFill>
            <a:srgbClr val="3B4CB8"/>
          </a:solidFill>
          <a:ln/>
        </p:spPr>
      </p:sp>
      <p:sp>
        <p:nvSpPr>
          <p:cNvPr id="10" name="Text 7"/>
          <p:cNvSpPr/>
          <p:nvPr/>
        </p:nvSpPr>
        <p:spPr>
          <a:xfrm>
            <a:off x="941832" y="3200400"/>
            <a:ext cx="2514600" cy="731520"/>
          </a:xfrm>
          <a:prstGeom prst="rect">
            <a:avLst/>
          </a:prstGeom>
          <a:noFill/>
          <a:ln/>
        </p:spPr>
        <p:txBody>
          <a:bodyPr wrap="square" lIns="0" tIns="0" rIns="0" bIns="0" rtlCol="0" anchor="ctr"/>
          <a:lstStyle/>
          <a:p>
            <a:pPr indent="0" marL="0">
              <a:lnSpc>
                <a:spcPct val="95000"/>
              </a:lnSpc>
              <a:buNone/>
            </a:pPr>
            <a:r>
              <a:rPr lang="en-US" sz="1200" b="1" dirty="0">
                <a:solidFill>
                  <a:srgbClr val="1E2A44"/>
                </a:solidFill>
                <a:latin typeface="Calibri" pitchFamily="34" charset="0"/>
                <a:ea typeface="Calibri" pitchFamily="34" charset="-122"/>
                <a:cs typeface="Calibri" pitchFamily="34" charset="-120"/>
              </a:rPr>
              <a:t>Unified Source
</a:t>
            </a:r>
            <a:pPr indent="0" marL="0">
              <a:lnSpc>
                <a:spcPct val="95000"/>
              </a:lnSpc>
              <a:buNone/>
            </a:pPr>
            <a:r>
              <a:rPr lang="en-US" sz="1000" dirty="0">
                <a:solidFill>
                  <a:srgbClr val="5B6B84"/>
                </a:solidFill>
                <a:latin typeface="Calibri" pitchFamily="34" charset="0"/>
                <a:ea typeface="Calibri" pitchFamily="34" charset="-122"/>
                <a:cs typeface="Calibri" pitchFamily="34" charset="-120"/>
              </a:rPr>
              <a:t>Prompts, tools &amp; harness bindings in Git.</a:t>
            </a:r>
            <a:endParaRPr lang="en-US" sz="1200" dirty="0"/>
          </a:p>
        </p:txBody>
      </p:sp>
      <p:sp>
        <p:nvSpPr>
          <p:cNvPr id="11" name="Shape 8"/>
          <p:cNvSpPr/>
          <p:nvPr/>
        </p:nvSpPr>
        <p:spPr>
          <a:xfrm>
            <a:off x="777240" y="4096512"/>
            <a:ext cx="54864" cy="713232"/>
          </a:xfrm>
          <a:prstGeom prst="rect">
            <a:avLst/>
          </a:prstGeom>
          <a:solidFill>
            <a:srgbClr val="3B4CB8"/>
          </a:solidFill>
          <a:ln/>
        </p:spPr>
      </p:sp>
      <p:sp>
        <p:nvSpPr>
          <p:cNvPr id="12" name="Text 9"/>
          <p:cNvSpPr/>
          <p:nvPr/>
        </p:nvSpPr>
        <p:spPr>
          <a:xfrm>
            <a:off x="941832" y="4096512"/>
            <a:ext cx="2514600" cy="731520"/>
          </a:xfrm>
          <a:prstGeom prst="rect">
            <a:avLst/>
          </a:prstGeom>
          <a:noFill/>
          <a:ln/>
        </p:spPr>
        <p:txBody>
          <a:bodyPr wrap="square" lIns="0" tIns="0" rIns="0" bIns="0" rtlCol="0" anchor="ctr"/>
          <a:lstStyle/>
          <a:p>
            <a:pPr indent="0" marL="0">
              <a:lnSpc>
                <a:spcPct val="95000"/>
              </a:lnSpc>
              <a:buNone/>
            </a:pPr>
            <a:r>
              <a:rPr lang="en-US" sz="1200" b="1" dirty="0">
                <a:solidFill>
                  <a:srgbClr val="1E2A44"/>
                </a:solidFill>
                <a:latin typeface="Calibri" pitchFamily="34" charset="0"/>
                <a:ea typeface="Calibri" pitchFamily="34" charset="-122"/>
                <a:cs typeface="Calibri" pitchFamily="34" charset="-120"/>
              </a:rPr>
              <a:t>Environment Parity
</a:t>
            </a:r>
            <a:pPr indent="0" marL="0">
              <a:lnSpc>
                <a:spcPct val="95000"/>
              </a:lnSpc>
              <a:buNone/>
            </a:pPr>
            <a:r>
              <a:rPr lang="en-US" sz="1000" dirty="0">
                <a:solidFill>
                  <a:srgbClr val="5B6B84"/>
                </a:solidFill>
                <a:latin typeface="Calibri" pitchFamily="34" charset="0"/>
                <a:ea typeface="Calibri" pitchFamily="34" charset="-122"/>
                <a:cs typeface="Calibri" pitchFamily="34" charset="-120"/>
              </a:rPr>
              <a:t>One IaC definition across Dev, UAT, Prod.</a:t>
            </a:r>
            <a:endParaRPr lang="en-US" sz="1200" dirty="0"/>
          </a:p>
        </p:txBody>
      </p:sp>
      <p:sp>
        <p:nvSpPr>
          <p:cNvPr id="13" name="Shape 10"/>
          <p:cNvSpPr/>
          <p:nvPr/>
        </p:nvSpPr>
        <p:spPr>
          <a:xfrm>
            <a:off x="777240" y="4992624"/>
            <a:ext cx="54864" cy="713232"/>
          </a:xfrm>
          <a:prstGeom prst="rect">
            <a:avLst/>
          </a:prstGeom>
          <a:solidFill>
            <a:srgbClr val="3B4CB8"/>
          </a:solidFill>
          <a:ln/>
        </p:spPr>
      </p:sp>
      <p:sp>
        <p:nvSpPr>
          <p:cNvPr id="14" name="Text 11"/>
          <p:cNvSpPr/>
          <p:nvPr/>
        </p:nvSpPr>
        <p:spPr>
          <a:xfrm>
            <a:off x="941832" y="4992624"/>
            <a:ext cx="2514600" cy="731520"/>
          </a:xfrm>
          <a:prstGeom prst="rect">
            <a:avLst/>
          </a:prstGeom>
          <a:noFill/>
          <a:ln/>
        </p:spPr>
        <p:txBody>
          <a:bodyPr wrap="square" lIns="0" tIns="0" rIns="0" bIns="0" rtlCol="0" anchor="ctr"/>
          <a:lstStyle/>
          <a:p>
            <a:pPr indent="0" marL="0">
              <a:lnSpc>
                <a:spcPct val="95000"/>
              </a:lnSpc>
              <a:buNone/>
            </a:pPr>
            <a:r>
              <a:rPr lang="en-US" sz="1200" b="1" dirty="0">
                <a:solidFill>
                  <a:srgbClr val="1E2A44"/>
                </a:solidFill>
                <a:latin typeface="Calibri" pitchFamily="34" charset="0"/>
                <a:ea typeface="Calibri" pitchFamily="34" charset="-122"/>
                <a:cs typeface="Calibri" pitchFamily="34" charset="-120"/>
              </a:rPr>
              <a:t>Auditability
</a:t>
            </a:r>
            <a:pPr indent="0" marL="0">
              <a:lnSpc>
                <a:spcPct val="95000"/>
              </a:lnSpc>
              <a:buNone/>
            </a:pPr>
            <a:r>
              <a:rPr lang="en-US" sz="1000" dirty="0">
                <a:solidFill>
                  <a:srgbClr val="5B6B84"/>
                </a:solidFill>
                <a:latin typeface="Calibri" pitchFamily="34" charset="0"/>
                <a:ea typeface="Calibri" pitchFamily="34" charset="-122"/>
                <a:cs typeface="Calibri" pitchFamily="34" charset="-120"/>
              </a:rPr>
              <a:t>Direct linkage: trace → commit → deployment.</a:t>
            </a:r>
            <a:endParaRPr lang="en-US" sz="1200" dirty="0"/>
          </a:p>
        </p:txBody>
      </p:sp>
      <p:sp>
        <p:nvSpPr>
          <p:cNvPr id="15" name="Shape 12"/>
          <p:cNvSpPr/>
          <p:nvPr/>
        </p:nvSpPr>
        <p:spPr>
          <a:xfrm>
            <a:off x="4069080" y="1600200"/>
            <a:ext cx="2417978" cy="1280160"/>
          </a:xfrm>
          <a:prstGeom prst="rect">
            <a:avLst/>
          </a:prstGeom>
          <a:solidFill>
            <a:srgbClr val="FFFFFF"/>
          </a:solidFill>
          <a:ln w="12700">
            <a:solidFill>
              <a:srgbClr val="E2E8F2"/>
            </a:solidFill>
            <a:prstDash val="solid"/>
          </a:ln>
        </p:spPr>
      </p:sp>
      <p:sp>
        <p:nvSpPr>
          <p:cNvPr id="16" name="Shape 13"/>
          <p:cNvSpPr/>
          <p:nvPr/>
        </p:nvSpPr>
        <p:spPr>
          <a:xfrm>
            <a:off x="4233672" y="1764792"/>
            <a:ext cx="384048" cy="256032"/>
          </a:xfrm>
          <a:prstGeom prst="roundRect">
            <a:avLst>
              <a:gd name="adj" fmla="val 21429"/>
            </a:avLst>
          </a:prstGeom>
          <a:solidFill>
            <a:srgbClr val="3B4CB8"/>
          </a:solidFill>
          <a:ln/>
        </p:spPr>
      </p:sp>
      <p:sp>
        <p:nvSpPr>
          <p:cNvPr id="17" name="Text 14"/>
          <p:cNvSpPr/>
          <p:nvPr/>
        </p:nvSpPr>
        <p:spPr>
          <a:xfrm>
            <a:off x="4233672" y="1764792"/>
            <a:ext cx="3840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pic>
        <p:nvPicPr>
          <p:cNvPr id="18" name="Image 1" descr="preencoded.png">    </p:cNvPr>
          <p:cNvPicPr>
            <a:picLocks noChangeAspect="1"/>
          </p:cNvPicPr>
          <p:nvPr/>
        </p:nvPicPr>
        <p:blipFill>
          <a:blip r:embed="rId2"/>
          <a:stretch>
            <a:fillRect/>
          </a:stretch>
        </p:blipFill>
        <p:spPr>
          <a:xfrm>
            <a:off x="4727448" y="1783080"/>
            <a:ext cx="219456" cy="219456"/>
          </a:xfrm>
          <a:prstGeom prst="rect">
            <a:avLst/>
          </a:prstGeom>
        </p:spPr>
      </p:pic>
      <p:sp>
        <p:nvSpPr>
          <p:cNvPr id="19" name="Text 15"/>
          <p:cNvSpPr/>
          <p:nvPr/>
        </p:nvSpPr>
        <p:spPr>
          <a:xfrm>
            <a:off x="5001768" y="1746504"/>
            <a:ext cx="1412138" cy="292608"/>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Build Time</a:t>
            </a:r>
            <a:endParaRPr lang="en-US" sz="1200" dirty="0"/>
          </a:p>
        </p:txBody>
      </p:sp>
      <p:sp>
        <p:nvSpPr>
          <p:cNvPr id="20" name="Text 16"/>
          <p:cNvSpPr/>
          <p:nvPr/>
        </p:nvSpPr>
        <p:spPr>
          <a:xfrm>
            <a:off x="4233672" y="2112264"/>
            <a:ext cx="2107082" cy="640080"/>
          </a:xfrm>
          <a:prstGeom prst="rect">
            <a:avLst/>
          </a:prstGeom>
          <a:noFill/>
          <a:ln/>
        </p:spPr>
        <p:txBody>
          <a:bodyPr wrap="square" lIns="0" tIns="0" rIns="0" bIns="0" rtlCol="0" anchor="t"/>
          <a:lstStyle/>
          <a:p>
            <a:pPr indent="0" marL="0">
              <a:buNone/>
            </a:pPr>
            <a:r>
              <a:rPr lang="en-US" sz="950" dirty="0">
                <a:solidFill>
                  <a:srgbClr val="5B6B84"/>
                </a:solidFill>
                <a:latin typeface="Calibri" pitchFamily="34" charset="0"/>
                <a:ea typeface="Calibri" pitchFamily="34" charset="-122"/>
                <a:cs typeface="Calibri" pitchFamily="34" charset="-120"/>
              </a:rPr>
              <a:t>Compose harness, prompts &amp; skill bindings.</a:t>
            </a:r>
            <a:endParaRPr lang="en-US" sz="950" dirty="0"/>
          </a:p>
        </p:txBody>
      </p:sp>
      <p:sp>
        <p:nvSpPr>
          <p:cNvPr id="21" name="Shape 17"/>
          <p:cNvSpPr/>
          <p:nvPr/>
        </p:nvSpPr>
        <p:spPr>
          <a:xfrm>
            <a:off x="6669938" y="1600200"/>
            <a:ext cx="2417978" cy="1280160"/>
          </a:xfrm>
          <a:prstGeom prst="rect">
            <a:avLst/>
          </a:prstGeom>
          <a:solidFill>
            <a:srgbClr val="FFFFFF"/>
          </a:solidFill>
          <a:ln w="12700">
            <a:solidFill>
              <a:srgbClr val="E2E8F2"/>
            </a:solidFill>
            <a:prstDash val="solid"/>
          </a:ln>
        </p:spPr>
      </p:sp>
      <p:sp>
        <p:nvSpPr>
          <p:cNvPr id="22" name="Shape 18"/>
          <p:cNvSpPr/>
          <p:nvPr/>
        </p:nvSpPr>
        <p:spPr>
          <a:xfrm>
            <a:off x="6834530" y="1764792"/>
            <a:ext cx="384048" cy="256032"/>
          </a:xfrm>
          <a:prstGeom prst="roundRect">
            <a:avLst>
              <a:gd name="adj" fmla="val 21429"/>
            </a:avLst>
          </a:prstGeom>
          <a:solidFill>
            <a:srgbClr val="3B4CB8"/>
          </a:solidFill>
          <a:ln/>
        </p:spPr>
      </p:sp>
      <p:sp>
        <p:nvSpPr>
          <p:cNvPr id="23" name="Text 19"/>
          <p:cNvSpPr/>
          <p:nvPr/>
        </p:nvSpPr>
        <p:spPr>
          <a:xfrm>
            <a:off x="6834530" y="1764792"/>
            <a:ext cx="3840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pic>
        <p:nvPicPr>
          <p:cNvPr id="24" name="Image 2" descr="preencoded.png">    </p:cNvPr>
          <p:cNvPicPr>
            <a:picLocks noChangeAspect="1"/>
          </p:cNvPicPr>
          <p:nvPr/>
        </p:nvPicPr>
        <p:blipFill>
          <a:blip r:embed="rId3"/>
          <a:stretch>
            <a:fillRect/>
          </a:stretch>
        </p:blipFill>
        <p:spPr>
          <a:xfrm>
            <a:off x="7328306" y="1783080"/>
            <a:ext cx="219456" cy="219456"/>
          </a:xfrm>
          <a:prstGeom prst="rect">
            <a:avLst/>
          </a:prstGeom>
        </p:spPr>
      </p:pic>
      <p:sp>
        <p:nvSpPr>
          <p:cNvPr id="25" name="Text 20"/>
          <p:cNvSpPr/>
          <p:nvPr/>
        </p:nvSpPr>
        <p:spPr>
          <a:xfrm>
            <a:off x="7602626" y="1746504"/>
            <a:ext cx="1412138" cy="292608"/>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Golden Path CI</a:t>
            </a:r>
            <a:endParaRPr lang="en-US" sz="1200" dirty="0"/>
          </a:p>
        </p:txBody>
      </p:sp>
      <p:sp>
        <p:nvSpPr>
          <p:cNvPr id="26" name="Text 21"/>
          <p:cNvSpPr/>
          <p:nvPr/>
        </p:nvSpPr>
        <p:spPr>
          <a:xfrm>
            <a:off x="6834530" y="2112264"/>
            <a:ext cx="2107082" cy="640080"/>
          </a:xfrm>
          <a:prstGeom prst="rect">
            <a:avLst/>
          </a:prstGeom>
          <a:noFill/>
          <a:ln/>
        </p:spPr>
        <p:txBody>
          <a:bodyPr wrap="square" lIns="0" tIns="0" rIns="0" bIns="0" rtlCol="0" anchor="t"/>
          <a:lstStyle/>
          <a:p>
            <a:pPr indent="0" marL="0">
              <a:buNone/>
            </a:pPr>
            <a:r>
              <a:rPr lang="en-US" sz="950" dirty="0">
                <a:solidFill>
                  <a:srgbClr val="5B6B84"/>
                </a:solidFill>
                <a:latin typeface="Calibri" pitchFamily="34" charset="0"/>
                <a:ea typeface="Calibri" pitchFamily="34" charset="-122"/>
                <a:cs typeface="Calibri" pitchFamily="34" charset="-120"/>
              </a:rPr>
              <a:t>Security scans, unit tests, registry publish.</a:t>
            </a:r>
            <a:endParaRPr lang="en-US" sz="950" dirty="0"/>
          </a:p>
        </p:txBody>
      </p:sp>
      <p:sp>
        <p:nvSpPr>
          <p:cNvPr id="27" name="Shape 22"/>
          <p:cNvSpPr/>
          <p:nvPr/>
        </p:nvSpPr>
        <p:spPr>
          <a:xfrm>
            <a:off x="9270797" y="1600200"/>
            <a:ext cx="2417978" cy="1280160"/>
          </a:xfrm>
          <a:prstGeom prst="rect">
            <a:avLst/>
          </a:prstGeom>
          <a:solidFill>
            <a:srgbClr val="FFFFFF"/>
          </a:solidFill>
          <a:ln w="12700">
            <a:solidFill>
              <a:srgbClr val="E2E8F2"/>
            </a:solidFill>
            <a:prstDash val="solid"/>
          </a:ln>
        </p:spPr>
      </p:sp>
      <p:sp>
        <p:nvSpPr>
          <p:cNvPr id="28" name="Shape 23"/>
          <p:cNvSpPr/>
          <p:nvPr/>
        </p:nvSpPr>
        <p:spPr>
          <a:xfrm>
            <a:off x="9435389" y="1764792"/>
            <a:ext cx="384048" cy="256032"/>
          </a:xfrm>
          <a:prstGeom prst="roundRect">
            <a:avLst>
              <a:gd name="adj" fmla="val 21429"/>
            </a:avLst>
          </a:prstGeom>
          <a:solidFill>
            <a:srgbClr val="3B4CB8"/>
          </a:solidFill>
          <a:ln/>
        </p:spPr>
      </p:sp>
      <p:sp>
        <p:nvSpPr>
          <p:cNvPr id="29" name="Text 24"/>
          <p:cNvSpPr/>
          <p:nvPr/>
        </p:nvSpPr>
        <p:spPr>
          <a:xfrm>
            <a:off x="9435389" y="1764792"/>
            <a:ext cx="3840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pic>
        <p:nvPicPr>
          <p:cNvPr id="30" name="Image 3" descr="preencoded.png">    </p:cNvPr>
          <p:cNvPicPr>
            <a:picLocks noChangeAspect="1"/>
          </p:cNvPicPr>
          <p:nvPr/>
        </p:nvPicPr>
        <p:blipFill>
          <a:blip r:embed="rId4"/>
          <a:stretch>
            <a:fillRect/>
          </a:stretch>
        </p:blipFill>
        <p:spPr>
          <a:xfrm>
            <a:off x="9929165" y="1783080"/>
            <a:ext cx="219456" cy="219456"/>
          </a:xfrm>
          <a:prstGeom prst="rect">
            <a:avLst/>
          </a:prstGeom>
        </p:spPr>
      </p:pic>
      <p:sp>
        <p:nvSpPr>
          <p:cNvPr id="31" name="Text 25"/>
          <p:cNvSpPr/>
          <p:nvPr/>
        </p:nvSpPr>
        <p:spPr>
          <a:xfrm>
            <a:off x="10203485" y="1746504"/>
            <a:ext cx="1412138" cy="292608"/>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CD Non-Prod</a:t>
            </a:r>
            <a:endParaRPr lang="en-US" sz="1200" dirty="0"/>
          </a:p>
        </p:txBody>
      </p:sp>
      <p:sp>
        <p:nvSpPr>
          <p:cNvPr id="32" name="Text 26"/>
          <p:cNvSpPr/>
          <p:nvPr/>
        </p:nvSpPr>
        <p:spPr>
          <a:xfrm>
            <a:off x="9435389" y="2112264"/>
            <a:ext cx="2107082" cy="640080"/>
          </a:xfrm>
          <a:prstGeom prst="rect">
            <a:avLst/>
          </a:prstGeom>
          <a:noFill/>
          <a:ln/>
        </p:spPr>
        <p:txBody>
          <a:bodyPr wrap="square" lIns="0" tIns="0" rIns="0" bIns="0" rtlCol="0" anchor="t"/>
          <a:lstStyle/>
          <a:p>
            <a:pPr indent="0" marL="0">
              <a:buNone/>
            </a:pPr>
            <a:r>
              <a:rPr lang="en-US" sz="950" dirty="0">
                <a:solidFill>
                  <a:srgbClr val="5B6B84"/>
                </a:solidFill>
                <a:latin typeface="Calibri" pitchFamily="34" charset="0"/>
                <a:ea typeface="Calibri" pitchFamily="34" charset="-122"/>
                <a:cs typeface="Calibri" pitchFamily="34" charset="-120"/>
              </a:rPr>
              <a:t>Automated deploy to Dev/UAT, E2E tests.</a:t>
            </a:r>
            <a:endParaRPr lang="en-US" sz="950" dirty="0"/>
          </a:p>
        </p:txBody>
      </p:sp>
      <p:sp>
        <p:nvSpPr>
          <p:cNvPr id="33" name="Shape 27"/>
          <p:cNvSpPr/>
          <p:nvPr/>
        </p:nvSpPr>
        <p:spPr>
          <a:xfrm>
            <a:off x="4069080" y="3044952"/>
            <a:ext cx="2417978" cy="1280160"/>
          </a:xfrm>
          <a:prstGeom prst="rect">
            <a:avLst/>
          </a:prstGeom>
          <a:solidFill>
            <a:srgbClr val="E7F4EE"/>
          </a:solidFill>
          <a:ln w="19050">
            <a:solidFill>
              <a:srgbClr val="1F9D6B"/>
            </a:solidFill>
            <a:prstDash val="solid"/>
          </a:ln>
        </p:spPr>
      </p:sp>
      <p:sp>
        <p:nvSpPr>
          <p:cNvPr id="34" name="Shape 28"/>
          <p:cNvSpPr/>
          <p:nvPr/>
        </p:nvSpPr>
        <p:spPr>
          <a:xfrm>
            <a:off x="4233672" y="3209544"/>
            <a:ext cx="384048" cy="256032"/>
          </a:xfrm>
          <a:prstGeom prst="roundRect">
            <a:avLst>
              <a:gd name="adj" fmla="val 21429"/>
            </a:avLst>
          </a:prstGeom>
          <a:solidFill>
            <a:srgbClr val="1F9D6B"/>
          </a:solidFill>
          <a:ln/>
        </p:spPr>
      </p:sp>
      <p:sp>
        <p:nvSpPr>
          <p:cNvPr id="35" name="Text 29"/>
          <p:cNvSpPr/>
          <p:nvPr/>
        </p:nvSpPr>
        <p:spPr>
          <a:xfrm>
            <a:off x="4233672" y="3209544"/>
            <a:ext cx="3840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pic>
        <p:nvPicPr>
          <p:cNvPr id="36" name="Image 4" descr="preencoded.png">    </p:cNvPr>
          <p:cNvPicPr>
            <a:picLocks noChangeAspect="1"/>
          </p:cNvPicPr>
          <p:nvPr/>
        </p:nvPicPr>
        <p:blipFill>
          <a:blip r:embed="rId5"/>
          <a:stretch>
            <a:fillRect/>
          </a:stretch>
        </p:blipFill>
        <p:spPr>
          <a:xfrm>
            <a:off x="4727448" y="3227832"/>
            <a:ext cx="219456" cy="219456"/>
          </a:xfrm>
          <a:prstGeom prst="rect">
            <a:avLst/>
          </a:prstGeom>
        </p:spPr>
      </p:pic>
      <p:sp>
        <p:nvSpPr>
          <p:cNvPr id="37" name="Text 30"/>
          <p:cNvSpPr/>
          <p:nvPr/>
        </p:nvSpPr>
        <p:spPr>
          <a:xfrm>
            <a:off x="5001768" y="3191256"/>
            <a:ext cx="1412138" cy="292608"/>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Offline Evaluation</a:t>
            </a:r>
            <a:endParaRPr lang="en-US" sz="1200" dirty="0"/>
          </a:p>
        </p:txBody>
      </p:sp>
      <p:sp>
        <p:nvSpPr>
          <p:cNvPr id="38" name="Text 31"/>
          <p:cNvSpPr/>
          <p:nvPr/>
        </p:nvSpPr>
        <p:spPr>
          <a:xfrm>
            <a:off x="4233672" y="3557016"/>
            <a:ext cx="2107082" cy="640080"/>
          </a:xfrm>
          <a:prstGeom prst="rect">
            <a:avLst/>
          </a:prstGeom>
          <a:noFill/>
          <a:ln/>
        </p:spPr>
        <p:txBody>
          <a:bodyPr wrap="square" lIns="0" tIns="0" rIns="0" bIns="0" rtlCol="0" anchor="t"/>
          <a:lstStyle/>
          <a:p>
            <a:pPr indent="0" marL="0">
              <a:buNone/>
            </a:pPr>
            <a:r>
              <a:rPr lang="en-US" sz="950" dirty="0">
                <a:solidFill>
                  <a:srgbClr val="5B6B84"/>
                </a:solidFill>
                <a:latin typeface="Calibri" pitchFamily="34" charset="0"/>
                <a:ea typeface="Calibri" pitchFamily="34" charset="-122"/>
                <a:cs typeface="Calibri" pitchFamily="34" charset="-120"/>
              </a:rPr>
              <a:t>LLM-as-judge + golden datasets = promotion gate.</a:t>
            </a:r>
            <a:endParaRPr lang="en-US" sz="950" dirty="0"/>
          </a:p>
        </p:txBody>
      </p:sp>
      <p:sp>
        <p:nvSpPr>
          <p:cNvPr id="39" name="Shape 32"/>
          <p:cNvSpPr/>
          <p:nvPr/>
        </p:nvSpPr>
        <p:spPr>
          <a:xfrm>
            <a:off x="6669938" y="3044952"/>
            <a:ext cx="2417978" cy="1280160"/>
          </a:xfrm>
          <a:prstGeom prst="rect">
            <a:avLst/>
          </a:prstGeom>
          <a:solidFill>
            <a:srgbClr val="FFFFFF"/>
          </a:solidFill>
          <a:ln w="12700">
            <a:solidFill>
              <a:srgbClr val="E2E8F2"/>
            </a:solidFill>
            <a:prstDash val="solid"/>
          </a:ln>
        </p:spPr>
      </p:sp>
      <p:sp>
        <p:nvSpPr>
          <p:cNvPr id="40" name="Shape 33"/>
          <p:cNvSpPr/>
          <p:nvPr/>
        </p:nvSpPr>
        <p:spPr>
          <a:xfrm>
            <a:off x="6834530" y="3209544"/>
            <a:ext cx="384048" cy="256032"/>
          </a:xfrm>
          <a:prstGeom prst="roundRect">
            <a:avLst>
              <a:gd name="adj" fmla="val 21429"/>
            </a:avLst>
          </a:prstGeom>
          <a:solidFill>
            <a:srgbClr val="3B4CB8"/>
          </a:solidFill>
          <a:ln/>
        </p:spPr>
      </p:sp>
      <p:sp>
        <p:nvSpPr>
          <p:cNvPr id="41" name="Text 34"/>
          <p:cNvSpPr/>
          <p:nvPr/>
        </p:nvSpPr>
        <p:spPr>
          <a:xfrm>
            <a:off x="6834530" y="3209544"/>
            <a:ext cx="3840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pic>
        <p:nvPicPr>
          <p:cNvPr id="42" name="Image 5" descr="preencoded.png">    </p:cNvPr>
          <p:cNvPicPr>
            <a:picLocks noChangeAspect="1"/>
          </p:cNvPicPr>
          <p:nvPr/>
        </p:nvPicPr>
        <p:blipFill>
          <a:blip r:embed="rId6"/>
          <a:stretch>
            <a:fillRect/>
          </a:stretch>
        </p:blipFill>
        <p:spPr>
          <a:xfrm>
            <a:off x="7328306" y="3227832"/>
            <a:ext cx="219456" cy="219456"/>
          </a:xfrm>
          <a:prstGeom prst="rect">
            <a:avLst/>
          </a:prstGeom>
        </p:spPr>
      </p:pic>
      <p:sp>
        <p:nvSpPr>
          <p:cNvPr id="43" name="Text 35"/>
          <p:cNvSpPr/>
          <p:nvPr/>
        </p:nvSpPr>
        <p:spPr>
          <a:xfrm>
            <a:off x="7602626" y="3191256"/>
            <a:ext cx="1412138" cy="292608"/>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CD Production</a:t>
            </a:r>
            <a:endParaRPr lang="en-US" sz="1200" dirty="0"/>
          </a:p>
        </p:txBody>
      </p:sp>
      <p:sp>
        <p:nvSpPr>
          <p:cNvPr id="44" name="Text 36"/>
          <p:cNvSpPr/>
          <p:nvPr/>
        </p:nvSpPr>
        <p:spPr>
          <a:xfrm>
            <a:off x="6834530" y="3557016"/>
            <a:ext cx="2107082" cy="640080"/>
          </a:xfrm>
          <a:prstGeom prst="rect">
            <a:avLst/>
          </a:prstGeom>
          <a:noFill/>
          <a:ln/>
        </p:spPr>
        <p:txBody>
          <a:bodyPr wrap="square" lIns="0" tIns="0" rIns="0" bIns="0" rtlCol="0" anchor="t"/>
          <a:lstStyle/>
          <a:p>
            <a:pPr indent="0" marL="0">
              <a:buNone/>
            </a:pPr>
            <a:r>
              <a:rPr lang="en-US" sz="950" dirty="0">
                <a:solidFill>
                  <a:srgbClr val="5B6B84"/>
                </a:solidFill>
                <a:latin typeface="Calibri" pitchFamily="34" charset="0"/>
                <a:ea typeface="Calibri" pitchFamily="34" charset="-122"/>
                <a:cs typeface="Calibri" pitchFamily="34" charset="-120"/>
              </a:rPr>
              <a:t>Canary / blue-green with human-in-the-loop.</a:t>
            </a:r>
            <a:endParaRPr lang="en-US" sz="950" dirty="0"/>
          </a:p>
        </p:txBody>
      </p:sp>
      <p:sp>
        <p:nvSpPr>
          <p:cNvPr id="45" name="Shape 37"/>
          <p:cNvSpPr/>
          <p:nvPr/>
        </p:nvSpPr>
        <p:spPr>
          <a:xfrm>
            <a:off x="9270797" y="3044952"/>
            <a:ext cx="2417978" cy="1280160"/>
          </a:xfrm>
          <a:prstGeom prst="rect">
            <a:avLst/>
          </a:prstGeom>
          <a:solidFill>
            <a:srgbClr val="FFFFFF"/>
          </a:solidFill>
          <a:ln w="12700">
            <a:solidFill>
              <a:srgbClr val="E2E8F2"/>
            </a:solidFill>
            <a:prstDash val="solid"/>
          </a:ln>
        </p:spPr>
      </p:sp>
      <p:sp>
        <p:nvSpPr>
          <p:cNvPr id="46" name="Shape 38"/>
          <p:cNvSpPr/>
          <p:nvPr/>
        </p:nvSpPr>
        <p:spPr>
          <a:xfrm>
            <a:off x="9435389" y="3209544"/>
            <a:ext cx="384048" cy="256032"/>
          </a:xfrm>
          <a:prstGeom prst="roundRect">
            <a:avLst>
              <a:gd name="adj" fmla="val 21429"/>
            </a:avLst>
          </a:prstGeom>
          <a:solidFill>
            <a:srgbClr val="3B4CB8"/>
          </a:solidFill>
          <a:ln/>
        </p:spPr>
      </p:sp>
      <p:sp>
        <p:nvSpPr>
          <p:cNvPr id="47" name="Text 39"/>
          <p:cNvSpPr/>
          <p:nvPr/>
        </p:nvSpPr>
        <p:spPr>
          <a:xfrm>
            <a:off x="9435389" y="3209544"/>
            <a:ext cx="3840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pic>
        <p:nvPicPr>
          <p:cNvPr id="48" name="Image 6" descr="preencoded.png">    </p:cNvPr>
          <p:cNvPicPr>
            <a:picLocks noChangeAspect="1"/>
          </p:cNvPicPr>
          <p:nvPr/>
        </p:nvPicPr>
        <p:blipFill>
          <a:blip r:embed="rId7"/>
          <a:stretch>
            <a:fillRect/>
          </a:stretch>
        </p:blipFill>
        <p:spPr>
          <a:xfrm>
            <a:off x="9929165" y="3227832"/>
            <a:ext cx="219456" cy="219456"/>
          </a:xfrm>
          <a:prstGeom prst="rect">
            <a:avLst/>
          </a:prstGeom>
        </p:spPr>
      </p:pic>
      <p:sp>
        <p:nvSpPr>
          <p:cNvPr id="49" name="Text 40"/>
          <p:cNvSpPr/>
          <p:nvPr/>
        </p:nvSpPr>
        <p:spPr>
          <a:xfrm>
            <a:off x="10203485" y="3191256"/>
            <a:ext cx="1412138" cy="292608"/>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Online Evaluation</a:t>
            </a:r>
            <a:endParaRPr lang="en-US" sz="1200" dirty="0"/>
          </a:p>
        </p:txBody>
      </p:sp>
      <p:sp>
        <p:nvSpPr>
          <p:cNvPr id="50" name="Text 41"/>
          <p:cNvSpPr/>
          <p:nvPr/>
        </p:nvSpPr>
        <p:spPr>
          <a:xfrm>
            <a:off x="9435389" y="3557016"/>
            <a:ext cx="2107082" cy="640080"/>
          </a:xfrm>
          <a:prstGeom prst="rect">
            <a:avLst/>
          </a:prstGeom>
          <a:noFill/>
          <a:ln/>
        </p:spPr>
        <p:txBody>
          <a:bodyPr wrap="square" lIns="0" tIns="0" rIns="0" bIns="0" rtlCol="0" anchor="t"/>
          <a:lstStyle/>
          <a:p>
            <a:pPr indent="0" marL="0">
              <a:buNone/>
            </a:pPr>
            <a:r>
              <a:rPr lang="en-US" sz="950" dirty="0">
                <a:solidFill>
                  <a:srgbClr val="5B6B84"/>
                </a:solidFill>
                <a:latin typeface="Calibri" pitchFamily="34" charset="0"/>
                <a:ea typeface="Calibri" pitchFamily="34" charset="-122"/>
                <a:cs typeface="Calibri" pitchFamily="34" charset="-120"/>
              </a:rPr>
              <a:t>Real-time traffic scoring &amp; threshold alerts.</a:t>
            </a:r>
            <a:endParaRPr lang="en-US" sz="950" dirty="0"/>
          </a:p>
        </p:txBody>
      </p:sp>
      <p:sp>
        <p:nvSpPr>
          <p:cNvPr id="51" name="Shape 42"/>
          <p:cNvSpPr/>
          <p:nvPr/>
        </p:nvSpPr>
        <p:spPr>
          <a:xfrm>
            <a:off x="4069080" y="4489704"/>
            <a:ext cx="2417978" cy="1280160"/>
          </a:xfrm>
          <a:prstGeom prst="rect">
            <a:avLst/>
          </a:prstGeom>
          <a:solidFill>
            <a:srgbClr val="FFFFFF"/>
          </a:solidFill>
          <a:ln w="12700">
            <a:solidFill>
              <a:srgbClr val="E2E8F2"/>
            </a:solidFill>
            <a:prstDash val="solid"/>
          </a:ln>
        </p:spPr>
      </p:sp>
      <p:sp>
        <p:nvSpPr>
          <p:cNvPr id="52" name="Shape 43"/>
          <p:cNvSpPr/>
          <p:nvPr/>
        </p:nvSpPr>
        <p:spPr>
          <a:xfrm>
            <a:off x="4233672" y="4654296"/>
            <a:ext cx="384048" cy="256032"/>
          </a:xfrm>
          <a:prstGeom prst="roundRect">
            <a:avLst>
              <a:gd name="adj" fmla="val 21429"/>
            </a:avLst>
          </a:prstGeom>
          <a:solidFill>
            <a:srgbClr val="3B4CB8"/>
          </a:solidFill>
          <a:ln/>
        </p:spPr>
      </p:sp>
      <p:sp>
        <p:nvSpPr>
          <p:cNvPr id="53" name="Text 44"/>
          <p:cNvSpPr/>
          <p:nvPr/>
        </p:nvSpPr>
        <p:spPr>
          <a:xfrm>
            <a:off x="4233672" y="4654296"/>
            <a:ext cx="3840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pic>
        <p:nvPicPr>
          <p:cNvPr id="54" name="Image 7" descr="preencoded.png">    </p:cNvPr>
          <p:cNvPicPr>
            <a:picLocks noChangeAspect="1"/>
          </p:cNvPicPr>
          <p:nvPr/>
        </p:nvPicPr>
        <p:blipFill>
          <a:blip r:embed="rId8"/>
          <a:stretch>
            <a:fillRect/>
          </a:stretch>
        </p:blipFill>
        <p:spPr>
          <a:xfrm>
            <a:off x="4727448" y="4672584"/>
            <a:ext cx="219456" cy="219456"/>
          </a:xfrm>
          <a:prstGeom prst="rect">
            <a:avLst/>
          </a:prstGeom>
        </p:spPr>
      </p:pic>
      <p:sp>
        <p:nvSpPr>
          <p:cNvPr id="55" name="Text 45"/>
          <p:cNvSpPr/>
          <p:nvPr/>
        </p:nvSpPr>
        <p:spPr>
          <a:xfrm>
            <a:off x="5001768" y="4636008"/>
            <a:ext cx="1412138" cy="292608"/>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Feedback Loop</a:t>
            </a:r>
            <a:endParaRPr lang="en-US" sz="1200" dirty="0"/>
          </a:p>
        </p:txBody>
      </p:sp>
      <p:sp>
        <p:nvSpPr>
          <p:cNvPr id="56" name="Text 46"/>
          <p:cNvSpPr/>
          <p:nvPr/>
        </p:nvSpPr>
        <p:spPr>
          <a:xfrm>
            <a:off x="4233672" y="5001768"/>
            <a:ext cx="2107082" cy="640080"/>
          </a:xfrm>
          <a:prstGeom prst="rect">
            <a:avLst/>
          </a:prstGeom>
          <a:noFill/>
          <a:ln/>
        </p:spPr>
        <p:txBody>
          <a:bodyPr wrap="square" lIns="0" tIns="0" rIns="0" bIns="0" rtlCol="0" anchor="t"/>
          <a:lstStyle/>
          <a:p>
            <a:pPr indent="0" marL="0">
              <a:buNone/>
            </a:pPr>
            <a:r>
              <a:rPr lang="en-US" sz="950" dirty="0">
                <a:solidFill>
                  <a:srgbClr val="5B6B84"/>
                </a:solidFill>
                <a:latin typeface="Calibri" pitchFamily="34" charset="0"/>
                <a:ea typeface="Calibri" pitchFamily="34" charset="-122"/>
                <a:cs typeface="Calibri" pitchFamily="34" charset="-120"/>
              </a:rPr>
              <a:t>User feedback + SME review → improvements.</a:t>
            </a:r>
            <a:endParaRPr lang="en-US" sz="950" dirty="0"/>
          </a:p>
        </p:txBody>
      </p:sp>
      <p:sp>
        <p:nvSpPr>
          <p:cNvPr id="57" name="Shape 47"/>
          <p:cNvSpPr/>
          <p:nvPr/>
        </p:nvSpPr>
        <p:spPr>
          <a:xfrm>
            <a:off x="9270797" y="4489704"/>
            <a:ext cx="2417978" cy="1280160"/>
          </a:xfrm>
          <a:prstGeom prst="rect">
            <a:avLst/>
          </a:prstGeom>
          <a:solidFill>
            <a:srgbClr val="3B4CB8"/>
          </a:solidFill>
          <a:ln/>
        </p:spPr>
      </p:sp>
      <p:sp>
        <p:nvSpPr>
          <p:cNvPr id="58" name="Text 48"/>
          <p:cNvSpPr/>
          <p:nvPr/>
        </p:nvSpPr>
        <p:spPr>
          <a:xfrm>
            <a:off x="9270797" y="4809744"/>
            <a:ext cx="2417978"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AALOE</a:t>
            </a:r>
            <a:endParaRPr lang="en-US" sz="2000" dirty="0"/>
          </a:p>
        </p:txBody>
      </p:sp>
      <p:sp>
        <p:nvSpPr>
          <p:cNvPr id="59" name="Text 49"/>
          <p:cNvSpPr/>
          <p:nvPr/>
        </p:nvSpPr>
        <p:spPr>
          <a:xfrm>
            <a:off x="9270797" y="5239512"/>
            <a:ext cx="2417978" cy="274320"/>
          </a:xfrm>
          <a:prstGeom prst="rect">
            <a:avLst/>
          </a:prstGeom>
          <a:noFill/>
          <a:ln/>
        </p:spPr>
        <p:txBody>
          <a:bodyPr wrap="square" lIns="0" tIns="0" rIns="0" bIns="0" rtlCol="0" anchor="ctr"/>
          <a:lstStyle/>
          <a:p>
            <a:pPr algn="ctr" indent="0" marL="0">
              <a:buNone/>
            </a:pPr>
            <a:r>
              <a:rPr lang="en-US" sz="900" b="1" spc="100" kern="0" dirty="0">
                <a:solidFill>
                  <a:srgbClr val="CFE0FF"/>
                </a:solidFill>
                <a:latin typeface="Calibri" pitchFamily="34" charset="0"/>
                <a:ea typeface="Calibri" pitchFamily="34" charset="-122"/>
                <a:cs typeface="Calibri" pitchFamily="34" charset="-120"/>
              </a:rPr>
              <a:t>DEVELOP • MEASURE • IMPROVE</a:t>
            </a:r>
            <a:endParaRPr lang="en-US" sz="900" dirty="0"/>
          </a:p>
        </p:txBody>
      </p:sp>
      <p:sp>
        <p:nvSpPr>
          <p:cNvPr id="60" name="Text 50"/>
          <p:cNvSpPr/>
          <p:nvPr/>
        </p:nvSpPr>
        <p:spPr>
          <a:xfrm>
            <a:off x="502920" y="6492240"/>
            <a:ext cx="8229600" cy="256032"/>
          </a:xfrm>
          <a:prstGeom prst="rect">
            <a:avLst/>
          </a:prstGeom>
          <a:noFill/>
          <a:ln/>
        </p:spPr>
        <p:txBody>
          <a:bodyPr wrap="square" lIns="0" tIns="0" rIns="0" bIns="0" rtlCol="0" anchor="ctr"/>
          <a:lstStyle/>
          <a:p>
            <a:pPr indent="0" marL="0">
              <a:buNone/>
            </a:pPr>
            <a:r>
              <a:rPr lang="en-US" sz="800" dirty="0">
                <a:solidFill>
                  <a:srgbClr val="667891"/>
                </a:solidFill>
                <a:latin typeface="Calibri" pitchFamily="34" charset="0"/>
                <a:ea typeface="Calibri" pitchFamily="34" charset="-122"/>
                <a:cs typeface="Calibri" pitchFamily="34" charset="-120"/>
              </a:rPr>
              <a:t>Enterprise Agentic AI Platform</a:t>
            </a:r>
            <a:pPr indent="0" marL="0">
              <a:buNone/>
            </a:pPr>
            <a:r>
              <a:rPr lang="en-US" sz="800" dirty="0">
                <a:solidFill>
                  <a:srgbClr val="3B4CB8"/>
                </a:solidFill>
                <a:latin typeface="Calibri" pitchFamily="34" charset="0"/>
                <a:ea typeface="Calibri" pitchFamily="34" charset="-122"/>
                <a:cs typeface="Calibri" pitchFamily="34" charset="-120"/>
              </a:rPr>
              <a:t>   ·   How — golden path / AALOE</a:t>
            </a:r>
            <a:endParaRPr lang="en-US" sz="800" dirty="0"/>
          </a:p>
        </p:txBody>
      </p:sp>
      <p:sp>
        <p:nvSpPr>
          <p:cNvPr id="61" name="Text 51"/>
          <p:cNvSpPr/>
          <p:nvPr/>
        </p:nvSpPr>
        <p:spPr>
          <a:xfrm>
            <a:off x="11231575" y="6492240"/>
            <a:ext cx="457200" cy="256032"/>
          </a:xfrm>
          <a:prstGeom prst="rect">
            <a:avLst/>
          </a:prstGeom>
          <a:noFill/>
          <a:ln/>
        </p:spPr>
        <p:txBody>
          <a:bodyPr wrap="square" lIns="0" tIns="0" rIns="0" bIns="0" rtlCol="0" anchor="ctr"/>
          <a:lstStyle/>
          <a:p>
            <a:pPr algn="r" indent="0" marL="0">
              <a:buNone/>
            </a:pPr>
            <a:r>
              <a:rPr lang="en-US" sz="800" dirty="0">
                <a:solidFill>
                  <a:srgbClr val="667891"/>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502920"/>
            <a:ext cx="82296" cy="658368"/>
          </a:xfrm>
          <a:prstGeom prst="rect">
            <a:avLst/>
          </a:prstGeom>
          <a:solidFill>
            <a:srgbClr val="1F9D6B"/>
          </a:solidFill>
          <a:ln/>
        </p:spPr>
      </p:sp>
      <p:sp>
        <p:nvSpPr>
          <p:cNvPr id="3" name="Text 1"/>
          <p:cNvSpPr/>
          <p:nvPr/>
        </p:nvSpPr>
        <p:spPr>
          <a:xfrm>
            <a:off x="713232" y="457200"/>
            <a:ext cx="10972800" cy="685800"/>
          </a:xfrm>
          <a:prstGeom prst="rect">
            <a:avLst/>
          </a:prstGeom>
          <a:noFill/>
          <a:ln/>
        </p:spPr>
        <p:txBody>
          <a:bodyPr wrap="square" lIns="0" tIns="0" rIns="0" bIns="0" rtlCol="0" anchor="ctr"/>
          <a:lstStyle/>
          <a:p>
            <a:pPr indent="0" marL="0">
              <a:buNone/>
            </a:pPr>
            <a:r>
              <a:rPr lang="en-US" sz="3000" b="1" dirty="0">
                <a:solidFill>
                  <a:srgbClr val="1E2A44"/>
                </a:solidFill>
                <a:latin typeface="Georgia" pitchFamily="34" charset="0"/>
                <a:ea typeface="Georgia" pitchFamily="34" charset="-122"/>
                <a:cs typeface="Georgia" pitchFamily="34" charset="-120"/>
              </a:rPr>
              <a:t>L3 service mapping &amp; technical components</a:t>
            </a:r>
            <a:endParaRPr lang="en-US" sz="3000" dirty="0"/>
          </a:p>
        </p:txBody>
      </p:sp>
      <p:sp>
        <p:nvSpPr>
          <p:cNvPr id="4" name="Text 2"/>
          <p:cNvSpPr/>
          <p:nvPr/>
        </p:nvSpPr>
        <p:spPr>
          <a:xfrm>
            <a:off x="731520" y="1170432"/>
            <a:ext cx="10972800" cy="274320"/>
          </a:xfrm>
          <a:prstGeom prst="rect">
            <a:avLst/>
          </a:prstGeom>
          <a:noFill/>
          <a:ln/>
        </p:spPr>
        <p:txBody>
          <a:bodyPr wrap="square" lIns="0" tIns="0" rIns="0" bIns="0" rtlCol="0" anchor="ctr"/>
          <a:lstStyle/>
          <a:p>
            <a:pPr indent="0" marL="0">
              <a:buNone/>
            </a:pPr>
            <a:r>
              <a:rPr lang="en-US" sz="1100" b="1" spc="200" kern="0" dirty="0">
                <a:solidFill>
                  <a:srgbClr val="1F9D6B"/>
                </a:solidFill>
                <a:latin typeface="Calibri" pitchFamily="34" charset="0"/>
                <a:ea typeface="Calibri" pitchFamily="34" charset="-122"/>
                <a:cs typeface="Calibri" pitchFamily="34" charset="-120"/>
              </a:rPr>
              <a:t>MATURITY ROADMAP · PHASE 3 · LOGICAL → AWS</a:t>
            </a:r>
            <a:endParaRPr lang="en-US" sz="1100" dirty="0"/>
          </a:p>
        </p:txBody>
      </p:sp>
      <p:sp>
        <p:nvSpPr>
          <p:cNvPr id="5" name="Shape 3"/>
          <p:cNvSpPr/>
          <p:nvPr/>
        </p:nvSpPr>
        <p:spPr>
          <a:xfrm>
            <a:off x="502920" y="1691640"/>
            <a:ext cx="3200400" cy="457200"/>
          </a:xfrm>
          <a:prstGeom prst="rect">
            <a:avLst/>
          </a:prstGeom>
          <a:solidFill>
            <a:srgbClr val="1E2A44"/>
          </a:solidFill>
          <a:ln/>
        </p:spPr>
      </p:sp>
      <p:sp>
        <p:nvSpPr>
          <p:cNvPr id="6" name="Text 4"/>
          <p:cNvSpPr/>
          <p:nvPr/>
        </p:nvSpPr>
        <p:spPr>
          <a:xfrm>
            <a:off x="667512" y="1691640"/>
            <a:ext cx="2926080" cy="45720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HARNESS COMPONENT</a:t>
            </a:r>
            <a:endParaRPr lang="en-US" sz="1100" dirty="0"/>
          </a:p>
        </p:txBody>
      </p:sp>
      <p:sp>
        <p:nvSpPr>
          <p:cNvPr id="7" name="Shape 5"/>
          <p:cNvSpPr/>
          <p:nvPr/>
        </p:nvSpPr>
        <p:spPr>
          <a:xfrm>
            <a:off x="3703320" y="1691640"/>
            <a:ext cx="4023360" cy="457200"/>
          </a:xfrm>
          <a:prstGeom prst="rect">
            <a:avLst/>
          </a:prstGeom>
          <a:solidFill>
            <a:srgbClr val="1E2A44"/>
          </a:solidFill>
          <a:ln/>
        </p:spPr>
      </p:sp>
      <p:sp>
        <p:nvSpPr>
          <p:cNvPr id="8" name="Text 6"/>
          <p:cNvSpPr/>
          <p:nvPr/>
        </p:nvSpPr>
        <p:spPr>
          <a:xfrm>
            <a:off x="3867912" y="1691640"/>
            <a:ext cx="3749040" cy="45720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9" name="Shape 7"/>
          <p:cNvSpPr/>
          <p:nvPr/>
        </p:nvSpPr>
        <p:spPr>
          <a:xfrm>
            <a:off x="7726680" y="1691640"/>
            <a:ext cx="3962095" cy="457200"/>
          </a:xfrm>
          <a:prstGeom prst="rect">
            <a:avLst/>
          </a:prstGeom>
          <a:solidFill>
            <a:srgbClr val="1E2A44"/>
          </a:solidFill>
          <a:ln/>
        </p:spPr>
      </p:sp>
      <p:sp>
        <p:nvSpPr>
          <p:cNvPr id="10" name="Text 8"/>
          <p:cNvSpPr/>
          <p:nvPr/>
        </p:nvSpPr>
        <p:spPr>
          <a:xfrm>
            <a:off x="7891272" y="1691640"/>
            <a:ext cx="3687775" cy="45720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AWS SERVICE / TOOLING</a:t>
            </a:r>
            <a:endParaRPr lang="en-US" sz="1100" dirty="0"/>
          </a:p>
        </p:txBody>
      </p:sp>
      <p:sp>
        <p:nvSpPr>
          <p:cNvPr id="11" name="Shape 9"/>
          <p:cNvSpPr/>
          <p:nvPr/>
        </p:nvSpPr>
        <p:spPr>
          <a:xfrm>
            <a:off x="502920" y="2148840"/>
            <a:ext cx="3200400" cy="530352"/>
          </a:xfrm>
          <a:prstGeom prst="rect">
            <a:avLst/>
          </a:prstGeom>
          <a:solidFill>
            <a:srgbClr val="FFFFFF"/>
          </a:solidFill>
          <a:ln w="9525">
            <a:solidFill>
              <a:srgbClr val="E2E8F2"/>
            </a:solidFill>
            <a:prstDash val="solid"/>
          </a:ln>
        </p:spPr>
      </p:sp>
      <p:sp>
        <p:nvSpPr>
          <p:cNvPr id="12" name="Text 10"/>
          <p:cNvSpPr/>
          <p:nvPr/>
        </p:nvSpPr>
        <p:spPr>
          <a:xfrm>
            <a:off x="667512" y="2148840"/>
            <a:ext cx="2926080" cy="530352"/>
          </a:xfrm>
          <a:prstGeom prst="rect">
            <a:avLst/>
          </a:prstGeom>
          <a:noFill/>
          <a:ln/>
        </p:spPr>
        <p:txBody>
          <a:bodyPr wrap="square" lIns="0" tIns="0" rIns="0" bIns="0" rtlCol="0" anchor="ctr"/>
          <a:lstStyle/>
          <a:p>
            <a:pPr indent="0" marL="0">
              <a:buNone/>
            </a:pPr>
            <a:r>
              <a:rPr lang="en-US" sz="1100" b="1" dirty="0">
                <a:solidFill>
                  <a:srgbClr val="1E2A44"/>
                </a:solidFill>
                <a:latin typeface="Calibri" pitchFamily="34" charset="0"/>
                <a:ea typeface="Calibri" pitchFamily="34" charset="-122"/>
                <a:cs typeface="Calibri" pitchFamily="34" charset="-120"/>
              </a:rPr>
              <a:t>Foundation Harness Catalog</a:t>
            </a:r>
            <a:endParaRPr lang="en-US" sz="1100" dirty="0"/>
          </a:p>
        </p:txBody>
      </p:sp>
      <p:sp>
        <p:nvSpPr>
          <p:cNvPr id="13" name="Shape 11"/>
          <p:cNvSpPr/>
          <p:nvPr/>
        </p:nvSpPr>
        <p:spPr>
          <a:xfrm>
            <a:off x="3703320" y="2148840"/>
            <a:ext cx="4023360" cy="530352"/>
          </a:xfrm>
          <a:prstGeom prst="rect">
            <a:avLst/>
          </a:prstGeom>
          <a:solidFill>
            <a:srgbClr val="FFFFFF"/>
          </a:solidFill>
          <a:ln w="9525">
            <a:solidFill>
              <a:srgbClr val="E2E8F2"/>
            </a:solidFill>
            <a:prstDash val="solid"/>
          </a:ln>
        </p:spPr>
      </p:sp>
      <p:sp>
        <p:nvSpPr>
          <p:cNvPr id="14" name="Text 12"/>
          <p:cNvSpPr/>
          <p:nvPr/>
        </p:nvSpPr>
        <p:spPr>
          <a:xfrm>
            <a:off x="3867912" y="2148840"/>
            <a:ext cx="3749040" cy="530352"/>
          </a:xfrm>
          <a:prstGeom prst="rect">
            <a:avLst/>
          </a:prstGeom>
          <a:noFill/>
          <a:ln/>
        </p:spPr>
        <p:txBody>
          <a:bodyPr wrap="square" lIns="0" tIns="0" rIns="0" bIns="0" rtlCol="0" anchor="ctr"/>
          <a:lstStyle/>
          <a:p>
            <a:pPr indent="0" marL="0">
              <a:buNone/>
            </a:pPr>
            <a:r>
              <a:rPr lang="en-US" sz="1100" dirty="0">
                <a:solidFill>
                  <a:srgbClr val="1E2A44"/>
                </a:solidFill>
                <a:latin typeface="Calibri" pitchFamily="34" charset="0"/>
                <a:ea typeface="Calibri" pitchFamily="34" charset="-122"/>
                <a:cs typeface="Calibri" pitchFamily="34" charset="-120"/>
              </a:rPr>
              <a:t>Blueprint templates &amp; golden-path</a:t>
            </a:r>
            <a:endParaRPr lang="en-US" sz="1100" dirty="0"/>
          </a:p>
        </p:txBody>
      </p:sp>
      <p:sp>
        <p:nvSpPr>
          <p:cNvPr id="15" name="Shape 13"/>
          <p:cNvSpPr/>
          <p:nvPr/>
        </p:nvSpPr>
        <p:spPr>
          <a:xfrm>
            <a:off x="7726680" y="2148840"/>
            <a:ext cx="3962095" cy="530352"/>
          </a:xfrm>
          <a:prstGeom prst="rect">
            <a:avLst/>
          </a:prstGeom>
          <a:solidFill>
            <a:srgbClr val="FFFFFF"/>
          </a:solidFill>
          <a:ln w="9525">
            <a:solidFill>
              <a:srgbClr val="E2E8F2"/>
            </a:solidFill>
            <a:prstDash val="solid"/>
          </a:ln>
        </p:spPr>
      </p:sp>
      <p:sp>
        <p:nvSpPr>
          <p:cNvPr id="16" name="Text 14"/>
          <p:cNvSpPr/>
          <p:nvPr/>
        </p:nvSpPr>
        <p:spPr>
          <a:xfrm>
            <a:off x="7891272" y="2148840"/>
            <a:ext cx="3687775" cy="530352"/>
          </a:xfrm>
          <a:prstGeom prst="rect">
            <a:avLst/>
          </a:prstGeom>
          <a:noFill/>
          <a:ln/>
        </p:spPr>
        <p:txBody>
          <a:bodyPr wrap="square" lIns="0" tIns="0" rIns="0" bIns="0" rtlCol="0" anchor="ctr"/>
          <a:lstStyle/>
          <a:p>
            <a:pPr indent="0" marL="0">
              <a:buNone/>
            </a:pPr>
            <a:r>
              <a:rPr lang="en-US" sz="1100" dirty="0">
                <a:solidFill>
                  <a:srgbClr val="3B4CB8"/>
                </a:solidFill>
                <a:latin typeface="Consolas" pitchFamily="34" charset="0"/>
                <a:ea typeface="Consolas" pitchFamily="34" charset="-122"/>
                <a:cs typeface="Consolas" pitchFamily="34" charset="-120"/>
              </a:rPr>
              <a:t>Service Catalog + Git golden-path repo</a:t>
            </a:r>
            <a:endParaRPr lang="en-US" sz="1100" dirty="0"/>
          </a:p>
        </p:txBody>
      </p:sp>
      <p:sp>
        <p:nvSpPr>
          <p:cNvPr id="17" name="Shape 15"/>
          <p:cNvSpPr/>
          <p:nvPr/>
        </p:nvSpPr>
        <p:spPr>
          <a:xfrm>
            <a:off x="502920" y="2679192"/>
            <a:ext cx="3200400" cy="530352"/>
          </a:xfrm>
          <a:prstGeom prst="rect">
            <a:avLst/>
          </a:prstGeom>
          <a:solidFill>
            <a:srgbClr val="F6F8FC"/>
          </a:solidFill>
          <a:ln w="9525">
            <a:solidFill>
              <a:srgbClr val="E2E8F2"/>
            </a:solidFill>
            <a:prstDash val="solid"/>
          </a:ln>
        </p:spPr>
      </p:sp>
      <p:sp>
        <p:nvSpPr>
          <p:cNvPr id="18" name="Text 16"/>
          <p:cNvSpPr/>
          <p:nvPr/>
        </p:nvSpPr>
        <p:spPr>
          <a:xfrm>
            <a:off x="667512" y="2679192"/>
            <a:ext cx="2926080" cy="530352"/>
          </a:xfrm>
          <a:prstGeom prst="rect">
            <a:avLst/>
          </a:prstGeom>
          <a:noFill/>
          <a:ln/>
        </p:spPr>
        <p:txBody>
          <a:bodyPr wrap="square" lIns="0" tIns="0" rIns="0" bIns="0" rtlCol="0" anchor="ctr"/>
          <a:lstStyle/>
          <a:p>
            <a:pPr indent="0" marL="0">
              <a:buNone/>
            </a:pPr>
            <a:r>
              <a:rPr lang="en-US" sz="1100" b="1" dirty="0">
                <a:solidFill>
                  <a:srgbClr val="1E2A44"/>
                </a:solidFill>
                <a:latin typeface="Calibri" pitchFamily="34" charset="0"/>
                <a:ea typeface="Calibri" pitchFamily="34" charset="-122"/>
                <a:cs typeface="Calibri" pitchFamily="34" charset="-120"/>
              </a:rPr>
              <a:t>Governance &amp; Account Vending</a:t>
            </a:r>
            <a:endParaRPr lang="en-US" sz="1100" dirty="0"/>
          </a:p>
        </p:txBody>
      </p:sp>
      <p:sp>
        <p:nvSpPr>
          <p:cNvPr id="19" name="Shape 17"/>
          <p:cNvSpPr/>
          <p:nvPr/>
        </p:nvSpPr>
        <p:spPr>
          <a:xfrm>
            <a:off x="3703320" y="2679192"/>
            <a:ext cx="4023360" cy="530352"/>
          </a:xfrm>
          <a:prstGeom prst="rect">
            <a:avLst/>
          </a:prstGeom>
          <a:solidFill>
            <a:srgbClr val="F6F8FC"/>
          </a:solidFill>
          <a:ln w="9525">
            <a:solidFill>
              <a:srgbClr val="E2E8F2"/>
            </a:solidFill>
            <a:prstDash val="solid"/>
          </a:ln>
        </p:spPr>
      </p:sp>
      <p:sp>
        <p:nvSpPr>
          <p:cNvPr id="20" name="Text 18"/>
          <p:cNvSpPr/>
          <p:nvPr/>
        </p:nvSpPr>
        <p:spPr>
          <a:xfrm>
            <a:off x="3867912" y="2679192"/>
            <a:ext cx="3749040" cy="530352"/>
          </a:xfrm>
          <a:prstGeom prst="rect">
            <a:avLst/>
          </a:prstGeom>
          <a:noFill/>
          <a:ln/>
        </p:spPr>
        <p:txBody>
          <a:bodyPr wrap="square" lIns="0" tIns="0" rIns="0" bIns="0" rtlCol="0" anchor="ctr"/>
          <a:lstStyle/>
          <a:p>
            <a:pPr indent="0" marL="0">
              <a:buNone/>
            </a:pPr>
            <a:r>
              <a:rPr lang="en-US" sz="1100" dirty="0">
                <a:solidFill>
                  <a:srgbClr val="1E2A44"/>
                </a:solidFill>
                <a:latin typeface="Calibri" pitchFamily="34" charset="0"/>
                <a:ea typeface="Calibri" pitchFamily="34" charset="-122"/>
                <a:cs typeface="Calibri" pitchFamily="34" charset="-120"/>
              </a:rPr>
              <a:t>Vend per-domain account sets</a:t>
            </a:r>
            <a:endParaRPr lang="en-US" sz="1100" dirty="0"/>
          </a:p>
        </p:txBody>
      </p:sp>
      <p:sp>
        <p:nvSpPr>
          <p:cNvPr id="21" name="Shape 19"/>
          <p:cNvSpPr/>
          <p:nvPr/>
        </p:nvSpPr>
        <p:spPr>
          <a:xfrm>
            <a:off x="7726680" y="2679192"/>
            <a:ext cx="3962095" cy="530352"/>
          </a:xfrm>
          <a:prstGeom prst="rect">
            <a:avLst/>
          </a:prstGeom>
          <a:solidFill>
            <a:srgbClr val="F6F8FC"/>
          </a:solidFill>
          <a:ln w="9525">
            <a:solidFill>
              <a:srgbClr val="E2E8F2"/>
            </a:solidFill>
            <a:prstDash val="solid"/>
          </a:ln>
        </p:spPr>
      </p:sp>
      <p:sp>
        <p:nvSpPr>
          <p:cNvPr id="22" name="Text 20"/>
          <p:cNvSpPr/>
          <p:nvPr/>
        </p:nvSpPr>
        <p:spPr>
          <a:xfrm>
            <a:off x="7891272" y="2679192"/>
            <a:ext cx="3687775" cy="530352"/>
          </a:xfrm>
          <a:prstGeom prst="rect">
            <a:avLst/>
          </a:prstGeom>
          <a:noFill/>
          <a:ln/>
        </p:spPr>
        <p:txBody>
          <a:bodyPr wrap="square" lIns="0" tIns="0" rIns="0" bIns="0" rtlCol="0" anchor="ctr"/>
          <a:lstStyle/>
          <a:p>
            <a:pPr indent="0" marL="0">
              <a:buNone/>
            </a:pPr>
            <a:r>
              <a:rPr lang="en-US" sz="1100" dirty="0">
                <a:solidFill>
                  <a:srgbClr val="3B4CB8"/>
                </a:solidFill>
                <a:latin typeface="Consolas" pitchFamily="34" charset="0"/>
                <a:ea typeface="Consolas" pitchFamily="34" charset="-122"/>
                <a:cs typeface="Consolas" pitchFamily="34" charset="-120"/>
              </a:rPr>
              <a:t>Control Tower · CloudFormation · DynamoDB</a:t>
            </a:r>
            <a:endParaRPr lang="en-US" sz="1100" dirty="0"/>
          </a:p>
        </p:txBody>
      </p:sp>
      <p:sp>
        <p:nvSpPr>
          <p:cNvPr id="23" name="Shape 21"/>
          <p:cNvSpPr/>
          <p:nvPr/>
        </p:nvSpPr>
        <p:spPr>
          <a:xfrm>
            <a:off x="502920" y="3209544"/>
            <a:ext cx="3200400" cy="530352"/>
          </a:xfrm>
          <a:prstGeom prst="rect">
            <a:avLst/>
          </a:prstGeom>
          <a:solidFill>
            <a:srgbClr val="FFFFFF"/>
          </a:solidFill>
          <a:ln w="9525">
            <a:solidFill>
              <a:srgbClr val="E2E8F2"/>
            </a:solidFill>
            <a:prstDash val="solid"/>
          </a:ln>
        </p:spPr>
      </p:sp>
      <p:sp>
        <p:nvSpPr>
          <p:cNvPr id="24" name="Text 22"/>
          <p:cNvSpPr/>
          <p:nvPr/>
        </p:nvSpPr>
        <p:spPr>
          <a:xfrm>
            <a:off x="667512" y="3209544"/>
            <a:ext cx="2926080" cy="530352"/>
          </a:xfrm>
          <a:prstGeom prst="rect">
            <a:avLst/>
          </a:prstGeom>
          <a:noFill/>
          <a:ln/>
        </p:spPr>
        <p:txBody>
          <a:bodyPr wrap="square" lIns="0" tIns="0" rIns="0" bIns="0" rtlCol="0" anchor="ctr"/>
          <a:lstStyle/>
          <a:p>
            <a:pPr indent="0" marL="0">
              <a:buNone/>
            </a:pPr>
            <a:r>
              <a:rPr lang="en-US" sz="1100" b="1" dirty="0">
                <a:solidFill>
                  <a:srgbClr val="1E2A44"/>
                </a:solidFill>
                <a:latin typeface="Calibri" pitchFamily="34" charset="0"/>
                <a:ea typeface="Calibri" pitchFamily="34" charset="-122"/>
                <a:cs typeface="Calibri" pitchFamily="34" charset="-120"/>
              </a:rPr>
              <a:t>Sandboxed Domain Execution</a:t>
            </a:r>
            <a:endParaRPr lang="en-US" sz="1100" dirty="0"/>
          </a:p>
        </p:txBody>
      </p:sp>
      <p:sp>
        <p:nvSpPr>
          <p:cNvPr id="25" name="Shape 23"/>
          <p:cNvSpPr/>
          <p:nvPr/>
        </p:nvSpPr>
        <p:spPr>
          <a:xfrm>
            <a:off x="3703320" y="3209544"/>
            <a:ext cx="4023360" cy="530352"/>
          </a:xfrm>
          <a:prstGeom prst="rect">
            <a:avLst/>
          </a:prstGeom>
          <a:solidFill>
            <a:srgbClr val="FFFFFF"/>
          </a:solidFill>
          <a:ln w="9525">
            <a:solidFill>
              <a:srgbClr val="E2E8F2"/>
            </a:solidFill>
            <a:prstDash val="solid"/>
          </a:ln>
        </p:spPr>
      </p:sp>
      <p:sp>
        <p:nvSpPr>
          <p:cNvPr id="26" name="Text 24"/>
          <p:cNvSpPr/>
          <p:nvPr/>
        </p:nvSpPr>
        <p:spPr>
          <a:xfrm>
            <a:off x="3867912" y="3209544"/>
            <a:ext cx="3749040" cy="530352"/>
          </a:xfrm>
          <a:prstGeom prst="rect">
            <a:avLst/>
          </a:prstGeom>
          <a:noFill/>
          <a:ln/>
        </p:spPr>
        <p:txBody>
          <a:bodyPr wrap="square" lIns="0" tIns="0" rIns="0" bIns="0" rtlCol="0" anchor="ctr"/>
          <a:lstStyle/>
          <a:p>
            <a:pPr indent="0" marL="0">
              <a:buNone/>
            </a:pPr>
            <a:r>
              <a:rPr lang="en-US" sz="1100" dirty="0">
                <a:solidFill>
                  <a:srgbClr val="1E2A44"/>
                </a:solidFill>
                <a:latin typeface="Calibri" pitchFamily="34" charset="0"/>
                <a:ea typeface="Calibri" pitchFamily="34" charset="-122"/>
                <a:cs typeface="Calibri" pitchFamily="34" charset="-120"/>
              </a:rPr>
              <a:t>Isolated per-agent runtime</a:t>
            </a:r>
            <a:endParaRPr lang="en-US" sz="1100" dirty="0"/>
          </a:p>
        </p:txBody>
      </p:sp>
      <p:sp>
        <p:nvSpPr>
          <p:cNvPr id="27" name="Shape 25"/>
          <p:cNvSpPr/>
          <p:nvPr/>
        </p:nvSpPr>
        <p:spPr>
          <a:xfrm>
            <a:off x="7726680" y="3209544"/>
            <a:ext cx="3962095" cy="530352"/>
          </a:xfrm>
          <a:prstGeom prst="rect">
            <a:avLst/>
          </a:prstGeom>
          <a:solidFill>
            <a:srgbClr val="FFFFFF"/>
          </a:solidFill>
          <a:ln w="9525">
            <a:solidFill>
              <a:srgbClr val="E2E8F2"/>
            </a:solidFill>
            <a:prstDash val="solid"/>
          </a:ln>
        </p:spPr>
      </p:sp>
      <p:sp>
        <p:nvSpPr>
          <p:cNvPr id="28" name="Text 26"/>
          <p:cNvSpPr/>
          <p:nvPr/>
        </p:nvSpPr>
        <p:spPr>
          <a:xfrm>
            <a:off x="7891272" y="3209544"/>
            <a:ext cx="3687775" cy="530352"/>
          </a:xfrm>
          <a:prstGeom prst="rect">
            <a:avLst/>
          </a:prstGeom>
          <a:noFill/>
          <a:ln/>
        </p:spPr>
        <p:txBody>
          <a:bodyPr wrap="square" lIns="0" tIns="0" rIns="0" bIns="0" rtlCol="0" anchor="ctr"/>
          <a:lstStyle/>
          <a:p>
            <a:pPr indent="0" marL="0">
              <a:buNone/>
            </a:pPr>
            <a:r>
              <a:rPr lang="en-US" sz="1100" dirty="0">
                <a:solidFill>
                  <a:srgbClr val="3B4CB8"/>
                </a:solidFill>
                <a:latin typeface="Consolas" pitchFamily="34" charset="0"/>
                <a:ea typeface="Consolas" pitchFamily="34" charset="-122"/>
                <a:cs typeface="Consolas" pitchFamily="34" charset="-120"/>
              </a:rPr>
              <a:t>AgentCore Runtime (microVM)</a:t>
            </a:r>
            <a:endParaRPr lang="en-US" sz="1100" dirty="0"/>
          </a:p>
        </p:txBody>
      </p:sp>
      <p:sp>
        <p:nvSpPr>
          <p:cNvPr id="29" name="Shape 27"/>
          <p:cNvSpPr/>
          <p:nvPr/>
        </p:nvSpPr>
        <p:spPr>
          <a:xfrm>
            <a:off x="502920" y="3739896"/>
            <a:ext cx="3200400" cy="530352"/>
          </a:xfrm>
          <a:prstGeom prst="rect">
            <a:avLst/>
          </a:prstGeom>
          <a:solidFill>
            <a:srgbClr val="F6F8FC"/>
          </a:solidFill>
          <a:ln w="9525">
            <a:solidFill>
              <a:srgbClr val="E2E8F2"/>
            </a:solidFill>
            <a:prstDash val="solid"/>
          </a:ln>
        </p:spPr>
      </p:sp>
      <p:sp>
        <p:nvSpPr>
          <p:cNvPr id="30" name="Text 28"/>
          <p:cNvSpPr/>
          <p:nvPr/>
        </p:nvSpPr>
        <p:spPr>
          <a:xfrm>
            <a:off x="667512" y="3739896"/>
            <a:ext cx="2926080" cy="530352"/>
          </a:xfrm>
          <a:prstGeom prst="rect">
            <a:avLst/>
          </a:prstGeom>
          <a:noFill/>
          <a:ln/>
        </p:spPr>
        <p:txBody>
          <a:bodyPr wrap="square" lIns="0" tIns="0" rIns="0" bIns="0" rtlCol="0" anchor="ctr"/>
          <a:lstStyle/>
          <a:p>
            <a:pPr indent="0" marL="0">
              <a:buNone/>
            </a:pPr>
            <a:r>
              <a:rPr lang="en-US" sz="1100" b="1" dirty="0">
                <a:solidFill>
                  <a:srgbClr val="1E2A44"/>
                </a:solidFill>
                <a:latin typeface="Calibri" pitchFamily="34" charset="0"/>
                <a:ea typeface="Calibri" pitchFamily="34" charset="-122"/>
                <a:cs typeface="Calibri" pitchFamily="34" charset="-120"/>
              </a:rPr>
              <a:t>Identity &amp; Memory Scoping</a:t>
            </a:r>
            <a:endParaRPr lang="en-US" sz="1100" dirty="0"/>
          </a:p>
        </p:txBody>
      </p:sp>
      <p:sp>
        <p:nvSpPr>
          <p:cNvPr id="31" name="Shape 29"/>
          <p:cNvSpPr/>
          <p:nvPr/>
        </p:nvSpPr>
        <p:spPr>
          <a:xfrm>
            <a:off x="3703320" y="3739896"/>
            <a:ext cx="4023360" cy="530352"/>
          </a:xfrm>
          <a:prstGeom prst="rect">
            <a:avLst/>
          </a:prstGeom>
          <a:solidFill>
            <a:srgbClr val="F6F8FC"/>
          </a:solidFill>
          <a:ln w="9525">
            <a:solidFill>
              <a:srgbClr val="E2E8F2"/>
            </a:solidFill>
            <a:prstDash val="solid"/>
          </a:ln>
        </p:spPr>
      </p:sp>
      <p:sp>
        <p:nvSpPr>
          <p:cNvPr id="32" name="Text 30"/>
          <p:cNvSpPr/>
          <p:nvPr/>
        </p:nvSpPr>
        <p:spPr>
          <a:xfrm>
            <a:off x="3867912" y="3739896"/>
            <a:ext cx="3749040" cy="530352"/>
          </a:xfrm>
          <a:prstGeom prst="rect">
            <a:avLst/>
          </a:prstGeom>
          <a:noFill/>
          <a:ln/>
        </p:spPr>
        <p:txBody>
          <a:bodyPr wrap="square" lIns="0" tIns="0" rIns="0" bIns="0" rtlCol="0" anchor="ctr"/>
          <a:lstStyle/>
          <a:p>
            <a:pPr indent="0" marL="0">
              <a:buNone/>
            </a:pPr>
            <a:r>
              <a:rPr lang="en-US" sz="1100" dirty="0">
                <a:solidFill>
                  <a:srgbClr val="1E2A44"/>
                </a:solidFill>
                <a:latin typeface="Calibri" pitchFamily="34" charset="0"/>
                <a:ea typeface="Calibri" pitchFamily="34" charset="-122"/>
                <a:cs typeface="Calibri" pitchFamily="34" charset="-120"/>
              </a:rPr>
              <a:t>Per-user auth, memory isolation</a:t>
            </a:r>
            <a:endParaRPr lang="en-US" sz="1100" dirty="0"/>
          </a:p>
        </p:txBody>
      </p:sp>
      <p:sp>
        <p:nvSpPr>
          <p:cNvPr id="33" name="Shape 31"/>
          <p:cNvSpPr/>
          <p:nvPr/>
        </p:nvSpPr>
        <p:spPr>
          <a:xfrm>
            <a:off x="7726680" y="3739896"/>
            <a:ext cx="3962095" cy="530352"/>
          </a:xfrm>
          <a:prstGeom prst="rect">
            <a:avLst/>
          </a:prstGeom>
          <a:solidFill>
            <a:srgbClr val="F6F8FC"/>
          </a:solidFill>
          <a:ln w="9525">
            <a:solidFill>
              <a:srgbClr val="E2E8F2"/>
            </a:solidFill>
            <a:prstDash val="solid"/>
          </a:ln>
        </p:spPr>
      </p:sp>
      <p:sp>
        <p:nvSpPr>
          <p:cNvPr id="34" name="Text 32"/>
          <p:cNvSpPr/>
          <p:nvPr/>
        </p:nvSpPr>
        <p:spPr>
          <a:xfrm>
            <a:off x="7891272" y="3739896"/>
            <a:ext cx="3687775" cy="530352"/>
          </a:xfrm>
          <a:prstGeom prst="rect">
            <a:avLst/>
          </a:prstGeom>
          <a:noFill/>
          <a:ln/>
        </p:spPr>
        <p:txBody>
          <a:bodyPr wrap="square" lIns="0" tIns="0" rIns="0" bIns="0" rtlCol="0" anchor="ctr"/>
          <a:lstStyle/>
          <a:p>
            <a:pPr indent="0" marL="0">
              <a:buNone/>
            </a:pPr>
            <a:r>
              <a:rPr lang="en-US" sz="1100" dirty="0">
                <a:solidFill>
                  <a:srgbClr val="3B4CB8"/>
                </a:solidFill>
                <a:latin typeface="Consolas" pitchFamily="34" charset="0"/>
                <a:ea typeface="Consolas" pitchFamily="34" charset="-122"/>
                <a:cs typeface="Consolas" pitchFamily="34" charset="-120"/>
              </a:rPr>
              <a:t>AgentCore Identity + Amazon Cognito</a:t>
            </a:r>
            <a:endParaRPr lang="en-US" sz="1100" dirty="0"/>
          </a:p>
        </p:txBody>
      </p:sp>
      <p:sp>
        <p:nvSpPr>
          <p:cNvPr id="35" name="Shape 33"/>
          <p:cNvSpPr/>
          <p:nvPr/>
        </p:nvSpPr>
        <p:spPr>
          <a:xfrm>
            <a:off x="502920" y="4270248"/>
            <a:ext cx="3200400" cy="530352"/>
          </a:xfrm>
          <a:prstGeom prst="rect">
            <a:avLst/>
          </a:prstGeom>
          <a:solidFill>
            <a:srgbClr val="FFFFFF"/>
          </a:solidFill>
          <a:ln w="9525">
            <a:solidFill>
              <a:srgbClr val="E2E8F2"/>
            </a:solidFill>
            <a:prstDash val="solid"/>
          </a:ln>
        </p:spPr>
      </p:sp>
      <p:sp>
        <p:nvSpPr>
          <p:cNvPr id="36" name="Text 34"/>
          <p:cNvSpPr/>
          <p:nvPr/>
        </p:nvSpPr>
        <p:spPr>
          <a:xfrm>
            <a:off x="667512" y="4270248"/>
            <a:ext cx="2926080" cy="530352"/>
          </a:xfrm>
          <a:prstGeom prst="rect">
            <a:avLst/>
          </a:prstGeom>
          <a:noFill/>
          <a:ln/>
        </p:spPr>
        <p:txBody>
          <a:bodyPr wrap="square" lIns="0" tIns="0" rIns="0" bIns="0" rtlCol="0" anchor="ctr"/>
          <a:lstStyle/>
          <a:p>
            <a:pPr indent="0" marL="0">
              <a:buNone/>
            </a:pPr>
            <a:r>
              <a:rPr lang="en-US" sz="1100" b="1" dirty="0">
                <a:solidFill>
                  <a:srgbClr val="1E2A44"/>
                </a:solidFill>
                <a:latin typeface="Calibri" pitchFamily="34" charset="0"/>
                <a:ea typeface="Calibri" pitchFamily="34" charset="-122"/>
                <a:cs typeface="Calibri" pitchFamily="34" charset="-120"/>
              </a:rPr>
              <a:t>Policy &amp; Guardrails</a:t>
            </a:r>
            <a:endParaRPr lang="en-US" sz="1100" dirty="0"/>
          </a:p>
        </p:txBody>
      </p:sp>
      <p:sp>
        <p:nvSpPr>
          <p:cNvPr id="37" name="Shape 35"/>
          <p:cNvSpPr/>
          <p:nvPr/>
        </p:nvSpPr>
        <p:spPr>
          <a:xfrm>
            <a:off x="3703320" y="4270248"/>
            <a:ext cx="4023360" cy="530352"/>
          </a:xfrm>
          <a:prstGeom prst="rect">
            <a:avLst/>
          </a:prstGeom>
          <a:solidFill>
            <a:srgbClr val="FFFFFF"/>
          </a:solidFill>
          <a:ln w="9525">
            <a:solidFill>
              <a:srgbClr val="E2E8F2"/>
            </a:solidFill>
            <a:prstDash val="solid"/>
          </a:ln>
        </p:spPr>
      </p:sp>
      <p:sp>
        <p:nvSpPr>
          <p:cNvPr id="38" name="Text 36"/>
          <p:cNvSpPr/>
          <p:nvPr/>
        </p:nvSpPr>
        <p:spPr>
          <a:xfrm>
            <a:off x="3867912" y="4270248"/>
            <a:ext cx="3749040" cy="530352"/>
          </a:xfrm>
          <a:prstGeom prst="rect">
            <a:avLst/>
          </a:prstGeom>
          <a:noFill/>
          <a:ln/>
        </p:spPr>
        <p:txBody>
          <a:bodyPr wrap="square" lIns="0" tIns="0" rIns="0" bIns="0" rtlCol="0" anchor="ctr"/>
          <a:lstStyle/>
          <a:p>
            <a:pPr indent="0" marL="0">
              <a:buNone/>
            </a:pPr>
            <a:r>
              <a:rPr lang="en-US" sz="1100" dirty="0">
                <a:solidFill>
                  <a:srgbClr val="1E2A44"/>
                </a:solidFill>
                <a:latin typeface="Calibri" pitchFamily="34" charset="0"/>
                <a:ea typeface="Calibri" pitchFamily="34" charset="-122"/>
                <a:cs typeface="Calibri" pitchFamily="34" charset="-120"/>
              </a:rPr>
              <a:t>Policy-as-code, I/O filtering</a:t>
            </a:r>
            <a:endParaRPr lang="en-US" sz="1100" dirty="0"/>
          </a:p>
        </p:txBody>
      </p:sp>
      <p:sp>
        <p:nvSpPr>
          <p:cNvPr id="39" name="Shape 37"/>
          <p:cNvSpPr/>
          <p:nvPr/>
        </p:nvSpPr>
        <p:spPr>
          <a:xfrm>
            <a:off x="7726680" y="4270248"/>
            <a:ext cx="3962095" cy="530352"/>
          </a:xfrm>
          <a:prstGeom prst="rect">
            <a:avLst/>
          </a:prstGeom>
          <a:solidFill>
            <a:srgbClr val="FFFFFF"/>
          </a:solidFill>
          <a:ln w="9525">
            <a:solidFill>
              <a:srgbClr val="E2E8F2"/>
            </a:solidFill>
            <a:prstDash val="solid"/>
          </a:ln>
        </p:spPr>
      </p:sp>
      <p:sp>
        <p:nvSpPr>
          <p:cNvPr id="40" name="Text 38"/>
          <p:cNvSpPr/>
          <p:nvPr/>
        </p:nvSpPr>
        <p:spPr>
          <a:xfrm>
            <a:off x="7891272" y="4270248"/>
            <a:ext cx="3687775" cy="530352"/>
          </a:xfrm>
          <a:prstGeom prst="rect">
            <a:avLst/>
          </a:prstGeom>
          <a:noFill/>
          <a:ln/>
        </p:spPr>
        <p:txBody>
          <a:bodyPr wrap="square" lIns="0" tIns="0" rIns="0" bIns="0" rtlCol="0" anchor="ctr"/>
          <a:lstStyle/>
          <a:p>
            <a:pPr indent="0" marL="0">
              <a:buNone/>
            </a:pPr>
            <a:r>
              <a:rPr lang="en-US" sz="1100" dirty="0">
                <a:solidFill>
                  <a:srgbClr val="3B4CB8"/>
                </a:solidFill>
                <a:latin typeface="Consolas" pitchFamily="34" charset="0"/>
                <a:ea typeface="Consolas" pitchFamily="34" charset="-122"/>
                <a:cs typeface="Consolas" pitchFamily="34" charset="-120"/>
              </a:rPr>
              <a:t>Cedar · Bedrock Guardrails</a:t>
            </a:r>
            <a:endParaRPr lang="en-US" sz="1100" dirty="0"/>
          </a:p>
        </p:txBody>
      </p:sp>
      <p:sp>
        <p:nvSpPr>
          <p:cNvPr id="41" name="Shape 39"/>
          <p:cNvSpPr/>
          <p:nvPr/>
        </p:nvSpPr>
        <p:spPr>
          <a:xfrm>
            <a:off x="502920" y="4800600"/>
            <a:ext cx="3200400" cy="530352"/>
          </a:xfrm>
          <a:prstGeom prst="rect">
            <a:avLst/>
          </a:prstGeom>
          <a:solidFill>
            <a:srgbClr val="F6F8FC"/>
          </a:solidFill>
          <a:ln w="9525">
            <a:solidFill>
              <a:srgbClr val="E2E8F2"/>
            </a:solidFill>
            <a:prstDash val="solid"/>
          </a:ln>
        </p:spPr>
      </p:sp>
      <p:sp>
        <p:nvSpPr>
          <p:cNvPr id="42" name="Text 40"/>
          <p:cNvSpPr/>
          <p:nvPr/>
        </p:nvSpPr>
        <p:spPr>
          <a:xfrm>
            <a:off x="667512" y="4800600"/>
            <a:ext cx="2926080" cy="530352"/>
          </a:xfrm>
          <a:prstGeom prst="rect">
            <a:avLst/>
          </a:prstGeom>
          <a:noFill/>
          <a:ln/>
        </p:spPr>
        <p:txBody>
          <a:bodyPr wrap="square" lIns="0" tIns="0" rIns="0" bIns="0" rtlCol="0" anchor="ctr"/>
          <a:lstStyle/>
          <a:p>
            <a:pPr indent="0" marL="0">
              <a:buNone/>
            </a:pPr>
            <a:r>
              <a:rPr lang="en-US" sz="1100" b="1" dirty="0">
                <a:solidFill>
                  <a:srgbClr val="1E2A44"/>
                </a:solidFill>
                <a:latin typeface="Calibri" pitchFamily="34" charset="0"/>
                <a:ea typeface="Calibri" pitchFamily="34" charset="-122"/>
                <a:cs typeface="Calibri" pitchFamily="34" charset="-120"/>
              </a:rPr>
              <a:t>Evaluation Pipeline</a:t>
            </a:r>
            <a:endParaRPr lang="en-US" sz="1100" dirty="0"/>
          </a:p>
        </p:txBody>
      </p:sp>
      <p:sp>
        <p:nvSpPr>
          <p:cNvPr id="43" name="Shape 41"/>
          <p:cNvSpPr/>
          <p:nvPr/>
        </p:nvSpPr>
        <p:spPr>
          <a:xfrm>
            <a:off x="3703320" y="4800600"/>
            <a:ext cx="4023360" cy="530352"/>
          </a:xfrm>
          <a:prstGeom prst="rect">
            <a:avLst/>
          </a:prstGeom>
          <a:solidFill>
            <a:srgbClr val="F6F8FC"/>
          </a:solidFill>
          <a:ln w="9525">
            <a:solidFill>
              <a:srgbClr val="E2E8F2"/>
            </a:solidFill>
            <a:prstDash val="solid"/>
          </a:ln>
        </p:spPr>
      </p:sp>
      <p:sp>
        <p:nvSpPr>
          <p:cNvPr id="44" name="Text 42"/>
          <p:cNvSpPr/>
          <p:nvPr/>
        </p:nvSpPr>
        <p:spPr>
          <a:xfrm>
            <a:off x="3867912" y="4800600"/>
            <a:ext cx="3749040" cy="530352"/>
          </a:xfrm>
          <a:prstGeom prst="rect">
            <a:avLst/>
          </a:prstGeom>
          <a:noFill/>
          <a:ln/>
        </p:spPr>
        <p:txBody>
          <a:bodyPr wrap="square" lIns="0" tIns="0" rIns="0" bIns="0" rtlCol="0" anchor="ctr"/>
          <a:lstStyle/>
          <a:p>
            <a:pPr indent="0" marL="0">
              <a:buNone/>
            </a:pPr>
            <a:r>
              <a:rPr lang="en-US" sz="1100" dirty="0">
                <a:solidFill>
                  <a:srgbClr val="1E2A44"/>
                </a:solidFill>
                <a:latin typeface="Calibri" pitchFamily="34" charset="0"/>
                <a:ea typeface="Calibri" pitchFamily="34" charset="-122"/>
                <a:cs typeface="Calibri" pitchFamily="34" charset="-120"/>
              </a:rPr>
              <a:t>Golden-dataset promotion gate</a:t>
            </a:r>
            <a:endParaRPr lang="en-US" sz="1100" dirty="0"/>
          </a:p>
        </p:txBody>
      </p:sp>
      <p:sp>
        <p:nvSpPr>
          <p:cNvPr id="45" name="Shape 43"/>
          <p:cNvSpPr/>
          <p:nvPr/>
        </p:nvSpPr>
        <p:spPr>
          <a:xfrm>
            <a:off x="7726680" y="4800600"/>
            <a:ext cx="3962095" cy="530352"/>
          </a:xfrm>
          <a:prstGeom prst="rect">
            <a:avLst/>
          </a:prstGeom>
          <a:solidFill>
            <a:srgbClr val="F6F8FC"/>
          </a:solidFill>
          <a:ln w="9525">
            <a:solidFill>
              <a:srgbClr val="E2E8F2"/>
            </a:solidFill>
            <a:prstDash val="solid"/>
          </a:ln>
        </p:spPr>
      </p:sp>
      <p:sp>
        <p:nvSpPr>
          <p:cNvPr id="46" name="Text 44"/>
          <p:cNvSpPr/>
          <p:nvPr/>
        </p:nvSpPr>
        <p:spPr>
          <a:xfrm>
            <a:off x="7891272" y="4800600"/>
            <a:ext cx="3687775" cy="530352"/>
          </a:xfrm>
          <a:prstGeom prst="rect">
            <a:avLst/>
          </a:prstGeom>
          <a:noFill/>
          <a:ln/>
        </p:spPr>
        <p:txBody>
          <a:bodyPr wrap="square" lIns="0" tIns="0" rIns="0" bIns="0" rtlCol="0" anchor="ctr"/>
          <a:lstStyle/>
          <a:p>
            <a:pPr indent="0" marL="0">
              <a:buNone/>
            </a:pPr>
            <a:r>
              <a:rPr lang="en-US" sz="1100" dirty="0">
                <a:solidFill>
                  <a:srgbClr val="3B4CB8"/>
                </a:solidFill>
                <a:latin typeface="Consolas" pitchFamily="34" charset="0"/>
                <a:ea typeface="Consolas" pitchFamily="34" charset="-122"/>
                <a:cs typeface="Consolas" pitchFamily="34" charset="-120"/>
              </a:rPr>
              <a:t>AgentCore Evaluations (LLM-as-judge)</a:t>
            </a:r>
            <a:endParaRPr lang="en-US" sz="1100" dirty="0"/>
          </a:p>
        </p:txBody>
      </p:sp>
      <p:sp>
        <p:nvSpPr>
          <p:cNvPr id="47" name="Shape 45"/>
          <p:cNvSpPr/>
          <p:nvPr/>
        </p:nvSpPr>
        <p:spPr>
          <a:xfrm>
            <a:off x="502920" y="5330952"/>
            <a:ext cx="3200400" cy="530352"/>
          </a:xfrm>
          <a:prstGeom prst="rect">
            <a:avLst/>
          </a:prstGeom>
          <a:solidFill>
            <a:srgbClr val="FFFFFF"/>
          </a:solidFill>
          <a:ln w="9525">
            <a:solidFill>
              <a:srgbClr val="E2E8F2"/>
            </a:solidFill>
            <a:prstDash val="solid"/>
          </a:ln>
        </p:spPr>
      </p:sp>
      <p:sp>
        <p:nvSpPr>
          <p:cNvPr id="48" name="Text 46"/>
          <p:cNvSpPr/>
          <p:nvPr/>
        </p:nvSpPr>
        <p:spPr>
          <a:xfrm>
            <a:off x="667512" y="5330952"/>
            <a:ext cx="2926080" cy="530352"/>
          </a:xfrm>
          <a:prstGeom prst="rect">
            <a:avLst/>
          </a:prstGeom>
          <a:noFill/>
          <a:ln/>
        </p:spPr>
        <p:txBody>
          <a:bodyPr wrap="square" lIns="0" tIns="0" rIns="0" bIns="0" rtlCol="0" anchor="ctr"/>
          <a:lstStyle/>
          <a:p>
            <a:pPr indent="0" marL="0">
              <a:buNone/>
            </a:pPr>
            <a:r>
              <a:rPr lang="en-US" sz="1100" b="1" dirty="0">
                <a:solidFill>
                  <a:srgbClr val="1E2A44"/>
                </a:solidFill>
                <a:latin typeface="Calibri" pitchFamily="34" charset="0"/>
                <a:ea typeface="Calibri" pitchFamily="34" charset="-122"/>
                <a:cs typeface="Calibri" pitchFamily="34" charset="-120"/>
              </a:rPr>
              <a:t>Observability</a:t>
            </a:r>
            <a:endParaRPr lang="en-US" sz="1100" dirty="0"/>
          </a:p>
        </p:txBody>
      </p:sp>
      <p:sp>
        <p:nvSpPr>
          <p:cNvPr id="49" name="Shape 47"/>
          <p:cNvSpPr/>
          <p:nvPr/>
        </p:nvSpPr>
        <p:spPr>
          <a:xfrm>
            <a:off x="3703320" y="5330952"/>
            <a:ext cx="4023360" cy="530352"/>
          </a:xfrm>
          <a:prstGeom prst="rect">
            <a:avLst/>
          </a:prstGeom>
          <a:solidFill>
            <a:srgbClr val="FFFFFF"/>
          </a:solidFill>
          <a:ln w="9525">
            <a:solidFill>
              <a:srgbClr val="E2E8F2"/>
            </a:solidFill>
            <a:prstDash val="solid"/>
          </a:ln>
        </p:spPr>
      </p:sp>
      <p:sp>
        <p:nvSpPr>
          <p:cNvPr id="50" name="Text 48"/>
          <p:cNvSpPr/>
          <p:nvPr/>
        </p:nvSpPr>
        <p:spPr>
          <a:xfrm>
            <a:off x="3867912" y="5330952"/>
            <a:ext cx="3749040" cy="530352"/>
          </a:xfrm>
          <a:prstGeom prst="rect">
            <a:avLst/>
          </a:prstGeom>
          <a:noFill/>
          <a:ln/>
        </p:spPr>
        <p:txBody>
          <a:bodyPr wrap="square" lIns="0" tIns="0" rIns="0" bIns="0" rtlCol="0" anchor="ctr"/>
          <a:lstStyle/>
          <a:p>
            <a:pPr indent="0" marL="0">
              <a:buNone/>
            </a:pPr>
            <a:r>
              <a:rPr lang="en-US" sz="1100" dirty="0">
                <a:solidFill>
                  <a:srgbClr val="1E2A44"/>
                </a:solidFill>
                <a:latin typeface="Calibri" pitchFamily="34" charset="0"/>
                <a:ea typeface="Calibri" pitchFamily="34" charset="-122"/>
                <a:cs typeface="Calibri" pitchFamily="34" charset="-120"/>
              </a:rPr>
              <a:t>Dual-backend tracing</a:t>
            </a:r>
            <a:endParaRPr lang="en-US" sz="1100" dirty="0"/>
          </a:p>
        </p:txBody>
      </p:sp>
      <p:sp>
        <p:nvSpPr>
          <p:cNvPr id="51" name="Shape 49"/>
          <p:cNvSpPr/>
          <p:nvPr/>
        </p:nvSpPr>
        <p:spPr>
          <a:xfrm>
            <a:off x="7726680" y="5330952"/>
            <a:ext cx="3962095" cy="530352"/>
          </a:xfrm>
          <a:prstGeom prst="rect">
            <a:avLst/>
          </a:prstGeom>
          <a:solidFill>
            <a:srgbClr val="FFFFFF"/>
          </a:solidFill>
          <a:ln w="9525">
            <a:solidFill>
              <a:srgbClr val="E2E8F2"/>
            </a:solidFill>
            <a:prstDash val="solid"/>
          </a:ln>
        </p:spPr>
      </p:sp>
      <p:sp>
        <p:nvSpPr>
          <p:cNvPr id="52" name="Text 50"/>
          <p:cNvSpPr/>
          <p:nvPr/>
        </p:nvSpPr>
        <p:spPr>
          <a:xfrm>
            <a:off x="7891272" y="5330952"/>
            <a:ext cx="3687775" cy="530352"/>
          </a:xfrm>
          <a:prstGeom prst="rect">
            <a:avLst/>
          </a:prstGeom>
          <a:noFill/>
          <a:ln/>
        </p:spPr>
        <p:txBody>
          <a:bodyPr wrap="square" lIns="0" tIns="0" rIns="0" bIns="0" rtlCol="0" anchor="ctr"/>
          <a:lstStyle/>
          <a:p>
            <a:pPr indent="0" marL="0">
              <a:buNone/>
            </a:pPr>
            <a:r>
              <a:rPr lang="en-US" sz="1100" dirty="0">
                <a:solidFill>
                  <a:srgbClr val="3B4CB8"/>
                </a:solidFill>
                <a:latin typeface="Consolas" pitchFamily="34" charset="0"/>
                <a:ea typeface="Consolas" pitchFamily="34" charset="-122"/>
                <a:cs typeface="Consolas" pitchFamily="34" charset="-120"/>
              </a:rPr>
              <a:t>CloudWatch + Langfuse (OTEL)</a:t>
            </a:r>
            <a:endParaRPr lang="en-US" sz="1100" dirty="0"/>
          </a:p>
        </p:txBody>
      </p:sp>
      <p:sp>
        <p:nvSpPr>
          <p:cNvPr id="53" name="Text 51"/>
          <p:cNvSpPr/>
          <p:nvPr/>
        </p:nvSpPr>
        <p:spPr>
          <a:xfrm>
            <a:off x="502920" y="6492240"/>
            <a:ext cx="8229600" cy="256032"/>
          </a:xfrm>
          <a:prstGeom prst="rect">
            <a:avLst/>
          </a:prstGeom>
          <a:noFill/>
          <a:ln/>
        </p:spPr>
        <p:txBody>
          <a:bodyPr wrap="square" lIns="0" tIns="0" rIns="0" bIns="0" rtlCol="0" anchor="ctr"/>
          <a:lstStyle/>
          <a:p>
            <a:pPr indent="0" marL="0">
              <a:buNone/>
            </a:pPr>
            <a:r>
              <a:rPr lang="en-US" sz="800" dirty="0">
                <a:solidFill>
                  <a:srgbClr val="667891"/>
                </a:solidFill>
                <a:latin typeface="Calibri" pitchFamily="34" charset="0"/>
                <a:ea typeface="Calibri" pitchFamily="34" charset="-122"/>
                <a:cs typeface="Calibri" pitchFamily="34" charset="-120"/>
              </a:rPr>
              <a:t>Enterprise Agentic AI Platform</a:t>
            </a:r>
            <a:pPr indent="0" marL="0">
              <a:buNone/>
            </a:pPr>
            <a:r>
              <a:rPr lang="en-US" sz="800" dirty="0">
                <a:solidFill>
                  <a:srgbClr val="3B4CB8"/>
                </a:solidFill>
                <a:latin typeface="Calibri" pitchFamily="34" charset="0"/>
                <a:ea typeface="Calibri" pitchFamily="34" charset="-122"/>
                <a:cs typeface="Calibri" pitchFamily="34" charset="-120"/>
              </a:rPr>
              <a:t>   ·   How — L3 service mapping</a:t>
            </a:r>
            <a:endParaRPr lang="en-US" sz="800" dirty="0"/>
          </a:p>
        </p:txBody>
      </p:sp>
      <p:sp>
        <p:nvSpPr>
          <p:cNvPr id="54" name="Text 52"/>
          <p:cNvSpPr/>
          <p:nvPr/>
        </p:nvSpPr>
        <p:spPr>
          <a:xfrm>
            <a:off x="11231575" y="6492240"/>
            <a:ext cx="457200" cy="256032"/>
          </a:xfrm>
          <a:prstGeom prst="rect">
            <a:avLst/>
          </a:prstGeom>
          <a:noFill/>
          <a:ln/>
        </p:spPr>
        <p:txBody>
          <a:bodyPr wrap="square" lIns="0" tIns="0" rIns="0" bIns="0" rtlCol="0" anchor="ctr"/>
          <a:lstStyle/>
          <a:p>
            <a:pPr algn="r" indent="0" marL="0">
              <a:buNone/>
            </a:pPr>
            <a:r>
              <a:rPr lang="en-US" sz="800" dirty="0">
                <a:solidFill>
                  <a:srgbClr val="667891"/>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1828800" y="2926080"/>
            <a:ext cx="5120640" cy="5120640"/>
          </a:xfrm>
          <a:prstGeom prst="ellipse">
            <a:avLst/>
          </a:prstGeom>
          <a:ln w="12700">
            <a:solidFill>
              <a:srgbClr val="6D4FD6">
                <a:alpha val="32000"/>
              </a:srgbClr>
            </a:solidFill>
            <a:prstDash val="solid"/>
          </a:ln>
        </p:spPr>
      </p:sp>
      <p:sp>
        <p:nvSpPr>
          <p:cNvPr id="3" name="Text 1"/>
          <p:cNvSpPr/>
          <p:nvPr/>
        </p:nvSpPr>
        <p:spPr>
          <a:xfrm>
            <a:off x="658368" y="566928"/>
            <a:ext cx="10972800" cy="274320"/>
          </a:xfrm>
          <a:prstGeom prst="rect">
            <a:avLst/>
          </a:prstGeom>
          <a:noFill/>
          <a:ln/>
        </p:spPr>
        <p:txBody>
          <a:bodyPr wrap="square" lIns="0" tIns="0" rIns="0" bIns="0" rtlCol="0" anchor="ctr"/>
          <a:lstStyle/>
          <a:p>
            <a:pPr indent="0" marL="0">
              <a:buNone/>
            </a:pPr>
            <a:r>
              <a:rPr lang="en-US" sz="1100" b="1" spc="300" kern="0" dirty="0">
                <a:solidFill>
                  <a:srgbClr val="6D4FD6"/>
                </a:solidFill>
                <a:latin typeface="Calibri" pitchFamily="34" charset="0"/>
                <a:ea typeface="Calibri" pitchFamily="34" charset="-122"/>
                <a:cs typeface="Calibri" pitchFamily="34" charset="-120"/>
              </a:rPr>
              <a:t>NORTH-STAR VISION · PHASE FOUR</a:t>
            </a:r>
            <a:endParaRPr lang="en-US" sz="1100" dirty="0"/>
          </a:p>
        </p:txBody>
      </p:sp>
      <p:sp>
        <p:nvSpPr>
          <p:cNvPr id="4" name="Text 2"/>
          <p:cNvSpPr/>
          <p:nvPr/>
        </p:nvSpPr>
        <p:spPr>
          <a:xfrm>
            <a:off x="612648" y="868680"/>
            <a:ext cx="11155680" cy="914400"/>
          </a:xfrm>
          <a:prstGeom prst="rect">
            <a:avLst/>
          </a:prstGeom>
          <a:noFill/>
          <a:ln/>
        </p:spPr>
        <p:txBody>
          <a:bodyPr wrap="square" lIns="0" tIns="0" rIns="0" bIns="0" rtlCol="0" anchor="ctr"/>
          <a:lstStyle/>
          <a:p>
            <a:pPr indent="0" marL="0">
              <a:buNone/>
            </a:pPr>
            <a:r>
              <a:rPr lang="en-US" sz="3000" b="1" dirty="0">
                <a:solidFill>
                  <a:srgbClr val="E6ECF7"/>
                </a:solidFill>
                <a:latin typeface="Georgia" pitchFamily="34" charset="0"/>
                <a:ea typeface="Georgia" pitchFamily="34" charset="-122"/>
                <a:cs typeface="Georgia" pitchFamily="34" charset="-120"/>
              </a:rPr>
              <a:t>L4: the adaptive, self-optimizing platform</a:t>
            </a:r>
            <a:endParaRPr lang="en-US" sz="3000" dirty="0"/>
          </a:p>
        </p:txBody>
      </p:sp>
      <p:sp>
        <p:nvSpPr>
          <p:cNvPr id="5" name="Text 3"/>
          <p:cNvSpPr/>
          <p:nvPr/>
        </p:nvSpPr>
        <p:spPr>
          <a:xfrm>
            <a:off x="658368" y="1783080"/>
            <a:ext cx="10515600" cy="548640"/>
          </a:xfrm>
          <a:prstGeom prst="rect">
            <a:avLst/>
          </a:prstGeom>
          <a:noFill/>
          <a:ln/>
        </p:spPr>
        <p:txBody>
          <a:bodyPr wrap="square" lIns="0" tIns="0" rIns="0" bIns="0" rtlCol="0" anchor="ctr"/>
          <a:lstStyle/>
          <a:p>
            <a:pPr indent="0" marL="0">
              <a:buNone/>
            </a:pPr>
            <a:r>
              <a:rPr lang="en-US" sz="1400" dirty="0">
                <a:solidFill>
                  <a:srgbClr val="9AA7BF"/>
                </a:solidFill>
                <a:latin typeface="Calibri" pitchFamily="34" charset="0"/>
                <a:ea typeface="Calibri" pitchFamily="34" charset="-122"/>
                <a:cs typeface="Calibri" pitchFamily="34" charset="-120"/>
              </a:rPr>
              <a:t>L4 adds an AI-automation layer over the governed L3 foundation — shifting from manual scaling to feedback-driven autonomous evolution.</a:t>
            </a:r>
            <a:endParaRPr lang="en-US" sz="1400" dirty="0"/>
          </a:p>
        </p:txBody>
      </p:sp>
      <p:sp>
        <p:nvSpPr>
          <p:cNvPr id="6" name="Shape 4"/>
          <p:cNvSpPr/>
          <p:nvPr/>
        </p:nvSpPr>
        <p:spPr>
          <a:xfrm>
            <a:off x="658368" y="2514600"/>
            <a:ext cx="2615184" cy="2743200"/>
          </a:xfrm>
          <a:prstGeom prst="rect">
            <a:avLst/>
          </a:prstGeom>
          <a:solidFill>
            <a:srgbClr val="1A2338"/>
          </a:solidFill>
          <a:ln w="12700">
            <a:solidFill>
              <a:srgbClr val="3A3260"/>
            </a:solidFill>
            <a:prstDash val="solid"/>
          </a:ln>
        </p:spPr>
      </p:sp>
      <p:sp>
        <p:nvSpPr>
          <p:cNvPr id="7" name="Shape 5"/>
          <p:cNvSpPr/>
          <p:nvPr/>
        </p:nvSpPr>
        <p:spPr>
          <a:xfrm>
            <a:off x="932688" y="2807208"/>
            <a:ext cx="731520" cy="731520"/>
          </a:xfrm>
          <a:prstGeom prst="ellipse">
            <a:avLst/>
          </a:prstGeom>
          <a:solidFill>
            <a:srgbClr val="1A2233"/>
          </a:solidFill>
          <a:ln w="15875">
            <a:solidFill>
              <a:srgbClr val="6D4FD6"/>
            </a:solidFill>
            <a:prstDash val="solid"/>
          </a:ln>
        </p:spPr>
      </p:sp>
      <p:pic>
        <p:nvPicPr>
          <p:cNvPr id="8" name="Image 0" descr="preencoded.png">    </p:cNvPr>
          <p:cNvPicPr>
            <a:picLocks noChangeAspect="1"/>
          </p:cNvPicPr>
          <p:nvPr/>
        </p:nvPicPr>
        <p:blipFill>
          <a:blip r:embed="rId1"/>
          <a:stretch>
            <a:fillRect/>
          </a:stretch>
        </p:blipFill>
        <p:spPr>
          <a:xfrm>
            <a:off x="1115568" y="2990088"/>
            <a:ext cx="365760" cy="365760"/>
          </a:xfrm>
          <a:prstGeom prst="rect">
            <a:avLst/>
          </a:prstGeom>
        </p:spPr>
      </p:pic>
      <p:sp>
        <p:nvSpPr>
          <p:cNvPr id="9" name="Text 6"/>
          <p:cNvSpPr/>
          <p:nvPr/>
        </p:nvSpPr>
        <p:spPr>
          <a:xfrm>
            <a:off x="914400" y="3657600"/>
            <a:ext cx="2157984" cy="411480"/>
          </a:xfrm>
          <a:prstGeom prst="rect">
            <a:avLst/>
          </a:prstGeom>
          <a:noFill/>
          <a:ln/>
        </p:spPr>
        <p:txBody>
          <a:bodyPr wrap="square" lIns="0" tIns="0" rIns="0" bIns="0" rtlCol="0" anchor="ctr"/>
          <a:lstStyle/>
          <a:p>
            <a:pPr indent="0" marL="0">
              <a:buNone/>
            </a:pPr>
            <a:r>
              <a:rPr lang="en-US" sz="1450" b="1" dirty="0">
                <a:solidFill>
                  <a:srgbClr val="E6ECF7"/>
                </a:solidFill>
                <a:latin typeface="Georgia" pitchFamily="34" charset="0"/>
                <a:ea typeface="Georgia" pitchFamily="34" charset="-122"/>
                <a:cs typeface="Georgia" pitchFamily="34" charset="-120"/>
              </a:rPr>
              <a:t>Assisted Onboarding</a:t>
            </a:r>
            <a:endParaRPr lang="en-US" sz="1450" dirty="0"/>
          </a:p>
        </p:txBody>
      </p:sp>
      <p:sp>
        <p:nvSpPr>
          <p:cNvPr id="10" name="Text 7"/>
          <p:cNvSpPr/>
          <p:nvPr/>
        </p:nvSpPr>
        <p:spPr>
          <a:xfrm>
            <a:off x="914400" y="4087368"/>
            <a:ext cx="2157984" cy="1051560"/>
          </a:xfrm>
          <a:prstGeom prst="rect">
            <a:avLst/>
          </a:prstGeom>
          <a:noFill/>
          <a:ln/>
        </p:spPr>
        <p:txBody>
          <a:bodyPr wrap="square" lIns="0" tIns="0" rIns="0" bIns="0" rtlCol="0" anchor="t"/>
          <a:lstStyle/>
          <a:p>
            <a:pPr indent="0" marL="0">
              <a:buNone/>
            </a:pPr>
            <a:r>
              <a:rPr lang="en-US" sz="1050" dirty="0">
                <a:solidFill>
                  <a:srgbClr val="9AA7BF"/>
                </a:solidFill>
                <a:latin typeface="Calibri" pitchFamily="34" charset="0"/>
                <a:ea typeface="Calibri" pitchFamily="34" charset="-122"/>
                <a:cs typeface="Calibri" pitchFamily="34" charset="-120"/>
              </a:rPr>
              <a:t>AI-assisted scaffolding composes the foundation harness and repo from a high-level intent description.</a:t>
            </a:r>
            <a:endParaRPr lang="en-US" sz="1050" dirty="0"/>
          </a:p>
        </p:txBody>
      </p:sp>
      <p:sp>
        <p:nvSpPr>
          <p:cNvPr id="11" name="Shape 8"/>
          <p:cNvSpPr/>
          <p:nvPr/>
        </p:nvSpPr>
        <p:spPr>
          <a:xfrm>
            <a:off x="3493008" y="2514600"/>
            <a:ext cx="2615184" cy="2743200"/>
          </a:xfrm>
          <a:prstGeom prst="rect">
            <a:avLst/>
          </a:prstGeom>
          <a:solidFill>
            <a:srgbClr val="1A2338"/>
          </a:solidFill>
          <a:ln w="12700">
            <a:solidFill>
              <a:srgbClr val="3A3260"/>
            </a:solidFill>
            <a:prstDash val="solid"/>
          </a:ln>
        </p:spPr>
      </p:sp>
      <p:sp>
        <p:nvSpPr>
          <p:cNvPr id="12" name="Shape 9"/>
          <p:cNvSpPr/>
          <p:nvPr/>
        </p:nvSpPr>
        <p:spPr>
          <a:xfrm>
            <a:off x="3767328" y="2807208"/>
            <a:ext cx="731520" cy="731520"/>
          </a:xfrm>
          <a:prstGeom prst="ellipse">
            <a:avLst/>
          </a:prstGeom>
          <a:solidFill>
            <a:srgbClr val="1A2233"/>
          </a:solidFill>
          <a:ln w="15875">
            <a:solidFill>
              <a:srgbClr val="6D4FD6"/>
            </a:solidFill>
            <a:prstDash val="solid"/>
          </a:ln>
        </p:spPr>
      </p:sp>
      <p:pic>
        <p:nvPicPr>
          <p:cNvPr id="13" name="Image 1" descr="preencoded.png">    </p:cNvPr>
          <p:cNvPicPr>
            <a:picLocks noChangeAspect="1"/>
          </p:cNvPicPr>
          <p:nvPr/>
        </p:nvPicPr>
        <p:blipFill>
          <a:blip r:embed="rId2"/>
          <a:stretch>
            <a:fillRect/>
          </a:stretch>
        </p:blipFill>
        <p:spPr>
          <a:xfrm>
            <a:off x="3950208" y="2990088"/>
            <a:ext cx="365760" cy="365760"/>
          </a:xfrm>
          <a:prstGeom prst="rect">
            <a:avLst/>
          </a:prstGeom>
        </p:spPr>
      </p:pic>
      <p:sp>
        <p:nvSpPr>
          <p:cNvPr id="14" name="Text 10"/>
          <p:cNvSpPr/>
          <p:nvPr/>
        </p:nvSpPr>
        <p:spPr>
          <a:xfrm>
            <a:off x="3749040" y="3657600"/>
            <a:ext cx="2157984" cy="411480"/>
          </a:xfrm>
          <a:prstGeom prst="rect">
            <a:avLst/>
          </a:prstGeom>
          <a:noFill/>
          <a:ln/>
        </p:spPr>
        <p:txBody>
          <a:bodyPr wrap="square" lIns="0" tIns="0" rIns="0" bIns="0" rtlCol="0" anchor="ctr"/>
          <a:lstStyle/>
          <a:p>
            <a:pPr indent="0" marL="0">
              <a:buNone/>
            </a:pPr>
            <a:r>
              <a:rPr lang="en-US" sz="1450" b="1" dirty="0">
                <a:solidFill>
                  <a:srgbClr val="E6ECF7"/>
                </a:solidFill>
                <a:latin typeface="Georgia" pitchFamily="34" charset="0"/>
                <a:ea typeface="Georgia" pitchFamily="34" charset="-122"/>
                <a:cs typeface="Georgia" pitchFamily="34" charset="-120"/>
              </a:rPr>
              <a:t>Auto-Tuned Eval</a:t>
            </a:r>
            <a:endParaRPr lang="en-US" sz="1450" dirty="0"/>
          </a:p>
        </p:txBody>
      </p:sp>
      <p:sp>
        <p:nvSpPr>
          <p:cNvPr id="15" name="Text 11"/>
          <p:cNvSpPr/>
          <p:nvPr/>
        </p:nvSpPr>
        <p:spPr>
          <a:xfrm>
            <a:off x="3749040" y="4087368"/>
            <a:ext cx="2157984" cy="1051560"/>
          </a:xfrm>
          <a:prstGeom prst="rect">
            <a:avLst/>
          </a:prstGeom>
          <a:noFill/>
          <a:ln/>
        </p:spPr>
        <p:txBody>
          <a:bodyPr wrap="square" lIns="0" tIns="0" rIns="0" bIns="0" rtlCol="0" anchor="t"/>
          <a:lstStyle/>
          <a:p>
            <a:pPr indent="0" marL="0">
              <a:buNone/>
            </a:pPr>
            <a:r>
              <a:rPr lang="en-US" sz="1050" dirty="0">
                <a:solidFill>
                  <a:srgbClr val="9AA7BF"/>
                </a:solidFill>
                <a:latin typeface="Calibri" pitchFamily="34" charset="0"/>
                <a:ea typeface="Calibri" pitchFamily="34" charset="-122"/>
                <a:cs typeface="Calibri" pitchFamily="34" charset="-120"/>
              </a:rPr>
              <a:t>The platform proposes prompt, model and tool changes from live evaluation signal.</a:t>
            </a:r>
            <a:endParaRPr lang="en-US" sz="1050" dirty="0"/>
          </a:p>
        </p:txBody>
      </p:sp>
      <p:sp>
        <p:nvSpPr>
          <p:cNvPr id="16" name="Shape 12"/>
          <p:cNvSpPr/>
          <p:nvPr/>
        </p:nvSpPr>
        <p:spPr>
          <a:xfrm>
            <a:off x="6327648" y="2514600"/>
            <a:ext cx="2615184" cy="2743200"/>
          </a:xfrm>
          <a:prstGeom prst="rect">
            <a:avLst/>
          </a:prstGeom>
          <a:solidFill>
            <a:srgbClr val="1A2338"/>
          </a:solidFill>
          <a:ln w="12700">
            <a:solidFill>
              <a:srgbClr val="3A3260"/>
            </a:solidFill>
            <a:prstDash val="solid"/>
          </a:ln>
        </p:spPr>
      </p:sp>
      <p:sp>
        <p:nvSpPr>
          <p:cNvPr id="17" name="Shape 13"/>
          <p:cNvSpPr/>
          <p:nvPr/>
        </p:nvSpPr>
        <p:spPr>
          <a:xfrm>
            <a:off x="6601968" y="2807208"/>
            <a:ext cx="731520" cy="731520"/>
          </a:xfrm>
          <a:prstGeom prst="ellipse">
            <a:avLst/>
          </a:prstGeom>
          <a:solidFill>
            <a:srgbClr val="1A2233"/>
          </a:solidFill>
          <a:ln w="15875">
            <a:solidFill>
              <a:srgbClr val="6D4FD6"/>
            </a:solidFill>
            <a:prstDash val="solid"/>
          </a:ln>
        </p:spPr>
      </p:sp>
      <p:pic>
        <p:nvPicPr>
          <p:cNvPr id="18" name="Image 2" descr="preencoded.png">    </p:cNvPr>
          <p:cNvPicPr>
            <a:picLocks noChangeAspect="1"/>
          </p:cNvPicPr>
          <p:nvPr/>
        </p:nvPicPr>
        <p:blipFill>
          <a:blip r:embed="rId3"/>
          <a:stretch>
            <a:fillRect/>
          </a:stretch>
        </p:blipFill>
        <p:spPr>
          <a:xfrm>
            <a:off x="6784848" y="2990088"/>
            <a:ext cx="365760" cy="365760"/>
          </a:xfrm>
          <a:prstGeom prst="rect">
            <a:avLst/>
          </a:prstGeom>
        </p:spPr>
      </p:pic>
      <p:sp>
        <p:nvSpPr>
          <p:cNvPr id="19" name="Text 14"/>
          <p:cNvSpPr/>
          <p:nvPr/>
        </p:nvSpPr>
        <p:spPr>
          <a:xfrm>
            <a:off x="6583680" y="3657600"/>
            <a:ext cx="2157984" cy="411480"/>
          </a:xfrm>
          <a:prstGeom prst="rect">
            <a:avLst/>
          </a:prstGeom>
          <a:noFill/>
          <a:ln/>
        </p:spPr>
        <p:txBody>
          <a:bodyPr wrap="square" lIns="0" tIns="0" rIns="0" bIns="0" rtlCol="0" anchor="ctr"/>
          <a:lstStyle/>
          <a:p>
            <a:pPr indent="0" marL="0">
              <a:buNone/>
            </a:pPr>
            <a:r>
              <a:rPr lang="en-US" sz="1450" b="1" dirty="0">
                <a:solidFill>
                  <a:srgbClr val="E6ECF7"/>
                </a:solidFill>
                <a:latin typeface="Georgia" pitchFamily="34" charset="0"/>
                <a:ea typeface="Georgia" pitchFamily="34" charset="-122"/>
                <a:cs typeface="Georgia" pitchFamily="34" charset="-120"/>
              </a:rPr>
              <a:t>Intelligent Operations</a:t>
            </a:r>
            <a:endParaRPr lang="en-US" sz="1450" dirty="0"/>
          </a:p>
        </p:txBody>
      </p:sp>
      <p:sp>
        <p:nvSpPr>
          <p:cNvPr id="20" name="Text 15"/>
          <p:cNvSpPr/>
          <p:nvPr/>
        </p:nvSpPr>
        <p:spPr>
          <a:xfrm>
            <a:off x="6583680" y="4087368"/>
            <a:ext cx="2157984" cy="1051560"/>
          </a:xfrm>
          <a:prstGeom prst="rect">
            <a:avLst/>
          </a:prstGeom>
          <a:noFill/>
          <a:ln/>
        </p:spPr>
        <p:txBody>
          <a:bodyPr wrap="square" lIns="0" tIns="0" rIns="0" bIns="0" rtlCol="0" anchor="t"/>
          <a:lstStyle/>
          <a:p>
            <a:pPr indent="0" marL="0">
              <a:buNone/>
            </a:pPr>
            <a:r>
              <a:rPr lang="en-US" sz="1050" dirty="0">
                <a:solidFill>
                  <a:srgbClr val="9AA7BF"/>
                </a:solidFill>
                <a:latin typeface="Calibri" pitchFamily="34" charset="0"/>
                <a:ea typeface="Calibri" pitchFamily="34" charset="-122"/>
                <a:cs typeface="Calibri" pitchFamily="34" charset="-120"/>
              </a:rPr>
              <a:t>Model routing, cost and rollout strategy tuned automatically against objectives.</a:t>
            </a:r>
            <a:endParaRPr lang="en-US" sz="1050" dirty="0"/>
          </a:p>
        </p:txBody>
      </p:sp>
      <p:sp>
        <p:nvSpPr>
          <p:cNvPr id="21" name="Shape 16"/>
          <p:cNvSpPr/>
          <p:nvPr/>
        </p:nvSpPr>
        <p:spPr>
          <a:xfrm>
            <a:off x="9162288" y="2514600"/>
            <a:ext cx="2615184" cy="2743200"/>
          </a:xfrm>
          <a:prstGeom prst="rect">
            <a:avLst/>
          </a:prstGeom>
          <a:solidFill>
            <a:srgbClr val="1A2338"/>
          </a:solidFill>
          <a:ln w="12700">
            <a:solidFill>
              <a:srgbClr val="3A3260"/>
            </a:solidFill>
            <a:prstDash val="solid"/>
          </a:ln>
        </p:spPr>
      </p:sp>
      <p:sp>
        <p:nvSpPr>
          <p:cNvPr id="22" name="Shape 17"/>
          <p:cNvSpPr/>
          <p:nvPr/>
        </p:nvSpPr>
        <p:spPr>
          <a:xfrm>
            <a:off x="9436608" y="2807208"/>
            <a:ext cx="731520" cy="731520"/>
          </a:xfrm>
          <a:prstGeom prst="ellipse">
            <a:avLst/>
          </a:prstGeom>
          <a:solidFill>
            <a:srgbClr val="1A2233"/>
          </a:solidFill>
          <a:ln w="15875">
            <a:solidFill>
              <a:srgbClr val="6D4FD6"/>
            </a:solidFill>
            <a:prstDash val="solid"/>
          </a:ln>
        </p:spPr>
      </p:sp>
      <p:pic>
        <p:nvPicPr>
          <p:cNvPr id="23" name="Image 3" descr="preencoded.png">    </p:cNvPr>
          <p:cNvPicPr>
            <a:picLocks noChangeAspect="1"/>
          </p:cNvPicPr>
          <p:nvPr/>
        </p:nvPicPr>
        <p:blipFill>
          <a:blip r:embed="rId4"/>
          <a:stretch>
            <a:fillRect/>
          </a:stretch>
        </p:blipFill>
        <p:spPr>
          <a:xfrm>
            <a:off x="9619488" y="2990088"/>
            <a:ext cx="365760" cy="365760"/>
          </a:xfrm>
          <a:prstGeom prst="rect">
            <a:avLst/>
          </a:prstGeom>
        </p:spPr>
      </p:pic>
      <p:sp>
        <p:nvSpPr>
          <p:cNvPr id="24" name="Text 18"/>
          <p:cNvSpPr/>
          <p:nvPr/>
        </p:nvSpPr>
        <p:spPr>
          <a:xfrm>
            <a:off x="9418320" y="3657600"/>
            <a:ext cx="2157984" cy="411480"/>
          </a:xfrm>
          <a:prstGeom prst="rect">
            <a:avLst/>
          </a:prstGeom>
          <a:noFill/>
          <a:ln/>
        </p:spPr>
        <p:txBody>
          <a:bodyPr wrap="square" lIns="0" tIns="0" rIns="0" bIns="0" rtlCol="0" anchor="ctr"/>
          <a:lstStyle/>
          <a:p>
            <a:pPr indent="0" marL="0">
              <a:buNone/>
            </a:pPr>
            <a:r>
              <a:rPr lang="en-US" sz="1450" b="1" dirty="0">
                <a:solidFill>
                  <a:srgbClr val="E6ECF7"/>
                </a:solidFill>
                <a:latin typeface="Georgia" pitchFamily="34" charset="0"/>
                <a:ea typeface="Georgia" pitchFamily="34" charset="-122"/>
                <a:cs typeface="Georgia" pitchFamily="34" charset="-120"/>
              </a:rPr>
              <a:t>Autonomous Improvement</a:t>
            </a:r>
            <a:endParaRPr lang="en-US" sz="1450" dirty="0"/>
          </a:p>
        </p:txBody>
      </p:sp>
      <p:sp>
        <p:nvSpPr>
          <p:cNvPr id="25" name="Text 19"/>
          <p:cNvSpPr/>
          <p:nvPr/>
        </p:nvSpPr>
        <p:spPr>
          <a:xfrm>
            <a:off x="9418320" y="4087368"/>
            <a:ext cx="2157984" cy="1051560"/>
          </a:xfrm>
          <a:prstGeom prst="rect">
            <a:avLst/>
          </a:prstGeom>
          <a:noFill/>
          <a:ln/>
        </p:spPr>
        <p:txBody>
          <a:bodyPr wrap="square" lIns="0" tIns="0" rIns="0" bIns="0" rtlCol="0" anchor="t"/>
          <a:lstStyle/>
          <a:p>
            <a:pPr indent="0" marL="0">
              <a:buNone/>
            </a:pPr>
            <a:r>
              <a:rPr lang="en-US" sz="1050" dirty="0">
                <a:solidFill>
                  <a:srgbClr val="9AA7BF"/>
                </a:solidFill>
                <a:latin typeface="Calibri" pitchFamily="34" charset="0"/>
                <a:ea typeface="Calibri" pitchFamily="34" charset="-122"/>
                <a:cs typeface="Calibri" pitchFamily="34" charset="-120"/>
              </a:rPr>
              <a:t>Feedback-driven lifecycle updates — a continuously self-optimizing operating model.</a:t>
            </a:r>
            <a:endParaRPr lang="en-US" sz="1050" dirty="0"/>
          </a:p>
        </p:txBody>
      </p:sp>
      <p:sp>
        <p:nvSpPr>
          <p:cNvPr id="26" name="Text 20"/>
          <p:cNvSpPr/>
          <p:nvPr/>
        </p:nvSpPr>
        <p:spPr>
          <a:xfrm>
            <a:off x="658368" y="6309360"/>
            <a:ext cx="10972800" cy="274320"/>
          </a:xfrm>
          <a:prstGeom prst="rect">
            <a:avLst/>
          </a:prstGeom>
          <a:noFill/>
          <a:ln/>
        </p:spPr>
        <p:txBody>
          <a:bodyPr wrap="square" lIns="0" tIns="0" rIns="0" bIns="0" rtlCol="0" anchor="ctr"/>
          <a:lstStyle/>
          <a:p>
            <a:pPr indent="0" marL="0">
              <a:buNone/>
            </a:pPr>
            <a:r>
              <a:rPr lang="en-US" sz="1100" b="1" dirty="0">
                <a:solidFill>
                  <a:srgbClr val="6D4FD6"/>
                </a:solidFill>
                <a:latin typeface="Calibri" pitchFamily="34" charset="0"/>
                <a:ea typeface="Calibri" pitchFamily="34" charset="-122"/>
                <a:cs typeface="Calibri" pitchFamily="34" charset="-120"/>
              </a:rPr>
              <a:t>Key question: can the platform continuously optimize itself?   ·   A north-star maturity level — not a promise for the first implementation.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A2E"/>
        </a:solidFill>
      </p:bgPr>
    </p:bg>
    <p:spTree>
      <p:nvGrpSpPr>
        <p:cNvPr id="1" name=""/>
        <p:cNvGrpSpPr/>
        <p:nvPr/>
      </p:nvGrpSpPr>
      <p:grpSpPr>
        <a:xfrm>
          <a:off x="0" y="0"/>
          <a:ext cx="0" cy="0"/>
          <a:chOff x="0" y="0"/>
          <a:chExt cx="0" cy="0"/>
        </a:xfrm>
      </p:grpSpPr>
      <p:sp>
        <p:nvSpPr>
          <p:cNvPr id="2" name="Text 0"/>
          <p:cNvSpPr/>
          <p:nvPr/>
        </p:nvSpPr>
        <p:spPr>
          <a:xfrm>
            <a:off x="658368" y="566928"/>
            <a:ext cx="10972800" cy="274320"/>
          </a:xfrm>
          <a:prstGeom prst="rect">
            <a:avLst/>
          </a:prstGeom>
          <a:noFill/>
          <a:ln/>
        </p:spPr>
        <p:txBody>
          <a:bodyPr wrap="square" lIns="0" tIns="0" rIns="0" bIns="0" rtlCol="0" anchor="ctr"/>
          <a:lstStyle/>
          <a:p>
            <a:pPr indent="0" marL="0">
              <a:buNone/>
            </a:pPr>
            <a:r>
              <a:rPr lang="en-US" sz="1100" b="1" spc="300" kern="0" dirty="0">
                <a:solidFill>
                  <a:srgbClr val="1F9D6B"/>
                </a:solidFill>
                <a:latin typeface="Calibri" pitchFamily="34" charset="0"/>
                <a:ea typeface="Calibri" pitchFamily="34" charset="-122"/>
                <a:cs typeface="Calibri" pitchFamily="34" charset="-120"/>
              </a:rPr>
              <a:t>GETTING STARTED</a:t>
            </a:r>
            <a:endParaRPr lang="en-US" sz="1100" dirty="0"/>
          </a:p>
        </p:txBody>
      </p:sp>
      <p:sp>
        <p:nvSpPr>
          <p:cNvPr id="3" name="Text 1"/>
          <p:cNvSpPr/>
          <p:nvPr/>
        </p:nvSpPr>
        <p:spPr>
          <a:xfrm>
            <a:off x="612648" y="868680"/>
            <a:ext cx="11155680" cy="914400"/>
          </a:xfrm>
          <a:prstGeom prst="rect">
            <a:avLst/>
          </a:prstGeom>
          <a:noFill/>
          <a:ln/>
        </p:spPr>
        <p:txBody>
          <a:bodyPr wrap="square" lIns="0" tIns="0" rIns="0" bIns="0" rtlCol="0" anchor="ctr"/>
          <a:lstStyle/>
          <a:p>
            <a:pPr indent="0" marL="0">
              <a:buNone/>
            </a:pPr>
            <a:r>
              <a:rPr lang="en-US" sz="3000" b="1" dirty="0">
                <a:solidFill>
                  <a:srgbClr val="E6ECF7"/>
                </a:solidFill>
                <a:latin typeface="Georgia" pitchFamily="34" charset="0"/>
                <a:ea typeface="Georgia" pitchFamily="34" charset="-122"/>
                <a:cs typeface="Georgia" pitchFamily="34" charset="-120"/>
              </a:rPr>
              <a:t>Architectural principles &amp; how to start</a:t>
            </a:r>
            <a:endParaRPr lang="en-US" sz="3000" dirty="0"/>
          </a:p>
        </p:txBody>
      </p:sp>
      <p:sp>
        <p:nvSpPr>
          <p:cNvPr id="4" name="Shape 2"/>
          <p:cNvSpPr/>
          <p:nvPr/>
        </p:nvSpPr>
        <p:spPr>
          <a:xfrm>
            <a:off x="658368" y="1965960"/>
            <a:ext cx="64008" cy="914400"/>
          </a:xfrm>
          <a:prstGeom prst="rect">
            <a:avLst/>
          </a:prstGeom>
          <a:solidFill>
            <a:srgbClr val="1F9D6B"/>
          </a:solidFill>
          <a:ln/>
        </p:spPr>
      </p:sp>
      <p:sp>
        <p:nvSpPr>
          <p:cNvPr id="5" name="Text 3"/>
          <p:cNvSpPr/>
          <p:nvPr/>
        </p:nvSpPr>
        <p:spPr>
          <a:xfrm>
            <a:off x="886968" y="1965960"/>
            <a:ext cx="5120640" cy="365760"/>
          </a:xfrm>
          <a:prstGeom prst="rect">
            <a:avLst/>
          </a:prstGeom>
          <a:noFill/>
          <a:ln/>
        </p:spPr>
        <p:txBody>
          <a:bodyPr wrap="square" lIns="0" tIns="0" rIns="0" bIns="0" rtlCol="0" anchor="ctr"/>
          <a:lstStyle/>
          <a:p>
            <a:pPr indent="0" marL="0">
              <a:buNone/>
            </a:pPr>
            <a:r>
              <a:rPr lang="en-US" sz="1600" b="1" dirty="0">
                <a:solidFill>
                  <a:srgbClr val="E6ECF7"/>
                </a:solidFill>
                <a:latin typeface="Georgia" pitchFamily="34" charset="0"/>
                <a:ea typeface="Georgia" pitchFamily="34" charset="-122"/>
                <a:cs typeface="Georgia" pitchFamily="34" charset="-120"/>
              </a:rPr>
              <a:t>Reproducibility</a:t>
            </a:r>
            <a:endParaRPr lang="en-US" sz="1600" dirty="0"/>
          </a:p>
        </p:txBody>
      </p:sp>
      <p:sp>
        <p:nvSpPr>
          <p:cNvPr id="6" name="Text 4"/>
          <p:cNvSpPr/>
          <p:nvPr/>
        </p:nvSpPr>
        <p:spPr>
          <a:xfrm>
            <a:off x="886968" y="2331720"/>
            <a:ext cx="5120640" cy="68580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Agent-as-Code in Git — versioned, reversible, testable across every environment.</a:t>
            </a:r>
            <a:endParaRPr lang="en-US" sz="1150" dirty="0"/>
          </a:p>
        </p:txBody>
      </p:sp>
      <p:sp>
        <p:nvSpPr>
          <p:cNvPr id="7" name="Shape 5"/>
          <p:cNvSpPr/>
          <p:nvPr/>
        </p:nvSpPr>
        <p:spPr>
          <a:xfrm>
            <a:off x="6281928" y="1965960"/>
            <a:ext cx="64008" cy="914400"/>
          </a:xfrm>
          <a:prstGeom prst="rect">
            <a:avLst/>
          </a:prstGeom>
          <a:solidFill>
            <a:srgbClr val="1F9D6B"/>
          </a:solidFill>
          <a:ln/>
        </p:spPr>
      </p:sp>
      <p:sp>
        <p:nvSpPr>
          <p:cNvPr id="8" name="Text 6"/>
          <p:cNvSpPr/>
          <p:nvPr/>
        </p:nvSpPr>
        <p:spPr>
          <a:xfrm>
            <a:off x="6510528" y="1965960"/>
            <a:ext cx="5120640" cy="365760"/>
          </a:xfrm>
          <a:prstGeom prst="rect">
            <a:avLst/>
          </a:prstGeom>
          <a:noFill/>
          <a:ln/>
        </p:spPr>
        <p:txBody>
          <a:bodyPr wrap="square" lIns="0" tIns="0" rIns="0" bIns="0" rtlCol="0" anchor="ctr"/>
          <a:lstStyle/>
          <a:p>
            <a:pPr indent="0" marL="0">
              <a:buNone/>
            </a:pPr>
            <a:r>
              <a:rPr lang="en-US" sz="1600" b="1" dirty="0">
                <a:solidFill>
                  <a:srgbClr val="E6ECF7"/>
                </a:solidFill>
                <a:latin typeface="Georgia" pitchFamily="34" charset="0"/>
                <a:ea typeface="Georgia" pitchFamily="34" charset="-122"/>
                <a:cs typeface="Georgia" pitchFamily="34" charset="-120"/>
              </a:rPr>
              <a:t>Auditability</a:t>
            </a:r>
            <a:endParaRPr lang="en-US" sz="1600" dirty="0"/>
          </a:p>
        </p:txBody>
      </p:sp>
      <p:sp>
        <p:nvSpPr>
          <p:cNvPr id="9" name="Text 7"/>
          <p:cNvSpPr/>
          <p:nvPr/>
        </p:nvSpPr>
        <p:spPr>
          <a:xfrm>
            <a:off x="6510528" y="2331720"/>
            <a:ext cx="5120640" cy="68580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End-to-end traceability from production traces back to commits, scans and gates.</a:t>
            </a:r>
            <a:endParaRPr lang="en-US" sz="1150" dirty="0"/>
          </a:p>
        </p:txBody>
      </p:sp>
      <p:sp>
        <p:nvSpPr>
          <p:cNvPr id="10" name="Shape 8"/>
          <p:cNvSpPr/>
          <p:nvPr/>
        </p:nvSpPr>
        <p:spPr>
          <a:xfrm>
            <a:off x="658368" y="3200400"/>
            <a:ext cx="64008" cy="914400"/>
          </a:xfrm>
          <a:prstGeom prst="rect">
            <a:avLst/>
          </a:prstGeom>
          <a:solidFill>
            <a:srgbClr val="1F9D6B"/>
          </a:solidFill>
          <a:ln/>
        </p:spPr>
      </p:sp>
      <p:sp>
        <p:nvSpPr>
          <p:cNvPr id="11" name="Text 9"/>
          <p:cNvSpPr/>
          <p:nvPr/>
        </p:nvSpPr>
        <p:spPr>
          <a:xfrm>
            <a:off x="886968" y="3200400"/>
            <a:ext cx="5120640" cy="365760"/>
          </a:xfrm>
          <a:prstGeom prst="rect">
            <a:avLst/>
          </a:prstGeom>
          <a:noFill/>
          <a:ln/>
        </p:spPr>
        <p:txBody>
          <a:bodyPr wrap="square" lIns="0" tIns="0" rIns="0" bIns="0" rtlCol="0" anchor="ctr"/>
          <a:lstStyle/>
          <a:p>
            <a:pPr indent="0" marL="0">
              <a:buNone/>
            </a:pPr>
            <a:r>
              <a:rPr lang="en-US" sz="1600" b="1" dirty="0">
                <a:solidFill>
                  <a:srgbClr val="E6ECF7"/>
                </a:solidFill>
                <a:latin typeface="Georgia" pitchFamily="34" charset="0"/>
                <a:ea typeface="Georgia" pitchFamily="34" charset="-122"/>
                <a:cs typeface="Georgia" pitchFamily="34" charset="-120"/>
              </a:rPr>
              <a:t>Reusability</a:t>
            </a:r>
            <a:endParaRPr lang="en-US" sz="1600" dirty="0"/>
          </a:p>
        </p:txBody>
      </p:sp>
      <p:sp>
        <p:nvSpPr>
          <p:cNvPr id="12" name="Text 10"/>
          <p:cNvSpPr/>
          <p:nvPr/>
        </p:nvSpPr>
        <p:spPr>
          <a:xfrm>
            <a:off x="886968" y="3566160"/>
            <a:ext cx="5120640" cy="68580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Standardised blueprints and central skill/tool registries eliminate duplication.</a:t>
            </a:r>
            <a:endParaRPr lang="en-US" sz="1150" dirty="0"/>
          </a:p>
        </p:txBody>
      </p:sp>
      <p:sp>
        <p:nvSpPr>
          <p:cNvPr id="13" name="Shape 11"/>
          <p:cNvSpPr/>
          <p:nvPr/>
        </p:nvSpPr>
        <p:spPr>
          <a:xfrm>
            <a:off x="6281928" y="3200400"/>
            <a:ext cx="64008" cy="914400"/>
          </a:xfrm>
          <a:prstGeom prst="rect">
            <a:avLst/>
          </a:prstGeom>
          <a:solidFill>
            <a:srgbClr val="1F9D6B"/>
          </a:solidFill>
          <a:ln/>
        </p:spPr>
      </p:sp>
      <p:sp>
        <p:nvSpPr>
          <p:cNvPr id="14" name="Text 12"/>
          <p:cNvSpPr/>
          <p:nvPr/>
        </p:nvSpPr>
        <p:spPr>
          <a:xfrm>
            <a:off x="6510528" y="3200400"/>
            <a:ext cx="5120640" cy="365760"/>
          </a:xfrm>
          <a:prstGeom prst="rect">
            <a:avLst/>
          </a:prstGeom>
          <a:noFill/>
          <a:ln/>
        </p:spPr>
        <p:txBody>
          <a:bodyPr wrap="square" lIns="0" tIns="0" rIns="0" bIns="0" rtlCol="0" anchor="ctr"/>
          <a:lstStyle/>
          <a:p>
            <a:pPr indent="0" marL="0">
              <a:buNone/>
            </a:pPr>
            <a:r>
              <a:rPr lang="en-US" sz="1600" b="1" dirty="0">
                <a:solidFill>
                  <a:srgbClr val="E6ECF7"/>
                </a:solidFill>
                <a:latin typeface="Georgia" pitchFamily="34" charset="0"/>
                <a:ea typeface="Georgia" pitchFamily="34" charset="-122"/>
                <a:cs typeface="Georgia" pitchFamily="34" charset="-120"/>
              </a:rPr>
              <a:t>Environment Parity</a:t>
            </a:r>
            <a:endParaRPr lang="en-US" sz="1600" dirty="0"/>
          </a:p>
        </p:txBody>
      </p:sp>
      <p:sp>
        <p:nvSpPr>
          <p:cNvPr id="15" name="Text 13"/>
          <p:cNvSpPr/>
          <p:nvPr/>
        </p:nvSpPr>
        <p:spPr>
          <a:xfrm>
            <a:off x="6510528" y="3566160"/>
            <a:ext cx="5120640" cy="685800"/>
          </a:xfrm>
          <a:prstGeom prst="rect">
            <a:avLst/>
          </a:prstGeom>
          <a:noFill/>
          <a:ln/>
        </p:spPr>
        <p:txBody>
          <a:bodyPr wrap="square" lIns="0" tIns="0" rIns="0" bIns="0" rtlCol="0" anchor="t"/>
          <a:lstStyle/>
          <a:p>
            <a:pPr indent="0" marL="0">
              <a:buNone/>
            </a:pPr>
            <a:r>
              <a:rPr lang="en-US" sz="1150" dirty="0">
                <a:solidFill>
                  <a:srgbClr val="9AA7BF"/>
                </a:solidFill>
                <a:latin typeface="Calibri" pitchFamily="34" charset="0"/>
                <a:ea typeface="Calibri" pitchFamily="34" charset="-122"/>
                <a:cs typeface="Calibri" pitchFamily="34" charset="-120"/>
              </a:rPr>
              <a:t>Dev, UAT and Prod instantiated from one IaC definition.</a:t>
            </a:r>
            <a:endParaRPr lang="en-US" sz="1150" dirty="0"/>
          </a:p>
        </p:txBody>
      </p:sp>
      <p:sp>
        <p:nvSpPr>
          <p:cNvPr id="16" name="Shape 14"/>
          <p:cNvSpPr/>
          <p:nvPr/>
        </p:nvSpPr>
        <p:spPr>
          <a:xfrm>
            <a:off x="658368" y="4754880"/>
            <a:ext cx="10881360" cy="1051560"/>
          </a:xfrm>
          <a:prstGeom prst="rect">
            <a:avLst/>
          </a:prstGeom>
          <a:solidFill>
            <a:srgbClr val="1A2338"/>
          </a:solidFill>
          <a:ln w="15875">
            <a:solidFill>
              <a:srgbClr val="6D4FD6"/>
            </a:solidFill>
            <a:prstDash val="solid"/>
          </a:ln>
        </p:spPr>
      </p:sp>
      <p:sp>
        <p:nvSpPr>
          <p:cNvPr id="17" name="Text 15"/>
          <p:cNvSpPr/>
          <p:nvPr/>
        </p:nvSpPr>
        <p:spPr>
          <a:xfrm>
            <a:off x="914400" y="4892040"/>
            <a:ext cx="10332720" cy="777240"/>
          </a:xfrm>
          <a:prstGeom prst="rect">
            <a:avLst/>
          </a:prstGeom>
          <a:noFill/>
          <a:ln/>
        </p:spPr>
        <p:txBody>
          <a:bodyPr wrap="square" lIns="0" tIns="0" rIns="0" bIns="0" rtlCol="0" anchor="ctr"/>
          <a:lstStyle/>
          <a:p>
            <a:pPr indent="0" marL="0">
              <a:buNone/>
            </a:pPr>
            <a:r>
              <a:rPr lang="en-US" sz="1350" b="1" dirty="0">
                <a:solidFill>
                  <a:srgbClr val="E6ECF7"/>
                </a:solidFill>
                <a:latin typeface="Calibri" pitchFamily="34" charset="0"/>
                <a:ea typeface="Calibri" pitchFamily="34" charset="-122"/>
                <a:cs typeface="Calibri" pitchFamily="34" charset="-120"/>
              </a:rPr>
              <a:t>Where to begin:  </a:t>
            </a:r>
            <a:pPr indent="0" marL="0">
              <a:buNone/>
            </a:pPr>
            <a:r>
              <a:rPr lang="en-US" sz="1350" dirty="0">
                <a:solidFill>
                  <a:srgbClr val="9AA7BF"/>
                </a:solidFill>
                <a:latin typeface="Calibri" pitchFamily="34" charset="0"/>
                <a:ea typeface="Calibri" pitchFamily="34" charset="-122"/>
                <a:cs typeface="Calibri" pitchFamily="34" charset="-120"/>
              </a:rPr>
              <a:t>assess your maturity (locate on L1–L4) → stand up the foundation (gateway, AI Registry, identity, observability) → enable self-service (blueprints + eval gates) so domain teams ship safely.</a:t>
            </a:r>
            <a:endParaRPr lang="en-US" sz="1350" dirty="0"/>
          </a:p>
        </p:txBody>
      </p:sp>
      <p:sp>
        <p:nvSpPr>
          <p:cNvPr id="18" name="Text 16"/>
          <p:cNvSpPr/>
          <p:nvPr/>
        </p:nvSpPr>
        <p:spPr>
          <a:xfrm>
            <a:off x="502920" y="6492240"/>
            <a:ext cx="8229600" cy="256032"/>
          </a:xfrm>
          <a:prstGeom prst="rect">
            <a:avLst/>
          </a:prstGeom>
          <a:noFill/>
          <a:ln/>
        </p:spPr>
        <p:txBody>
          <a:bodyPr wrap="square" lIns="0" tIns="0" rIns="0" bIns="0" rtlCol="0" anchor="ctr"/>
          <a:lstStyle/>
          <a:p>
            <a:pPr indent="0" marL="0">
              <a:buNone/>
            </a:pPr>
            <a:r>
              <a:rPr lang="en-US" sz="800" dirty="0">
                <a:solidFill>
                  <a:srgbClr val="667891"/>
                </a:solidFill>
                <a:latin typeface="Calibri" pitchFamily="34" charset="0"/>
                <a:ea typeface="Calibri" pitchFamily="34" charset="-122"/>
                <a:cs typeface="Calibri" pitchFamily="34" charset="-120"/>
              </a:rPr>
              <a:t>Enterprise Agentic AI Platform</a:t>
            </a:r>
            <a:pPr indent="0" marL="0">
              <a:buNone/>
            </a:pPr>
            <a:r>
              <a:rPr lang="en-US" sz="800" dirty="0">
                <a:solidFill>
                  <a:srgbClr val="6D4FD6"/>
                </a:solidFill>
                <a:latin typeface="Calibri" pitchFamily="34" charset="0"/>
                <a:ea typeface="Calibri" pitchFamily="34" charset="-122"/>
                <a:cs typeface="Calibri" pitchFamily="34" charset="-120"/>
              </a:rPr>
              <a:t>   ·   Getting started</a:t>
            </a:r>
            <a:endParaRPr lang="en-US" sz="800" dirty="0"/>
          </a:p>
        </p:txBody>
      </p:sp>
      <p:sp>
        <p:nvSpPr>
          <p:cNvPr id="19" name="Text 17"/>
          <p:cNvSpPr/>
          <p:nvPr/>
        </p:nvSpPr>
        <p:spPr>
          <a:xfrm>
            <a:off x="11231575" y="6492240"/>
            <a:ext cx="457200" cy="256032"/>
          </a:xfrm>
          <a:prstGeom prst="rect">
            <a:avLst/>
          </a:prstGeom>
          <a:noFill/>
          <a:ln/>
        </p:spPr>
        <p:txBody>
          <a:bodyPr wrap="square" lIns="0" tIns="0" rIns="0" bIns="0" rtlCol="0" anchor="ctr"/>
          <a:lstStyle/>
          <a:p>
            <a:pPr algn="r" indent="0" marL="0">
              <a:buNone/>
            </a:pPr>
            <a:r>
              <a:rPr lang="en-US" sz="800" dirty="0">
                <a:solidFill>
                  <a:srgbClr val="667891"/>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Agentic AI Platform — Maturity Journey</dc:title>
  <dc:subject>PptxGenJS Presentation</dc:subject>
  <dc:creator>Platform CoE</dc:creator>
  <cp:lastModifiedBy>Platform CoE</cp:lastModifiedBy>
  <cp:revision>1</cp:revision>
  <dcterms:created xsi:type="dcterms:W3CDTF">2026-07-21T00:38:29Z</dcterms:created>
  <dcterms:modified xsi:type="dcterms:W3CDTF">2026-07-21T00:38:29Z</dcterms:modified>
</cp:coreProperties>
</file>